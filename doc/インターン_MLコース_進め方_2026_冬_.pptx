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90" r:id="rId1"/>
  </p:sldMasterIdLst>
  <p:notesMasterIdLst>
    <p:notesMasterId r:id="rId51"/>
  </p:notesMasterIdLst>
  <p:sldIdLst>
    <p:sldId id="256" r:id="rId2"/>
    <p:sldId id="301" r:id="rId3"/>
    <p:sldId id="340" r:id="rId4"/>
    <p:sldId id="329" r:id="rId5"/>
    <p:sldId id="337" r:id="rId6"/>
    <p:sldId id="330" r:id="rId7"/>
    <p:sldId id="335" r:id="rId8"/>
    <p:sldId id="294" r:id="rId9"/>
    <p:sldId id="289" r:id="rId10"/>
    <p:sldId id="338" r:id="rId11"/>
    <p:sldId id="308" r:id="rId12"/>
    <p:sldId id="284" r:id="rId13"/>
    <p:sldId id="297" r:id="rId14"/>
    <p:sldId id="304" r:id="rId15"/>
    <p:sldId id="307" r:id="rId16"/>
    <p:sldId id="310" r:id="rId17"/>
    <p:sldId id="312" r:id="rId18"/>
    <p:sldId id="327" r:id="rId19"/>
    <p:sldId id="291" r:id="rId20"/>
    <p:sldId id="315" r:id="rId21"/>
    <p:sldId id="305" r:id="rId22"/>
    <p:sldId id="328" r:id="rId23"/>
    <p:sldId id="314" r:id="rId24"/>
    <p:sldId id="320" r:id="rId25"/>
    <p:sldId id="346" r:id="rId26"/>
    <p:sldId id="363" r:id="rId27"/>
    <p:sldId id="342" r:id="rId28"/>
    <p:sldId id="366" r:id="rId29"/>
    <p:sldId id="353" r:id="rId30"/>
    <p:sldId id="351" r:id="rId31"/>
    <p:sldId id="352" r:id="rId32"/>
    <p:sldId id="347" r:id="rId33"/>
    <p:sldId id="348" r:id="rId34"/>
    <p:sldId id="354" r:id="rId35"/>
    <p:sldId id="355" r:id="rId36"/>
    <p:sldId id="356" r:id="rId37"/>
    <p:sldId id="359" r:id="rId38"/>
    <p:sldId id="343" r:id="rId39"/>
    <p:sldId id="344" r:id="rId40"/>
    <p:sldId id="360" r:id="rId41"/>
    <p:sldId id="361" r:id="rId42"/>
    <p:sldId id="362" r:id="rId43"/>
    <p:sldId id="349" r:id="rId44"/>
    <p:sldId id="292" r:id="rId45"/>
    <p:sldId id="350" r:id="rId46"/>
    <p:sldId id="332" r:id="rId47"/>
    <p:sldId id="364" r:id="rId48"/>
    <p:sldId id="313" r:id="rId49"/>
    <p:sldId id="365"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391">
          <p15:clr>
            <a:srgbClr val="A4A3A4"/>
          </p15:clr>
        </p15:guide>
        <p15:guide id="3" orient="horz" pos="4110">
          <p15:clr>
            <a:srgbClr val="A4A3A4"/>
          </p15:clr>
        </p15:guide>
        <p15:guide id="4" pos="3840">
          <p15:clr>
            <a:srgbClr val="A4A3A4"/>
          </p15:clr>
        </p15:guide>
        <p15:guide id="5" pos="212">
          <p15:clr>
            <a:srgbClr val="A4A3A4"/>
          </p15:clr>
        </p15:guide>
        <p15:guide id="6" pos="74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D31F"/>
    <a:srgbClr val="DAD620"/>
    <a:srgbClr val="DDD921"/>
    <a:srgbClr val="3DB4B7"/>
    <a:srgbClr val="DFDB29"/>
    <a:srgbClr val="F498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D92712-13AF-4C13-A62F-E21EF0E748EB}" v="171" dt="2026-02-02T03:13:53.130"/>
    <p1510:client id="{F28DC8FA-D192-8CD2-4D1A-6DB4DEA25CBF}" v="148" dt="2026-02-02T04:30:47.028"/>
  </p1510:revLst>
</p1510:revInfo>
</file>

<file path=ppt/tableStyles.xml><?xml version="1.0" encoding="utf-8"?>
<a:tblStyleLst xmlns:a="http://schemas.openxmlformats.org/drawingml/2006/main" def="{30939D29-4EAD-48BF-A48C-9564609E4D41}">
  <a:tblStyle styleId="{30939D29-4EAD-48BF-A48C-9564609E4D4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orient="horz" pos="391"/>
        <p:guide orient="horz" pos="4110"/>
        <p:guide pos="3840"/>
        <p:guide pos="212"/>
        <p:guide pos="7468"/>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5232B5-99A3-4DFD-8708-2A5BE5F82C9D}"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D3ADA588-9205-418E-BF08-C7C1A60E1FFE}">
      <dgm:prSet/>
      <dgm:spPr/>
      <dgm:t>
        <a:bodyPr/>
        <a:lstStyle/>
        <a:p>
          <a:r>
            <a:rPr kumimoji="1" lang="ja-JP" b="1"/>
            <a:t>サービス</a:t>
          </a:r>
          <a:r>
            <a:rPr kumimoji="1" lang="ja-JP" altLang="en-US" b="1"/>
            <a:t>開発の疑似</a:t>
          </a:r>
          <a:r>
            <a:rPr kumimoji="1" lang="ja-JP" b="1"/>
            <a:t>体験</a:t>
          </a:r>
          <a:br>
            <a:rPr kumimoji="1" lang="en-US" altLang="ja-JP"/>
          </a:br>
          <a:r>
            <a:rPr kumimoji="1" lang="ja-JP" altLang="en-US"/>
            <a:t>　要件に応じて、現場主体の開発を推進する</a:t>
          </a:r>
          <a:endParaRPr kumimoji="1" lang="en-US" altLang="ja-JP"/>
        </a:p>
      </dgm:t>
    </dgm:pt>
    <dgm:pt modelId="{11872DA8-6DB4-4CB0-84F2-8D175504D7EE}" type="parTrans" cxnId="{81A97E8E-B275-4FB0-AAE3-70CACE73875C}">
      <dgm:prSet/>
      <dgm:spPr/>
      <dgm:t>
        <a:bodyPr/>
        <a:lstStyle/>
        <a:p>
          <a:endParaRPr lang="en-US" sz="2000"/>
        </a:p>
      </dgm:t>
    </dgm:pt>
    <dgm:pt modelId="{60530C4D-14E1-4D55-8D6E-AF554D4BAA26}" type="sibTrans" cxnId="{81A97E8E-B275-4FB0-AAE3-70CACE73875C}">
      <dgm:prSet/>
      <dgm:spPr/>
      <dgm:t>
        <a:bodyPr/>
        <a:lstStyle/>
        <a:p>
          <a:endParaRPr lang="en-US"/>
        </a:p>
      </dgm:t>
    </dgm:pt>
    <dgm:pt modelId="{420C1713-69E0-40FC-AA7B-D7FFB711CC45}">
      <dgm:prSet/>
      <dgm:spPr/>
      <dgm:t>
        <a:bodyPr/>
        <a:lstStyle/>
        <a:p>
          <a:r>
            <a:rPr kumimoji="1" lang="ja-JP" altLang="en-US" b="1"/>
            <a:t>新規立ち上げから運用を想定した開発業務</a:t>
          </a:r>
          <a:br>
            <a:rPr kumimoji="1" lang="en-US" altLang="ja-JP"/>
          </a:br>
          <a:r>
            <a:rPr kumimoji="1" lang="ja-JP" altLang="en-US"/>
            <a:t>　アプリケーション開発＋インフラ</a:t>
          </a:r>
          <a:r>
            <a:rPr kumimoji="1" lang="ja-JP"/>
            <a:t>構築を</a:t>
          </a:r>
          <a:r>
            <a:rPr kumimoji="1" lang="ja-JP" altLang="en-US"/>
            <a:t>行う</a:t>
          </a:r>
          <a:endParaRPr lang="en-US"/>
        </a:p>
      </dgm:t>
    </dgm:pt>
    <dgm:pt modelId="{95049476-9EA4-48C8-B425-B0EB30043BBD}" type="parTrans" cxnId="{09DF8DC5-DD35-407D-ADEF-46A67089753F}">
      <dgm:prSet/>
      <dgm:spPr/>
      <dgm:t>
        <a:bodyPr/>
        <a:lstStyle/>
        <a:p>
          <a:endParaRPr lang="en-US" sz="2000"/>
        </a:p>
      </dgm:t>
    </dgm:pt>
    <dgm:pt modelId="{6E41E85F-4C6F-417C-9072-8088F266E39D}" type="sibTrans" cxnId="{09DF8DC5-DD35-407D-ADEF-46A67089753F}">
      <dgm:prSet/>
      <dgm:spPr/>
      <dgm:t>
        <a:bodyPr/>
        <a:lstStyle/>
        <a:p>
          <a:endParaRPr lang="en-US"/>
        </a:p>
      </dgm:t>
    </dgm:pt>
    <dgm:pt modelId="{ACA140D5-C492-42C6-A115-AE2826B14CFC}">
      <dgm:prSet/>
      <dgm:spPr>
        <a:solidFill>
          <a:schemeClr val="accent2"/>
        </a:solidFill>
      </dgm:spPr>
      <dgm:t>
        <a:bodyPr/>
        <a:lstStyle/>
        <a:p>
          <a:r>
            <a:rPr kumimoji="1" lang="ja-JP" altLang="en-US" b="1"/>
            <a:t>ハッカソン的要素</a:t>
          </a:r>
          <a:br>
            <a:rPr kumimoji="1" lang="en-US" altLang="ja-JP"/>
          </a:br>
          <a:r>
            <a:rPr kumimoji="1" lang="ja-JP" altLang="en-US"/>
            <a:t>　何</a:t>
          </a:r>
          <a:r>
            <a:rPr kumimoji="1" lang="ja-JP"/>
            <a:t>が必要か、どう構築するか</a:t>
          </a:r>
          <a:r>
            <a:rPr kumimoji="1" lang="ja-JP" altLang="en-US"/>
            <a:t>、</a:t>
          </a:r>
          <a:r>
            <a:rPr kumimoji="1" lang="ja-JP"/>
            <a:t>自分達で考える</a:t>
          </a:r>
          <a:endParaRPr lang="en-US"/>
        </a:p>
      </dgm:t>
    </dgm:pt>
    <dgm:pt modelId="{E1DF7FD5-92EB-4380-8A5E-036B25711AEB}" type="parTrans" cxnId="{B9EF2733-D1F0-4CA0-82E1-71C17CA3A13A}">
      <dgm:prSet/>
      <dgm:spPr/>
      <dgm:t>
        <a:bodyPr/>
        <a:lstStyle/>
        <a:p>
          <a:endParaRPr lang="en-US" sz="2000"/>
        </a:p>
      </dgm:t>
    </dgm:pt>
    <dgm:pt modelId="{2101FA20-1C10-4637-A0B0-A07E13238992}" type="sibTrans" cxnId="{B9EF2733-D1F0-4CA0-82E1-71C17CA3A13A}">
      <dgm:prSet/>
      <dgm:spPr/>
      <dgm:t>
        <a:bodyPr/>
        <a:lstStyle/>
        <a:p>
          <a:endParaRPr lang="en-US"/>
        </a:p>
      </dgm:t>
    </dgm:pt>
    <dgm:pt modelId="{FC80DDA6-49E0-4C20-93AD-F7346B08A8D5}" type="pres">
      <dgm:prSet presAssocID="{9F5232B5-99A3-4DFD-8708-2A5BE5F82C9D}" presName="linear" presStyleCnt="0">
        <dgm:presLayoutVars>
          <dgm:animLvl val="lvl"/>
          <dgm:resizeHandles val="exact"/>
        </dgm:presLayoutVars>
      </dgm:prSet>
      <dgm:spPr/>
    </dgm:pt>
    <dgm:pt modelId="{4C56D506-2A76-4B28-8479-24AD2023315C}" type="pres">
      <dgm:prSet presAssocID="{D3ADA588-9205-418E-BF08-C7C1A60E1FFE}" presName="parentText" presStyleLbl="node1" presStyleIdx="0" presStyleCnt="3">
        <dgm:presLayoutVars>
          <dgm:chMax val="0"/>
          <dgm:bulletEnabled val="1"/>
        </dgm:presLayoutVars>
      </dgm:prSet>
      <dgm:spPr/>
    </dgm:pt>
    <dgm:pt modelId="{B5E8689A-A406-4522-8258-7D4CB442E574}" type="pres">
      <dgm:prSet presAssocID="{60530C4D-14E1-4D55-8D6E-AF554D4BAA26}" presName="spacer" presStyleCnt="0"/>
      <dgm:spPr/>
    </dgm:pt>
    <dgm:pt modelId="{CFBF95C7-2A16-4B1C-835F-D489EAC7EB12}" type="pres">
      <dgm:prSet presAssocID="{420C1713-69E0-40FC-AA7B-D7FFB711CC45}" presName="parentText" presStyleLbl="node1" presStyleIdx="1" presStyleCnt="3">
        <dgm:presLayoutVars>
          <dgm:chMax val="0"/>
          <dgm:bulletEnabled val="1"/>
        </dgm:presLayoutVars>
      </dgm:prSet>
      <dgm:spPr/>
    </dgm:pt>
    <dgm:pt modelId="{84E454D6-07E8-4A2B-AF2B-D5F0D77311B3}" type="pres">
      <dgm:prSet presAssocID="{6E41E85F-4C6F-417C-9072-8088F266E39D}" presName="spacer" presStyleCnt="0"/>
      <dgm:spPr/>
    </dgm:pt>
    <dgm:pt modelId="{1CA19EC6-5841-4DB2-B482-F7D8A07AF5FB}" type="pres">
      <dgm:prSet presAssocID="{ACA140D5-C492-42C6-A115-AE2826B14CFC}" presName="parentText" presStyleLbl="node1" presStyleIdx="2" presStyleCnt="3">
        <dgm:presLayoutVars>
          <dgm:chMax val="0"/>
          <dgm:bulletEnabled val="1"/>
        </dgm:presLayoutVars>
      </dgm:prSet>
      <dgm:spPr/>
    </dgm:pt>
  </dgm:ptLst>
  <dgm:cxnLst>
    <dgm:cxn modelId="{B9EF2733-D1F0-4CA0-82E1-71C17CA3A13A}" srcId="{9F5232B5-99A3-4DFD-8708-2A5BE5F82C9D}" destId="{ACA140D5-C492-42C6-A115-AE2826B14CFC}" srcOrd="2" destOrd="0" parTransId="{E1DF7FD5-92EB-4380-8A5E-036B25711AEB}" sibTransId="{2101FA20-1C10-4637-A0B0-A07E13238992}"/>
    <dgm:cxn modelId="{C5CDF84B-59E2-4E63-89EA-7C376CA954FA}" type="presOf" srcId="{ACA140D5-C492-42C6-A115-AE2826B14CFC}" destId="{1CA19EC6-5841-4DB2-B482-F7D8A07AF5FB}" srcOrd="0" destOrd="0" presId="urn:microsoft.com/office/officeart/2005/8/layout/vList2"/>
    <dgm:cxn modelId="{03EAB353-AC0F-42E4-B49F-9A21C95B94B5}" type="presOf" srcId="{420C1713-69E0-40FC-AA7B-D7FFB711CC45}" destId="{CFBF95C7-2A16-4B1C-835F-D489EAC7EB12}" srcOrd="0" destOrd="0" presId="urn:microsoft.com/office/officeart/2005/8/layout/vList2"/>
    <dgm:cxn modelId="{81A97E8E-B275-4FB0-AAE3-70CACE73875C}" srcId="{9F5232B5-99A3-4DFD-8708-2A5BE5F82C9D}" destId="{D3ADA588-9205-418E-BF08-C7C1A60E1FFE}" srcOrd="0" destOrd="0" parTransId="{11872DA8-6DB4-4CB0-84F2-8D175504D7EE}" sibTransId="{60530C4D-14E1-4D55-8D6E-AF554D4BAA26}"/>
    <dgm:cxn modelId="{09DF8DC5-DD35-407D-ADEF-46A67089753F}" srcId="{9F5232B5-99A3-4DFD-8708-2A5BE5F82C9D}" destId="{420C1713-69E0-40FC-AA7B-D7FFB711CC45}" srcOrd="1" destOrd="0" parTransId="{95049476-9EA4-48C8-B425-B0EB30043BBD}" sibTransId="{6E41E85F-4C6F-417C-9072-8088F266E39D}"/>
    <dgm:cxn modelId="{C5CC8DE0-9EB9-4F66-888D-B1DE8050F75C}" type="presOf" srcId="{9F5232B5-99A3-4DFD-8708-2A5BE5F82C9D}" destId="{FC80DDA6-49E0-4C20-93AD-F7346B08A8D5}" srcOrd="0" destOrd="0" presId="urn:microsoft.com/office/officeart/2005/8/layout/vList2"/>
    <dgm:cxn modelId="{783D8BFB-4A2B-4B44-9B47-1048094BA605}" type="presOf" srcId="{D3ADA588-9205-418E-BF08-C7C1A60E1FFE}" destId="{4C56D506-2A76-4B28-8479-24AD2023315C}" srcOrd="0" destOrd="0" presId="urn:microsoft.com/office/officeart/2005/8/layout/vList2"/>
    <dgm:cxn modelId="{10FC7C7D-B2A2-4494-9827-570A2F8B3C31}" type="presParOf" srcId="{FC80DDA6-49E0-4C20-93AD-F7346B08A8D5}" destId="{4C56D506-2A76-4B28-8479-24AD2023315C}" srcOrd="0" destOrd="0" presId="urn:microsoft.com/office/officeart/2005/8/layout/vList2"/>
    <dgm:cxn modelId="{4470BC67-2205-446F-9CCB-9AEF3C3B20E3}" type="presParOf" srcId="{FC80DDA6-49E0-4C20-93AD-F7346B08A8D5}" destId="{B5E8689A-A406-4522-8258-7D4CB442E574}" srcOrd="1" destOrd="0" presId="urn:microsoft.com/office/officeart/2005/8/layout/vList2"/>
    <dgm:cxn modelId="{10A92BEC-BF8F-4118-A083-AE7E0F7A01EF}" type="presParOf" srcId="{FC80DDA6-49E0-4C20-93AD-F7346B08A8D5}" destId="{CFBF95C7-2A16-4B1C-835F-D489EAC7EB12}" srcOrd="2" destOrd="0" presId="urn:microsoft.com/office/officeart/2005/8/layout/vList2"/>
    <dgm:cxn modelId="{DF5BAA16-48C1-4622-B974-46CFF1896BE1}" type="presParOf" srcId="{FC80DDA6-49E0-4C20-93AD-F7346B08A8D5}" destId="{84E454D6-07E8-4A2B-AF2B-D5F0D77311B3}" srcOrd="3" destOrd="0" presId="urn:microsoft.com/office/officeart/2005/8/layout/vList2"/>
    <dgm:cxn modelId="{12CB5502-DAC1-4509-B392-4BDEB1D77CF3}" type="presParOf" srcId="{FC80DDA6-49E0-4C20-93AD-F7346B08A8D5}" destId="{1CA19EC6-5841-4DB2-B482-F7D8A07AF5F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610191-6A8A-4F42-B3D5-75F5C4809A76}"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AFB2233D-8BD2-4170-B13D-5EC0EDF8414E}">
      <dgm:prSet custT="1"/>
      <dgm:spPr>
        <a:solidFill>
          <a:schemeClr val="accent1"/>
        </a:solidFill>
      </dgm:spPr>
      <dgm:t>
        <a:bodyPr/>
        <a:lstStyle/>
        <a:p>
          <a:pPr marL="180975" indent="0" algn="l">
            <a:lnSpc>
              <a:spcPct val="100000"/>
            </a:lnSpc>
            <a:defRPr cap="all"/>
          </a:pPr>
          <a:r>
            <a:rPr kumimoji="1" lang="ja-JP" altLang="en-US" sz="2800"/>
            <a:t>機能開発</a:t>
          </a:r>
          <a:br>
            <a:rPr kumimoji="1" lang="en-US" altLang="ja-JP" sz="2100"/>
          </a:br>
          <a:r>
            <a:rPr kumimoji="1" lang="ja-JP" altLang="en-US" sz="1400" b="1"/>
            <a:t>・仕様ドキュメント</a:t>
          </a:r>
          <a:br>
            <a:rPr kumimoji="1" lang="en-US" altLang="ja-JP" sz="1400" b="1"/>
          </a:br>
          <a:r>
            <a:rPr kumimoji="1" lang="ja-JP" altLang="en-US" sz="1400" b="1"/>
            <a:t>・開発</a:t>
          </a:r>
          <a:br>
            <a:rPr kumimoji="1" lang="en-US" altLang="ja-JP" sz="1400"/>
          </a:br>
          <a:r>
            <a:rPr kumimoji="1" lang="ja-JP" altLang="en-US" sz="1400"/>
            <a:t>・単体テスト仕様、テストコード</a:t>
          </a:r>
          <a:br>
            <a:rPr kumimoji="1" lang="en-US" altLang="ja-JP" sz="1400"/>
          </a:br>
          <a:r>
            <a:rPr kumimoji="1" lang="ja-JP" altLang="en-US" sz="1400"/>
            <a:t>・ドメイン、</a:t>
          </a:r>
          <a:r>
            <a:rPr kumimoji="1" lang="en-US" altLang="ja-JP" sz="1400"/>
            <a:t>SSL</a:t>
          </a:r>
          <a:endParaRPr lang="en-US" sz="1400"/>
        </a:p>
      </dgm:t>
    </dgm:pt>
    <dgm:pt modelId="{96CCBFBA-3B62-490D-95F6-ABEC26944567}" type="parTrans" cxnId="{058485B0-4BCF-4F8E-B161-86DF3F4943CE}">
      <dgm:prSet/>
      <dgm:spPr/>
      <dgm:t>
        <a:bodyPr/>
        <a:lstStyle/>
        <a:p>
          <a:endParaRPr lang="en-US"/>
        </a:p>
      </dgm:t>
    </dgm:pt>
    <dgm:pt modelId="{2D4D4B41-0F90-43B4-A55C-0F851F984FEA}" type="sibTrans" cxnId="{058485B0-4BCF-4F8E-B161-86DF3F4943CE}">
      <dgm:prSet/>
      <dgm:spPr/>
      <dgm:t>
        <a:bodyPr/>
        <a:lstStyle/>
        <a:p>
          <a:pPr>
            <a:lnSpc>
              <a:spcPct val="100000"/>
            </a:lnSpc>
          </a:pPr>
          <a:endParaRPr lang="en-US"/>
        </a:p>
      </dgm:t>
    </dgm:pt>
    <dgm:pt modelId="{7694DB03-C91E-43CE-8353-392220E781A5}">
      <dgm:prSet custT="1"/>
      <dgm:spPr>
        <a:solidFill>
          <a:srgbClr val="F498F6"/>
        </a:solidFill>
      </dgm:spPr>
      <dgm:t>
        <a:bodyPr/>
        <a:lstStyle/>
        <a:p>
          <a:pPr marL="180975" indent="0" algn="l">
            <a:lnSpc>
              <a:spcPct val="100000"/>
            </a:lnSpc>
            <a:defRPr cap="all"/>
          </a:pPr>
          <a:r>
            <a:rPr kumimoji="1" lang="ja-JP" sz="2800"/>
            <a:t>パフォーマンス</a:t>
          </a:r>
          <a:br>
            <a:rPr kumimoji="1" lang="en-US" altLang="ja-JP" sz="2800"/>
          </a:br>
          <a:r>
            <a:rPr kumimoji="1" lang="ja-JP" altLang="en-US" sz="1400" b="0"/>
            <a:t>・テストデータ用意</a:t>
          </a:r>
          <a:br>
            <a:rPr kumimoji="1" lang="en-US" altLang="ja-JP" sz="1400"/>
          </a:br>
          <a:r>
            <a:rPr kumimoji="1" lang="ja-JP" altLang="en-US" sz="1400"/>
            <a:t>・ツールによる試験の実施</a:t>
          </a:r>
          <a:br>
            <a:rPr kumimoji="1" lang="en-US" altLang="ja-JP" sz="1400"/>
          </a:br>
          <a:r>
            <a:rPr kumimoji="1" lang="ja-JP" altLang="en-US" sz="1400"/>
            <a:t>・制約の中で最大限の速度</a:t>
          </a:r>
          <a:endParaRPr kumimoji="1" lang="en-US" altLang="ja-JP" sz="1400"/>
        </a:p>
      </dgm:t>
    </dgm:pt>
    <dgm:pt modelId="{0D958FDE-172E-46AE-85EB-825EB8107808}" type="parTrans" cxnId="{407B2DDE-17F3-4F8B-BC80-3E434D031B66}">
      <dgm:prSet/>
      <dgm:spPr/>
      <dgm:t>
        <a:bodyPr/>
        <a:lstStyle/>
        <a:p>
          <a:endParaRPr lang="en-US"/>
        </a:p>
      </dgm:t>
    </dgm:pt>
    <dgm:pt modelId="{DDAF4AF9-424B-40CC-9CBB-720C35830F40}" type="sibTrans" cxnId="{407B2DDE-17F3-4F8B-BC80-3E434D031B66}">
      <dgm:prSet/>
      <dgm:spPr/>
      <dgm:t>
        <a:bodyPr/>
        <a:lstStyle/>
        <a:p>
          <a:pPr>
            <a:lnSpc>
              <a:spcPct val="100000"/>
            </a:lnSpc>
          </a:pPr>
          <a:endParaRPr lang="en-US"/>
        </a:p>
      </dgm:t>
    </dgm:pt>
    <dgm:pt modelId="{8346DBB8-2573-4506-842C-5361F3883AF7}">
      <dgm:prSet custT="1"/>
      <dgm:spPr/>
      <dgm:t>
        <a:bodyPr/>
        <a:lstStyle/>
        <a:p>
          <a:pPr marL="180975" indent="0" algn="l">
            <a:lnSpc>
              <a:spcPct val="100000"/>
            </a:lnSpc>
            <a:defRPr cap="all"/>
          </a:pPr>
          <a:r>
            <a:rPr kumimoji="1" lang="ja-JP" altLang="en-US" sz="2800"/>
            <a:t>安定</a:t>
          </a:r>
          <a:r>
            <a:rPr kumimoji="1" lang="ja-JP" sz="2800"/>
            <a:t>性</a:t>
          </a:r>
          <a:br>
            <a:rPr kumimoji="1" lang="en-US" altLang="ja-JP" sz="2100"/>
          </a:br>
          <a:r>
            <a:rPr kumimoji="1" lang="ja-JP" altLang="en-US" sz="1400" b="1"/>
            <a:t>・</a:t>
          </a:r>
          <a:r>
            <a:rPr kumimoji="1" lang="ja-JP" sz="1400" b="1"/>
            <a:t>冗長性が保たれ</a:t>
          </a:r>
          <a:r>
            <a:rPr kumimoji="1" lang="ja-JP" altLang="en-US" sz="1400" b="1"/>
            <a:t>たサーバ構成</a:t>
          </a:r>
          <a:br>
            <a:rPr kumimoji="1" lang="en-US" altLang="ja-JP" sz="1400"/>
          </a:br>
          <a:r>
            <a:rPr kumimoji="1" lang="ja-JP" altLang="en-US" sz="1400"/>
            <a:t>・監視＋エラー通知</a:t>
          </a:r>
          <a:endParaRPr lang="en-US" sz="1400"/>
        </a:p>
      </dgm:t>
    </dgm:pt>
    <dgm:pt modelId="{D086B3E5-6317-4819-9B22-584A890FDC7E}" type="parTrans" cxnId="{BC99372C-128F-4117-B310-F253C06EE5BA}">
      <dgm:prSet/>
      <dgm:spPr/>
      <dgm:t>
        <a:bodyPr/>
        <a:lstStyle/>
        <a:p>
          <a:endParaRPr lang="en-US"/>
        </a:p>
      </dgm:t>
    </dgm:pt>
    <dgm:pt modelId="{680B1163-315D-4A57-B76F-8D51B1A4112A}" type="sibTrans" cxnId="{BC99372C-128F-4117-B310-F253C06EE5BA}">
      <dgm:prSet/>
      <dgm:spPr/>
      <dgm:t>
        <a:bodyPr/>
        <a:lstStyle/>
        <a:p>
          <a:pPr>
            <a:lnSpc>
              <a:spcPct val="100000"/>
            </a:lnSpc>
          </a:pPr>
          <a:endParaRPr lang="en-US"/>
        </a:p>
      </dgm:t>
    </dgm:pt>
    <dgm:pt modelId="{4955B586-615E-425D-97E9-84EB64F5AD4E}">
      <dgm:prSet custT="1"/>
      <dgm:spPr>
        <a:solidFill>
          <a:srgbClr val="D7D31F"/>
        </a:solidFill>
      </dgm:spPr>
      <dgm:t>
        <a:bodyPr/>
        <a:lstStyle/>
        <a:p>
          <a:pPr marL="180975" indent="0" algn="l">
            <a:lnSpc>
              <a:spcPct val="100000"/>
            </a:lnSpc>
            <a:defRPr cap="all"/>
          </a:pPr>
          <a:r>
            <a:rPr kumimoji="1" lang="ja-JP" sz="2800"/>
            <a:t>保守性</a:t>
          </a:r>
          <a:br>
            <a:rPr kumimoji="1" lang="en-US" altLang="ja-JP" sz="1400"/>
          </a:br>
          <a:r>
            <a:rPr kumimoji="1" lang="ja-JP" altLang="en-US" sz="1400"/>
            <a:t>・リリース自動化</a:t>
          </a:r>
          <a:br>
            <a:rPr kumimoji="1" lang="en-US" altLang="ja-JP" sz="1400"/>
          </a:br>
          <a:r>
            <a:rPr kumimoji="1" lang="ja-JP" altLang="en-US" sz="1400"/>
            <a:t>・構成管理ツールでの環境構築</a:t>
          </a:r>
          <a:br>
            <a:rPr kumimoji="1" lang="en-US" altLang="ja-JP" sz="1400"/>
          </a:br>
          <a:r>
            <a:rPr kumimoji="1" lang="ja-JP" altLang="en-US" sz="1400"/>
            <a:t>・ログ管理</a:t>
          </a:r>
          <a:br>
            <a:rPr kumimoji="1" lang="en-US" altLang="ja-JP" sz="1400"/>
          </a:br>
          <a:r>
            <a:rPr kumimoji="1" lang="ja-JP" altLang="en-US" sz="1400"/>
            <a:t>・</a:t>
          </a:r>
          <a:r>
            <a:rPr kumimoji="1" lang="en-US" altLang="ja-JP" sz="1400"/>
            <a:t>DB</a:t>
          </a:r>
          <a:r>
            <a:rPr kumimoji="1" lang="ja-JP" altLang="en-US" sz="1400"/>
            <a:t>バックアップ</a:t>
          </a:r>
          <a:endParaRPr kumimoji="1" lang="en-US" altLang="ja-JP" sz="1400"/>
        </a:p>
      </dgm:t>
    </dgm:pt>
    <dgm:pt modelId="{50EE9A38-F068-4CF3-86DF-F0DEAE0A4765}" type="parTrans" cxnId="{EB9FE9C3-F34E-4AAA-A2E6-341C82AB2B57}">
      <dgm:prSet/>
      <dgm:spPr/>
      <dgm:t>
        <a:bodyPr/>
        <a:lstStyle/>
        <a:p>
          <a:endParaRPr lang="en-US"/>
        </a:p>
      </dgm:t>
    </dgm:pt>
    <dgm:pt modelId="{2B89BD55-AA95-4F7D-A852-433052103F5D}" type="sibTrans" cxnId="{EB9FE9C3-F34E-4AAA-A2E6-341C82AB2B57}">
      <dgm:prSet/>
      <dgm:spPr/>
      <dgm:t>
        <a:bodyPr/>
        <a:lstStyle/>
        <a:p>
          <a:pPr>
            <a:lnSpc>
              <a:spcPct val="100000"/>
            </a:lnSpc>
          </a:pPr>
          <a:endParaRPr lang="en-US"/>
        </a:p>
      </dgm:t>
    </dgm:pt>
    <dgm:pt modelId="{FABAEBFA-F59A-4178-A97E-7FE140E0FD6B}">
      <dgm:prSet custT="1"/>
      <dgm:spPr>
        <a:solidFill>
          <a:schemeClr val="accent1">
            <a:lumMod val="60000"/>
            <a:lumOff val="40000"/>
          </a:schemeClr>
        </a:solidFill>
      </dgm:spPr>
      <dgm:t>
        <a:bodyPr/>
        <a:lstStyle/>
        <a:p>
          <a:pPr marL="180975" indent="0" algn="l">
            <a:lnSpc>
              <a:spcPct val="100000"/>
            </a:lnSpc>
            <a:defRPr cap="all"/>
          </a:pPr>
          <a:r>
            <a:rPr kumimoji="1" lang="ja-JP" sz="2800"/>
            <a:t>セキュリティ</a:t>
          </a:r>
          <a:br>
            <a:rPr kumimoji="1" lang="en-US" altLang="ja-JP" sz="2200"/>
          </a:br>
          <a:r>
            <a:rPr kumimoji="1" lang="ja-JP" altLang="en-US" sz="1400" b="1"/>
            <a:t>・インフラ面のセキュリティ設定</a:t>
          </a:r>
          <a:br>
            <a:rPr kumimoji="1" lang="en-US" altLang="ja-JP" sz="1400" b="1"/>
          </a:br>
          <a:r>
            <a:rPr kumimoji="1" lang="ja-JP" altLang="en-US" sz="1400" b="1"/>
            <a:t>・アプリケーション脆弱性対策</a:t>
          </a:r>
          <a:br>
            <a:rPr kumimoji="1" lang="en-US" altLang="ja-JP" sz="1400"/>
          </a:br>
          <a:r>
            <a:rPr kumimoji="1" lang="ja-JP" altLang="en-US" sz="1400"/>
            <a:t>・セキュリティ診断</a:t>
          </a:r>
          <a:br>
            <a:rPr kumimoji="1" lang="en-US" altLang="ja-JP" sz="1400"/>
          </a:br>
          <a:r>
            <a:rPr kumimoji="1" lang="ja-JP" altLang="en-US" sz="1400"/>
            <a:t>（プラットフォーム、</a:t>
          </a:r>
          <a:r>
            <a:rPr kumimoji="1" lang="en-US" altLang="ja-JP" sz="1400"/>
            <a:t>app</a:t>
          </a:r>
          <a:r>
            <a:rPr kumimoji="1" lang="ja-JP" altLang="en-US" sz="1400"/>
            <a:t>）</a:t>
          </a:r>
          <a:endParaRPr lang="en-US" sz="1400"/>
        </a:p>
      </dgm:t>
    </dgm:pt>
    <dgm:pt modelId="{DC4F6846-730D-4D1A-983B-852380173591}" type="parTrans" cxnId="{8F422FA1-75FC-473E-AFE6-7875C67986B2}">
      <dgm:prSet/>
      <dgm:spPr/>
      <dgm:t>
        <a:bodyPr/>
        <a:lstStyle/>
        <a:p>
          <a:endParaRPr lang="en-US"/>
        </a:p>
      </dgm:t>
    </dgm:pt>
    <dgm:pt modelId="{F4F0C5CF-2F6B-4881-A7BA-8927D3ACDD9A}" type="sibTrans" cxnId="{8F422FA1-75FC-473E-AFE6-7875C67986B2}">
      <dgm:prSet/>
      <dgm:spPr/>
      <dgm:t>
        <a:bodyPr/>
        <a:lstStyle/>
        <a:p>
          <a:endParaRPr lang="en-US"/>
        </a:p>
      </dgm:t>
    </dgm:pt>
    <dgm:pt modelId="{0A5A20C7-5A4A-C14B-AA19-D7920AE52BA1}" type="pres">
      <dgm:prSet presAssocID="{71610191-6A8A-4F42-B3D5-75F5C4809A76}" presName="diagram" presStyleCnt="0">
        <dgm:presLayoutVars>
          <dgm:dir/>
          <dgm:resizeHandles val="exact"/>
        </dgm:presLayoutVars>
      </dgm:prSet>
      <dgm:spPr/>
    </dgm:pt>
    <dgm:pt modelId="{55D5BA6D-694E-4049-AD77-2B25D729EF8C}" type="pres">
      <dgm:prSet presAssocID="{AFB2233D-8BD2-4170-B13D-5EC0EDF8414E}" presName="node" presStyleLbl="node1" presStyleIdx="0" presStyleCnt="5">
        <dgm:presLayoutVars>
          <dgm:bulletEnabled val="1"/>
        </dgm:presLayoutVars>
      </dgm:prSet>
      <dgm:spPr/>
    </dgm:pt>
    <dgm:pt modelId="{A8C0EDA7-2A89-9C47-88D0-DB451A87E84D}" type="pres">
      <dgm:prSet presAssocID="{2D4D4B41-0F90-43B4-A55C-0F851F984FEA}" presName="sibTrans" presStyleCnt="0"/>
      <dgm:spPr/>
    </dgm:pt>
    <dgm:pt modelId="{83C6D7C3-B68E-C943-9536-D8560BD71CD6}" type="pres">
      <dgm:prSet presAssocID="{7694DB03-C91E-43CE-8353-392220E781A5}" presName="node" presStyleLbl="node1" presStyleIdx="1" presStyleCnt="5" custLinFactY="9644" custLinFactNeighborX="-3059" custLinFactNeighborY="100000">
        <dgm:presLayoutVars>
          <dgm:bulletEnabled val="1"/>
        </dgm:presLayoutVars>
      </dgm:prSet>
      <dgm:spPr/>
    </dgm:pt>
    <dgm:pt modelId="{BD191B11-D0E4-4341-80EB-D58A5B9C6F4C}" type="pres">
      <dgm:prSet presAssocID="{DDAF4AF9-424B-40CC-9CBB-720C35830F40}" presName="sibTrans" presStyleCnt="0"/>
      <dgm:spPr/>
    </dgm:pt>
    <dgm:pt modelId="{36473781-0F96-EA4B-A79E-A8C1BE9C985E}" type="pres">
      <dgm:prSet presAssocID="{8346DBB8-2573-4506-842C-5361F3883AF7}" presName="node" presStyleLbl="node1" presStyleIdx="2" presStyleCnt="5" custLinFactX="-13369" custLinFactNeighborX="-100000">
        <dgm:presLayoutVars>
          <dgm:bulletEnabled val="1"/>
        </dgm:presLayoutVars>
      </dgm:prSet>
      <dgm:spPr/>
    </dgm:pt>
    <dgm:pt modelId="{F94538BD-F3F7-D54A-AD79-DB41544770FA}" type="pres">
      <dgm:prSet presAssocID="{680B1163-315D-4A57-B76F-8D51B1A4112A}" presName="sibTrans" presStyleCnt="0"/>
      <dgm:spPr/>
    </dgm:pt>
    <dgm:pt modelId="{CC8CF41D-E711-5345-8C9F-1DC5005833D1}" type="pres">
      <dgm:prSet presAssocID="{4955B586-615E-425D-97E9-84EB64F5AD4E}" presName="node" presStyleLbl="node1" presStyleIdx="3" presStyleCnt="5" custLinFactX="56793" custLinFactY="-16851" custLinFactNeighborX="100000" custLinFactNeighborY="-100000">
        <dgm:presLayoutVars>
          <dgm:bulletEnabled val="1"/>
        </dgm:presLayoutVars>
      </dgm:prSet>
      <dgm:spPr/>
    </dgm:pt>
    <dgm:pt modelId="{D8C94B57-7EC1-A94B-BA22-F656D403AF09}" type="pres">
      <dgm:prSet presAssocID="{2B89BD55-AA95-4F7D-A852-433052103F5D}" presName="sibTrans" presStyleCnt="0"/>
      <dgm:spPr/>
    </dgm:pt>
    <dgm:pt modelId="{97E61014-22BA-C445-AB9C-4BB26DDAA951}" type="pres">
      <dgm:prSet presAssocID="{FABAEBFA-F59A-4178-A97E-7FE140E0FD6B}" presName="node" presStyleLbl="node1" presStyleIdx="4" presStyleCnt="5" custLinFactX="-64831" custLinFactNeighborX="-100000" custLinFactNeighborY="-7022">
        <dgm:presLayoutVars>
          <dgm:bulletEnabled val="1"/>
        </dgm:presLayoutVars>
      </dgm:prSet>
      <dgm:spPr/>
    </dgm:pt>
  </dgm:ptLst>
  <dgm:cxnLst>
    <dgm:cxn modelId="{638F4522-60F7-EA4E-A7FE-6F43CA104753}" type="presOf" srcId="{71610191-6A8A-4F42-B3D5-75F5C4809A76}" destId="{0A5A20C7-5A4A-C14B-AA19-D7920AE52BA1}" srcOrd="0" destOrd="0" presId="urn:microsoft.com/office/officeart/2005/8/layout/default"/>
    <dgm:cxn modelId="{BC99372C-128F-4117-B310-F253C06EE5BA}" srcId="{71610191-6A8A-4F42-B3D5-75F5C4809A76}" destId="{8346DBB8-2573-4506-842C-5361F3883AF7}" srcOrd="2" destOrd="0" parTransId="{D086B3E5-6317-4819-9B22-584A890FDC7E}" sibTransId="{680B1163-315D-4A57-B76F-8D51B1A4112A}"/>
    <dgm:cxn modelId="{D93A1C53-8CE9-304C-80AD-AA07587055C0}" type="presOf" srcId="{4955B586-615E-425D-97E9-84EB64F5AD4E}" destId="{CC8CF41D-E711-5345-8C9F-1DC5005833D1}" srcOrd="0" destOrd="0" presId="urn:microsoft.com/office/officeart/2005/8/layout/default"/>
    <dgm:cxn modelId="{5BA6378C-A5EF-C148-8CDF-A294FF321165}" type="presOf" srcId="{AFB2233D-8BD2-4170-B13D-5EC0EDF8414E}" destId="{55D5BA6D-694E-4049-AD77-2B25D729EF8C}" srcOrd="0" destOrd="0" presId="urn:microsoft.com/office/officeart/2005/8/layout/default"/>
    <dgm:cxn modelId="{8F02AD8F-494C-2642-8761-F3560CC7EC93}" type="presOf" srcId="{7694DB03-C91E-43CE-8353-392220E781A5}" destId="{83C6D7C3-B68E-C943-9536-D8560BD71CD6}" srcOrd="0" destOrd="0" presId="urn:microsoft.com/office/officeart/2005/8/layout/default"/>
    <dgm:cxn modelId="{8F422FA1-75FC-473E-AFE6-7875C67986B2}" srcId="{71610191-6A8A-4F42-B3D5-75F5C4809A76}" destId="{FABAEBFA-F59A-4178-A97E-7FE140E0FD6B}" srcOrd="4" destOrd="0" parTransId="{DC4F6846-730D-4D1A-983B-852380173591}" sibTransId="{F4F0C5CF-2F6B-4881-A7BA-8927D3ACDD9A}"/>
    <dgm:cxn modelId="{058485B0-4BCF-4F8E-B161-86DF3F4943CE}" srcId="{71610191-6A8A-4F42-B3D5-75F5C4809A76}" destId="{AFB2233D-8BD2-4170-B13D-5EC0EDF8414E}" srcOrd="0" destOrd="0" parTransId="{96CCBFBA-3B62-490D-95F6-ABEC26944567}" sibTransId="{2D4D4B41-0F90-43B4-A55C-0F851F984FEA}"/>
    <dgm:cxn modelId="{EB9FE9C3-F34E-4AAA-A2E6-341C82AB2B57}" srcId="{71610191-6A8A-4F42-B3D5-75F5C4809A76}" destId="{4955B586-615E-425D-97E9-84EB64F5AD4E}" srcOrd="3" destOrd="0" parTransId="{50EE9A38-F068-4CF3-86DF-F0DEAE0A4765}" sibTransId="{2B89BD55-AA95-4F7D-A852-433052103F5D}"/>
    <dgm:cxn modelId="{407B2DDE-17F3-4F8B-BC80-3E434D031B66}" srcId="{71610191-6A8A-4F42-B3D5-75F5C4809A76}" destId="{7694DB03-C91E-43CE-8353-392220E781A5}" srcOrd="1" destOrd="0" parTransId="{0D958FDE-172E-46AE-85EB-825EB8107808}" sibTransId="{DDAF4AF9-424B-40CC-9CBB-720C35830F40}"/>
    <dgm:cxn modelId="{772034E7-1DC9-EE4E-9984-D49C32B8EBBF}" type="presOf" srcId="{8346DBB8-2573-4506-842C-5361F3883AF7}" destId="{36473781-0F96-EA4B-A79E-A8C1BE9C985E}" srcOrd="0" destOrd="0" presId="urn:microsoft.com/office/officeart/2005/8/layout/default"/>
    <dgm:cxn modelId="{1C088BF9-B4E5-7040-92AB-024067E100B3}" type="presOf" srcId="{FABAEBFA-F59A-4178-A97E-7FE140E0FD6B}" destId="{97E61014-22BA-C445-AB9C-4BB26DDAA951}" srcOrd="0" destOrd="0" presId="urn:microsoft.com/office/officeart/2005/8/layout/default"/>
    <dgm:cxn modelId="{744D5D84-D620-914E-BB7F-28234E7264C5}" type="presParOf" srcId="{0A5A20C7-5A4A-C14B-AA19-D7920AE52BA1}" destId="{55D5BA6D-694E-4049-AD77-2B25D729EF8C}" srcOrd="0" destOrd="0" presId="urn:microsoft.com/office/officeart/2005/8/layout/default"/>
    <dgm:cxn modelId="{350A9F9C-BAE9-3B49-916D-9401C80FCE44}" type="presParOf" srcId="{0A5A20C7-5A4A-C14B-AA19-D7920AE52BA1}" destId="{A8C0EDA7-2A89-9C47-88D0-DB451A87E84D}" srcOrd="1" destOrd="0" presId="urn:microsoft.com/office/officeart/2005/8/layout/default"/>
    <dgm:cxn modelId="{6E85F56B-F82F-E242-9292-61262DDF5492}" type="presParOf" srcId="{0A5A20C7-5A4A-C14B-AA19-D7920AE52BA1}" destId="{83C6D7C3-B68E-C943-9536-D8560BD71CD6}" srcOrd="2" destOrd="0" presId="urn:microsoft.com/office/officeart/2005/8/layout/default"/>
    <dgm:cxn modelId="{197395A8-BAB5-AA4C-AEEA-94779CEDDD92}" type="presParOf" srcId="{0A5A20C7-5A4A-C14B-AA19-D7920AE52BA1}" destId="{BD191B11-D0E4-4341-80EB-D58A5B9C6F4C}" srcOrd="3" destOrd="0" presId="urn:microsoft.com/office/officeart/2005/8/layout/default"/>
    <dgm:cxn modelId="{62A8DD6C-6AC0-8B47-9883-24D21AB790D6}" type="presParOf" srcId="{0A5A20C7-5A4A-C14B-AA19-D7920AE52BA1}" destId="{36473781-0F96-EA4B-A79E-A8C1BE9C985E}" srcOrd="4" destOrd="0" presId="urn:microsoft.com/office/officeart/2005/8/layout/default"/>
    <dgm:cxn modelId="{AA32FD72-94C9-1441-809C-5F3C21937946}" type="presParOf" srcId="{0A5A20C7-5A4A-C14B-AA19-D7920AE52BA1}" destId="{F94538BD-F3F7-D54A-AD79-DB41544770FA}" srcOrd="5" destOrd="0" presId="urn:microsoft.com/office/officeart/2005/8/layout/default"/>
    <dgm:cxn modelId="{3258BB16-49D0-3D4E-9691-4897B01BAD94}" type="presParOf" srcId="{0A5A20C7-5A4A-C14B-AA19-D7920AE52BA1}" destId="{CC8CF41D-E711-5345-8C9F-1DC5005833D1}" srcOrd="6" destOrd="0" presId="urn:microsoft.com/office/officeart/2005/8/layout/default"/>
    <dgm:cxn modelId="{14B7DAD8-8CB3-1944-8080-CB6296AB17CD}" type="presParOf" srcId="{0A5A20C7-5A4A-C14B-AA19-D7920AE52BA1}" destId="{D8C94B57-7EC1-A94B-BA22-F656D403AF09}" srcOrd="7" destOrd="0" presId="urn:microsoft.com/office/officeart/2005/8/layout/default"/>
    <dgm:cxn modelId="{7FA42326-39E2-484C-B025-78DF33CA9027}" type="presParOf" srcId="{0A5A20C7-5A4A-C14B-AA19-D7920AE52BA1}" destId="{97E61014-22BA-C445-AB9C-4BB26DDAA951}"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56D506-2A76-4B28-8479-24AD2023315C}">
      <dsp:nvSpPr>
        <dsp:cNvPr id="0" name=""/>
        <dsp:cNvSpPr/>
      </dsp:nvSpPr>
      <dsp:spPr>
        <a:xfrm>
          <a:off x="0" y="12969"/>
          <a:ext cx="10515600" cy="13899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kumimoji="1" lang="ja-JP" sz="2700" b="1" kern="1200"/>
            <a:t>サービス</a:t>
          </a:r>
          <a:r>
            <a:rPr kumimoji="1" lang="ja-JP" altLang="en-US" sz="2700" b="1" kern="1200"/>
            <a:t>開発の疑似</a:t>
          </a:r>
          <a:r>
            <a:rPr kumimoji="1" lang="ja-JP" sz="2700" b="1" kern="1200"/>
            <a:t>体験</a:t>
          </a:r>
          <a:br>
            <a:rPr kumimoji="1" lang="en-US" altLang="ja-JP" sz="2700" kern="1200"/>
          </a:br>
          <a:r>
            <a:rPr kumimoji="1" lang="ja-JP" altLang="en-US" sz="2700" kern="1200"/>
            <a:t>　要件に応じて、現場主体の開発を推進する</a:t>
          </a:r>
          <a:endParaRPr kumimoji="1" lang="en-US" altLang="ja-JP" sz="2700" kern="1200"/>
        </a:p>
      </dsp:txBody>
      <dsp:txXfrm>
        <a:off x="67852" y="80821"/>
        <a:ext cx="10379896" cy="1254256"/>
      </dsp:txXfrm>
    </dsp:sp>
    <dsp:sp modelId="{CFBF95C7-2A16-4B1C-835F-D489EAC7EB12}">
      <dsp:nvSpPr>
        <dsp:cNvPr id="0" name=""/>
        <dsp:cNvSpPr/>
      </dsp:nvSpPr>
      <dsp:spPr>
        <a:xfrm>
          <a:off x="0" y="1480689"/>
          <a:ext cx="10515600" cy="1389960"/>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kumimoji="1" lang="ja-JP" altLang="en-US" sz="2700" b="1" kern="1200"/>
            <a:t>新規立ち上げから運用を想定した開発業務</a:t>
          </a:r>
          <a:br>
            <a:rPr kumimoji="1" lang="en-US" altLang="ja-JP" sz="2700" kern="1200"/>
          </a:br>
          <a:r>
            <a:rPr kumimoji="1" lang="ja-JP" altLang="en-US" sz="2700" kern="1200"/>
            <a:t>　アプリケーション開発＋インフラ</a:t>
          </a:r>
          <a:r>
            <a:rPr kumimoji="1" lang="ja-JP" sz="2700" kern="1200"/>
            <a:t>構築を</a:t>
          </a:r>
          <a:r>
            <a:rPr kumimoji="1" lang="ja-JP" altLang="en-US" sz="2700" kern="1200"/>
            <a:t>行う</a:t>
          </a:r>
          <a:endParaRPr lang="en-US" sz="2700" kern="1200"/>
        </a:p>
      </dsp:txBody>
      <dsp:txXfrm>
        <a:off x="67852" y="1548541"/>
        <a:ext cx="10379896" cy="1254256"/>
      </dsp:txXfrm>
    </dsp:sp>
    <dsp:sp modelId="{1CA19EC6-5841-4DB2-B482-F7D8A07AF5FB}">
      <dsp:nvSpPr>
        <dsp:cNvPr id="0" name=""/>
        <dsp:cNvSpPr/>
      </dsp:nvSpPr>
      <dsp:spPr>
        <a:xfrm>
          <a:off x="0" y="2948409"/>
          <a:ext cx="10515600" cy="1389960"/>
        </a:xfrm>
        <a:prstGeom prst="round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kumimoji="1" lang="ja-JP" altLang="en-US" sz="2700" b="1" kern="1200"/>
            <a:t>ハッカソン的要素</a:t>
          </a:r>
          <a:br>
            <a:rPr kumimoji="1" lang="en-US" altLang="ja-JP" sz="2700" kern="1200"/>
          </a:br>
          <a:r>
            <a:rPr kumimoji="1" lang="ja-JP" altLang="en-US" sz="2700" kern="1200"/>
            <a:t>　何</a:t>
          </a:r>
          <a:r>
            <a:rPr kumimoji="1" lang="ja-JP" sz="2700" kern="1200"/>
            <a:t>が必要か、どう構築するか</a:t>
          </a:r>
          <a:r>
            <a:rPr kumimoji="1" lang="ja-JP" altLang="en-US" sz="2700" kern="1200"/>
            <a:t>、</a:t>
          </a:r>
          <a:r>
            <a:rPr kumimoji="1" lang="ja-JP" sz="2700" kern="1200"/>
            <a:t>自分達で考える</a:t>
          </a:r>
          <a:endParaRPr lang="en-US" sz="2700" kern="1200"/>
        </a:p>
      </dsp:txBody>
      <dsp:txXfrm>
        <a:off x="67852" y="3016261"/>
        <a:ext cx="10379896" cy="12542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D5BA6D-694E-4049-AD77-2B25D729EF8C}">
      <dsp:nvSpPr>
        <dsp:cNvPr id="0" name=""/>
        <dsp:cNvSpPr/>
      </dsp:nvSpPr>
      <dsp:spPr>
        <a:xfrm>
          <a:off x="0" y="467200"/>
          <a:ext cx="3322493" cy="1993495"/>
        </a:xfrm>
        <a:prstGeom prst="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180975" lvl="0" indent="0" algn="l" defTabSz="1244600">
            <a:lnSpc>
              <a:spcPct val="100000"/>
            </a:lnSpc>
            <a:spcBef>
              <a:spcPct val="0"/>
            </a:spcBef>
            <a:spcAft>
              <a:spcPct val="35000"/>
            </a:spcAft>
            <a:buNone/>
            <a:defRPr cap="all"/>
          </a:pPr>
          <a:r>
            <a:rPr kumimoji="1" lang="ja-JP" altLang="en-US" sz="2800" kern="1200"/>
            <a:t>機能開発</a:t>
          </a:r>
          <a:br>
            <a:rPr kumimoji="1" lang="en-US" altLang="ja-JP" sz="2100" kern="1200"/>
          </a:br>
          <a:r>
            <a:rPr kumimoji="1" lang="ja-JP" altLang="en-US" sz="1400" b="1" kern="1200"/>
            <a:t>・仕様ドキュメント</a:t>
          </a:r>
          <a:br>
            <a:rPr kumimoji="1" lang="en-US" altLang="ja-JP" sz="1400" b="1" kern="1200"/>
          </a:br>
          <a:r>
            <a:rPr kumimoji="1" lang="ja-JP" altLang="en-US" sz="1400" b="1" kern="1200"/>
            <a:t>・開発</a:t>
          </a:r>
          <a:br>
            <a:rPr kumimoji="1" lang="en-US" altLang="ja-JP" sz="1400" kern="1200"/>
          </a:br>
          <a:r>
            <a:rPr kumimoji="1" lang="ja-JP" altLang="en-US" sz="1400" kern="1200"/>
            <a:t>・単体テスト仕様、テストコード</a:t>
          </a:r>
          <a:br>
            <a:rPr kumimoji="1" lang="en-US" altLang="ja-JP" sz="1400" kern="1200"/>
          </a:br>
          <a:r>
            <a:rPr kumimoji="1" lang="ja-JP" altLang="en-US" sz="1400" kern="1200"/>
            <a:t>・ドメイン、</a:t>
          </a:r>
          <a:r>
            <a:rPr kumimoji="1" lang="en-US" altLang="ja-JP" sz="1400" kern="1200"/>
            <a:t>SSL</a:t>
          </a:r>
          <a:endParaRPr lang="en-US" sz="1400" kern="1200"/>
        </a:p>
      </dsp:txBody>
      <dsp:txXfrm>
        <a:off x="0" y="467200"/>
        <a:ext cx="3322493" cy="1993495"/>
      </dsp:txXfrm>
    </dsp:sp>
    <dsp:sp modelId="{83C6D7C3-B68E-C943-9536-D8560BD71CD6}">
      <dsp:nvSpPr>
        <dsp:cNvPr id="0" name=""/>
        <dsp:cNvSpPr/>
      </dsp:nvSpPr>
      <dsp:spPr>
        <a:xfrm>
          <a:off x="3553107" y="2652949"/>
          <a:ext cx="3322493" cy="1993495"/>
        </a:xfrm>
        <a:prstGeom prst="rect">
          <a:avLst/>
        </a:prstGeom>
        <a:solidFill>
          <a:srgbClr val="F498F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180975" lvl="0" indent="0" algn="l" defTabSz="1244600">
            <a:lnSpc>
              <a:spcPct val="100000"/>
            </a:lnSpc>
            <a:spcBef>
              <a:spcPct val="0"/>
            </a:spcBef>
            <a:spcAft>
              <a:spcPct val="35000"/>
            </a:spcAft>
            <a:buNone/>
            <a:defRPr cap="all"/>
          </a:pPr>
          <a:r>
            <a:rPr kumimoji="1" lang="ja-JP" sz="2800" kern="1200"/>
            <a:t>パフォーマンス</a:t>
          </a:r>
          <a:br>
            <a:rPr kumimoji="1" lang="en-US" altLang="ja-JP" sz="2800" kern="1200"/>
          </a:br>
          <a:r>
            <a:rPr kumimoji="1" lang="ja-JP" altLang="en-US" sz="1400" b="0" kern="1200"/>
            <a:t>・テストデータ用意</a:t>
          </a:r>
          <a:br>
            <a:rPr kumimoji="1" lang="en-US" altLang="ja-JP" sz="1400" kern="1200"/>
          </a:br>
          <a:r>
            <a:rPr kumimoji="1" lang="ja-JP" altLang="en-US" sz="1400" kern="1200"/>
            <a:t>・ツールによる試験の実施</a:t>
          </a:r>
          <a:br>
            <a:rPr kumimoji="1" lang="en-US" altLang="ja-JP" sz="1400" kern="1200"/>
          </a:br>
          <a:r>
            <a:rPr kumimoji="1" lang="ja-JP" altLang="en-US" sz="1400" kern="1200"/>
            <a:t>・制約の中で最大限の速度</a:t>
          </a:r>
          <a:endParaRPr kumimoji="1" lang="en-US" altLang="ja-JP" sz="1400" kern="1200"/>
        </a:p>
      </dsp:txBody>
      <dsp:txXfrm>
        <a:off x="3553107" y="2652949"/>
        <a:ext cx="3322493" cy="1993495"/>
      </dsp:txXfrm>
    </dsp:sp>
    <dsp:sp modelId="{36473781-0F96-EA4B-A79E-A8C1BE9C985E}">
      <dsp:nvSpPr>
        <dsp:cNvPr id="0" name=""/>
        <dsp:cNvSpPr/>
      </dsp:nvSpPr>
      <dsp:spPr>
        <a:xfrm>
          <a:off x="3542807" y="467200"/>
          <a:ext cx="3322493" cy="1993495"/>
        </a:xfrm>
        <a:prstGeom prst="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180975" lvl="0" indent="0" algn="l" defTabSz="1244600">
            <a:lnSpc>
              <a:spcPct val="100000"/>
            </a:lnSpc>
            <a:spcBef>
              <a:spcPct val="0"/>
            </a:spcBef>
            <a:spcAft>
              <a:spcPct val="35000"/>
            </a:spcAft>
            <a:buNone/>
            <a:defRPr cap="all"/>
          </a:pPr>
          <a:r>
            <a:rPr kumimoji="1" lang="ja-JP" altLang="en-US" sz="2800" kern="1200"/>
            <a:t>安定</a:t>
          </a:r>
          <a:r>
            <a:rPr kumimoji="1" lang="ja-JP" sz="2800" kern="1200"/>
            <a:t>性</a:t>
          </a:r>
          <a:br>
            <a:rPr kumimoji="1" lang="en-US" altLang="ja-JP" sz="2100" kern="1200"/>
          </a:br>
          <a:r>
            <a:rPr kumimoji="1" lang="ja-JP" altLang="en-US" sz="1400" b="1" kern="1200"/>
            <a:t>・</a:t>
          </a:r>
          <a:r>
            <a:rPr kumimoji="1" lang="ja-JP" sz="1400" b="1" kern="1200"/>
            <a:t>冗長性が保たれ</a:t>
          </a:r>
          <a:r>
            <a:rPr kumimoji="1" lang="ja-JP" altLang="en-US" sz="1400" b="1" kern="1200"/>
            <a:t>たサーバ構成</a:t>
          </a:r>
          <a:br>
            <a:rPr kumimoji="1" lang="en-US" altLang="ja-JP" sz="1400" kern="1200"/>
          </a:br>
          <a:r>
            <a:rPr kumimoji="1" lang="ja-JP" altLang="en-US" sz="1400" kern="1200"/>
            <a:t>・監視＋エラー通知</a:t>
          </a:r>
          <a:endParaRPr lang="en-US" sz="1400" kern="1200"/>
        </a:p>
      </dsp:txBody>
      <dsp:txXfrm>
        <a:off x="3542807" y="467200"/>
        <a:ext cx="3322493" cy="1993495"/>
      </dsp:txXfrm>
    </dsp:sp>
    <dsp:sp modelId="{CC8CF41D-E711-5345-8C9F-1DC5005833D1}">
      <dsp:nvSpPr>
        <dsp:cNvPr id="0" name=""/>
        <dsp:cNvSpPr/>
      </dsp:nvSpPr>
      <dsp:spPr>
        <a:xfrm>
          <a:off x="7036807" y="463526"/>
          <a:ext cx="3322493" cy="1993495"/>
        </a:xfrm>
        <a:prstGeom prst="rect">
          <a:avLst/>
        </a:prstGeom>
        <a:solidFill>
          <a:srgbClr val="D7D31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180975" lvl="0" indent="0" algn="l" defTabSz="1244600">
            <a:lnSpc>
              <a:spcPct val="100000"/>
            </a:lnSpc>
            <a:spcBef>
              <a:spcPct val="0"/>
            </a:spcBef>
            <a:spcAft>
              <a:spcPct val="35000"/>
            </a:spcAft>
            <a:buNone/>
            <a:defRPr cap="all"/>
          </a:pPr>
          <a:r>
            <a:rPr kumimoji="1" lang="ja-JP" sz="2800" kern="1200"/>
            <a:t>保守性</a:t>
          </a:r>
          <a:br>
            <a:rPr kumimoji="1" lang="en-US" altLang="ja-JP" sz="1400" kern="1200"/>
          </a:br>
          <a:r>
            <a:rPr kumimoji="1" lang="ja-JP" altLang="en-US" sz="1400" kern="1200"/>
            <a:t>・リリース自動化</a:t>
          </a:r>
          <a:br>
            <a:rPr kumimoji="1" lang="en-US" altLang="ja-JP" sz="1400" kern="1200"/>
          </a:br>
          <a:r>
            <a:rPr kumimoji="1" lang="ja-JP" altLang="en-US" sz="1400" kern="1200"/>
            <a:t>・構成管理ツールでの環境構築</a:t>
          </a:r>
          <a:br>
            <a:rPr kumimoji="1" lang="en-US" altLang="ja-JP" sz="1400" kern="1200"/>
          </a:br>
          <a:r>
            <a:rPr kumimoji="1" lang="ja-JP" altLang="en-US" sz="1400" kern="1200"/>
            <a:t>・ログ管理</a:t>
          </a:r>
          <a:br>
            <a:rPr kumimoji="1" lang="en-US" altLang="ja-JP" sz="1400" kern="1200"/>
          </a:br>
          <a:r>
            <a:rPr kumimoji="1" lang="ja-JP" altLang="en-US" sz="1400" kern="1200"/>
            <a:t>・</a:t>
          </a:r>
          <a:r>
            <a:rPr kumimoji="1" lang="en-US" altLang="ja-JP" sz="1400" kern="1200"/>
            <a:t>DB</a:t>
          </a:r>
          <a:r>
            <a:rPr kumimoji="1" lang="ja-JP" altLang="en-US" sz="1400" kern="1200"/>
            <a:t>バックアップ</a:t>
          </a:r>
          <a:endParaRPr kumimoji="1" lang="en-US" altLang="ja-JP" sz="1400" kern="1200"/>
        </a:p>
      </dsp:txBody>
      <dsp:txXfrm>
        <a:off x="7036807" y="463526"/>
        <a:ext cx="3322493" cy="1993495"/>
      </dsp:txXfrm>
    </dsp:sp>
    <dsp:sp modelId="{97E61014-22BA-C445-AB9C-4BB26DDAA951}">
      <dsp:nvSpPr>
        <dsp:cNvPr id="0" name=""/>
        <dsp:cNvSpPr/>
      </dsp:nvSpPr>
      <dsp:spPr>
        <a:xfrm>
          <a:off x="5615" y="2652962"/>
          <a:ext cx="3322493" cy="1993495"/>
        </a:xfrm>
        <a:prstGeom prst="rect">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180975" lvl="0" indent="0" algn="l" defTabSz="1244600">
            <a:lnSpc>
              <a:spcPct val="100000"/>
            </a:lnSpc>
            <a:spcBef>
              <a:spcPct val="0"/>
            </a:spcBef>
            <a:spcAft>
              <a:spcPct val="35000"/>
            </a:spcAft>
            <a:buNone/>
            <a:defRPr cap="all"/>
          </a:pPr>
          <a:r>
            <a:rPr kumimoji="1" lang="ja-JP" sz="2800" kern="1200"/>
            <a:t>セキュリティ</a:t>
          </a:r>
          <a:br>
            <a:rPr kumimoji="1" lang="en-US" altLang="ja-JP" sz="2200" kern="1200"/>
          </a:br>
          <a:r>
            <a:rPr kumimoji="1" lang="ja-JP" altLang="en-US" sz="1400" b="1" kern="1200"/>
            <a:t>・インフラ面のセキュリティ設定</a:t>
          </a:r>
          <a:br>
            <a:rPr kumimoji="1" lang="en-US" altLang="ja-JP" sz="1400" b="1" kern="1200"/>
          </a:br>
          <a:r>
            <a:rPr kumimoji="1" lang="ja-JP" altLang="en-US" sz="1400" b="1" kern="1200"/>
            <a:t>・アプリケーション脆弱性対策</a:t>
          </a:r>
          <a:br>
            <a:rPr kumimoji="1" lang="en-US" altLang="ja-JP" sz="1400" kern="1200"/>
          </a:br>
          <a:r>
            <a:rPr kumimoji="1" lang="ja-JP" altLang="en-US" sz="1400" kern="1200"/>
            <a:t>・セキュリティ診断</a:t>
          </a:r>
          <a:br>
            <a:rPr kumimoji="1" lang="en-US" altLang="ja-JP" sz="1400" kern="1200"/>
          </a:br>
          <a:r>
            <a:rPr kumimoji="1" lang="ja-JP" altLang="en-US" sz="1400" kern="1200"/>
            <a:t>（プラットフォーム、</a:t>
          </a:r>
          <a:r>
            <a:rPr kumimoji="1" lang="en-US" altLang="ja-JP" sz="1400" kern="1200"/>
            <a:t>app</a:t>
          </a:r>
          <a:r>
            <a:rPr kumimoji="1" lang="ja-JP" altLang="en-US" sz="1400" kern="1200"/>
            <a:t>）</a:t>
          </a:r>
          <a:endParaRPr lang="en-US" sz="1400" kern="1200"/>
        </a:p>
      </dsp:txBody>
      <dsp:txXfrm>
        <a:off x="5615" y="2652962"/>
        <a:ext cx="3322493" cy="199349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altLang="ja-JP"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9ed65a0e06_0_146:notes"/>
          <p:cNvSpPr txBox="1">
            <a:spLocks noGrp="1"/>
          </p:cNvSpPr>
          <p:nvPr>
            <p:ph type="body" idx="1"/>
          </p:nvPr>
        </p:nvSpPr>
        <p:spPr>
          <a:xfrm>
            <a:off x="685505" y="4344376"/>
            <a:ext cx="5487000" cy="4114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2" name="Google Shape;82;g9ed65a0e06_0_146:notes"/>
          <p:cNvSpPr>
            <a:spLocks noGrp="1" noRot="1" noChangeAspect="1"/>
          </p:cNvSpPr>
          <p:nvPr>
            <p:ph type="sldImg" idx="2"/>
          </p:nvPr>
        </p:nvSpPr>
        <p:spPr>
          <a:xfrm>
            <a:off x="377825" y="684213"/>
            <a:ext cx="6102350" cy="34321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altLang="ja-JP"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03081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2D0FD327-B04C-4C83-9C6A-B1446DD45837}" type="datetimeFigureOut">
              <a:rPr kumimoji="1" lang="ja-JP" altLang="en-US" smtClean="0"/>
              <a:t>2026/2/1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5FAE07D-C2D7-4A55-A366-F71F9A1D52D5}" type="slidenum">
              <a:rPr kumimoji="1" lang="ja-JP" altLang="en-US" smtClean="0"/>
              <a:t>‹#›</a:t>
            </a:fld>
            <a:endParaRPr kumimoji="1" lang="ja-JP" altLang="en-US"/>
          </a:p>
        </p:txBody>
      </p:sp>
    </p:spTree>
    <p:extLst>
      <p:ext uri="{BB962C8B-B14F-4D97-AF65-F5344CB8AC3E}">
        <p14:creationId xmlns:p14="http://schemas.microsoft.com/office/powerpoint/2010/main" val="222256503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4981B351-F5CA-7948-A4DD-91A589BABDF7}" type="datetimeFigureOut">
              <a:rPr kumimoji="1" lang="ja-JP" altLang="en-US" smtClean="0"/>
              <a:t>2026/2/1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8FB07F1-6A73-954D-A20C-35E447F6DA56}" type="slidenum">
              <a:rPr kumimoji="1" lang="ja-JP" altLang="en-US" smtClean="0"/>
              <a:t>‹#›</a:t>
            </a:fld>
            <a:endParaRPr kumimoji="1" lang="ja-JP" altLang="en-US"/>
          </a:p>
        </p:txBody>
      </p:sp>
    </p:spTree>
    <p:extLst>
      <p:ext uri="{BB962C8B-B14F-4D97-AF65-F5344CB8AC3E}">
        <p14:creationId xmlns:p14="http://schemas.microsoft.com/office/powerpoint/2010/main" val="453629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D0FD327-B04C-4C83-9C6A-B1446DD45837}" type="datetimeFigureOut">
              <a:rPr kumimoji="1" lang="ja-JP" altLang="en-US" smtClean="0"/>
              <a:t>2026/2/1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5FAE07D-C2D7-4A55-A366-F71F9A1D52D5}" type="slidenum">
              <a:rPr kumimoji="1" lang="ja-JP" altLang="en-US" smtClean="0"/>
              <a:t>‹#›</a:t>
            </a:fld>
            <a:endParaRPr kumimoji="1" lang="ja-JP" altLang="en-US"/>
          </a:p>
        </p:txBody>
      </p:sp>
    </p:spTree>
    <p:extLst>
      <p:ext uri="{BB962C8B-B14F-4D97-AF65-F5344CB8AC3E}">
        <p14:creationId xmlns:p14="http://schemas.microsoft.com/office/powerpoint/2010/main" val="100520191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2D0FD327-B04C-4C83-9C6A-B1446DD45837}" type="datetimeFigureOut">
              <a:rPr kumimoji="1" lang="ja-JP" altLang="en-US" smtClean="0"/>
              <a:t>2026/2/1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5FAE07D-C2D7-4A55-A366-F71F9A1D52D5}" type="slidenum">
              <a:rPr kumimoji="1" lang="ja-JP" altLang="en-US" smtClean="0"/>
              <a:t>‹#›</a:t>
            </a:fld>
            <a:endParaRPr kumimoji="1" lang="ja-JP" altLang="en-US"/>
          </a:p>
        </p:txBody>
      </p:sp>
    </p:spTree>
    <p:extLst>
      <p:ext uri="{BB962C8B-B14F-4D97-AF65-F5344CB8AC3E}">
        <p14:creationId xmlns:p14="http://schemas.microsoft.com/office/powerpoint/2010/main" val="220245264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2D0FD327-B04C-4C83-9C6A-B1446DD45837}" type="datetimeFigureOut">
              <a:rPr kumimoji="1" lang="ja-JP" altLang="en-US" smtClean="0"/>
              <a:t>2026/2/1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85FAE07D-C2D7-4A55-A366-F71F9A1D52D5}" type="slidenum">
              <a:rPr kumimoji="1" lang="ja-JP" altLang="en-US" smtClean="0"/>
              <a:t>‹#›</a:t>
            </a:fld>
            <a:endParaRPr kumimoji="1" lang="ja-JP" altLang="en-US"/>
          </a:p>
        </p:txBody>
      </p:sp>
    </p:spTree>
    <p:extLst>
      <p:ext uri="{BB962C8B-B14F-4D97-AF65-F5344CB8AC3E}">
        <p14:creationId xmlns:p14="http://schemas.microsoft.com/office/powerpoint/2010/main" val="190451883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2D0FD327-B04C-4C83-9C6A-B1446DD45837}" type="datetimeFigureOut">
              <a:rPr kumimoji="1" lang="ja-JP" altLang="en-US" smtClean="0"/>
              <a:t>2026/2/1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85FAE07D-C2D7-4A55-A366-F71F9A1D52D5}" type="slidenum">
              <a:rPr kumimoji="1" lang="ja-JP" altLang="en-US" smtClean="0"/>
              <a:t>‹#›</a:t>
            </a:fld>
            <a:endParaRPr kumimoji="1" lang="ja-JP" altLang="en-US"/>
          </a:p>
        </p:txBody>
      </p:sp>
    </p:spTree>
    <p:extLst>
      <p:ext uri="{BB962C8B-B14F-4D97-AF65-F5344CB8AC3E}">
        <p14:creationId xmlns:p14="http://schemas.microsoft.com/office/powerpoint/2010/main" val="79654629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0FD327-B04C-4C83-9C6A-B1446DD45837}" type="datetimeFigureOut">
              <a:rPr kumimoji="1" lang="ja-JP" altLang="en-US" smtClean="0"/>
              <a:t>2026/2/1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85FAE07D-C2D7-4A55-A366-F71F9A1D52D5}" type="slidenum">
              <a:rPr kumimoji="1" lang="ja-JP" altLang="en-US" smtClean="0"/>
              <a:t>‹#›</a:t>
            </a:fld>
            <a:endParaRPr kumimoji="1" lang="ja-JP" altLang="en-US"/>
          </a:p>
        </p:txBody>
      </p:sp>
    </p:spTree>
    <p:extLst>
      <p:ext uri="{BB962C8B-B14F-4D97-AF65-F5344CB8AC3E}">
        <p14:creationId xmlns:p14="http://schemas.microsoft.com/office/powerpoint/2010/main" val="101004358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D0FD327-B04C-4C83-9C6A-B1446DD45837}" type="datetimeFigureOut">
              <a:rPr kumimoji="1" lang="ja-JP" altLang="en-US" smtClean="0"/>
              <a:t>2026/2/1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5FAE07D-C2D7-4A55-A366-F71F9A1D52D5}" type="slidenum">
              <a:rPr kumimoji="1" lang="ja-JP" altLang="en-US" smtClean="0"/>
              <a:t>‹#›</a:t>
            </a:fld>
            <a:endParaRPr kumimoji="1" lang="ja-JP" altLang="en-US"/>
          </a:p>
        </p:txBody>
      </p:sp>
    </p:spTree>
    <p:extLst>
      <p:ext uri="{BB962C8B-B14F-4D97-AF65-F5344CB8AC3E}">
        <p14:creationId xmlns:p14="http://schemas.microsoft.com/office/powerpoint/2010/main" val="187089839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D0FD327-B04C-4C83-9C6A-B1446DD45837}" type="datetimeFigureOut">
              <a:rPr kumimoji="1" lang="ja-JP" altLang="en-US" smtClean="0"/>
              <a:t>2026/2/1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5FAE07D-C2D7-4A55-A366-F71F9A1D52D5}" type="slidenum">
              <a:rPr kumimoji="1" lang="ja-JP" altLang="en-US" smtClean="0"/>
              <a:t>‹#›</a:t>
            </a:fld>
            <a:endParaRPr kumimoji="1" lang="ja-JP" altLang="en-US"/>
          </a:p>
        </p:txBody>
      </p:sp>
    </p:spTree>
    <p:extLst>
      <p:ext uri="{BB962C8B-B14F-4D97-AF65-F5344CB8AC3E}">
        <p14:creationId xmlns:p14="http://schemas.microsoft.com/office/powerpoint/2010/main" val="421963749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2D0FD327-B04C-4C83-9C6A-B1446DD45837}" type="datetimeFigureOut">
              <a:rPr kumimoji="1" lang="ja-JP" altLang="en-US" smtClean="0"/>
              <a:t>2026/2/1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5FAE07D-C2D7-4A55-A366-F71F9A1D52D5}" type="slidenum">
              <a:rPr kumimoji="1" lang="ja-JP" altLang="en-US" smtClean="0"/>
              <a:t>‹#›</a:t>
            </a:fld>
            <a:endParaRPr kumimoji="1" lang="ja-JP" altLang="en-US"/>
          </a:p>
        </p:txBody>
      </p:sp>
    </p:spTree>
    <p:extLst>
      <p:ext uri="{BB962C8B-B14F-4D97-AF65-F5344CB8AC3E}">
        <p14:creationId xmlns:p14="http://schemas.microsoft.com/office/powerpoint/2010/main" val="381333254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2D0FD327-B04C-4C83-9C6A-B1446DD45837}" type="datetimeFigureOut">
              <a:rPr kumimoji="1" lang="ja-JP" altLang="en-US" smtClean="0"/>
              <a:t>2026/2/1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5FAE07D-C2D7-4A55-A366-F71F9A1D52D5}" type="slidenum">
              <a:rPr kumimoji="1" lang="ja-JP" altLang="en-US" smtClean="0"/>
              <a:t>‹#›</a:t>
            </a:fld>
            <a:endParaRPr kumimoji="1" lang="ja-JP" altLang="en-US"/>
          </a:p>
        </p:txBody>
      </p:sp>
    </p:spTree>
    <p:extLst>
      <p:ext uri="{BB962C8B-B14F-4D97-AF65-F5344CB8AC3E}">
        <p14:creationId xmlns:p14="http://schemas.microsoft.com/office/powerpoint/2010/main" val="275014037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表紙（スタンダードver）">
  <p:cSld name="表紙（スタンダードver）">
    <p:spTree>
      <p:nvGrpSpPr>
        <p:cNvPr id="1" name="Shape 37"/>
        <p:cNvGrpSpPr/>
        <p:nvPr/>
      </p:nvGrpSpPr>
      <p:grpSpPr>
        <a:xfrm>
          <a:off x="0" y="0"/>
          <a:ext cx="0" cy="0"/>
          <a:chOff x="0" y="0"/>
          <a:chExt cx="0" cy="0"/>
        </a:xfrm>
      </p:grpSpPr>
      <p:sp>
        <p:nvSpPr>
          <p:cNvPr id="38" name="Google Shape;38;p5"/>
          <p:cNvSpPr txBox="1">
            <a:spLocks noGrp="1"/>
          </p:cNvSpPr>
          <p:nvPr>
            <p:ph type="body" idx="1"/>
          </p:nvPr>
        </p:nvSpPr>
        <p:spPr>
          <a:xfrm>
            <a:off x="838199" y="4387325"/>
            <a:ext cx="10515600" cy="229200"/>
          </a:xfrm>
          <a:prstGeom prst="rect">
            <a:avLst/>
          </a:prstGeom>
          <a:noFill/>
          <a:ln>
            <a:noFill/>
          </a:ln>
        </p:spPr>
        <p:txBody>
          <a:bodyPr spcFirstLastPara="1" wrap="square" lIns="0" tIns="0" rIns="0" bIns="0" anchor="t" anchorCtr="0">
            <a:noAutofit/>
          </a:bodyPr>
          <a:lstStyle>
            <a:lvl1pPr marL="457200" marR="0" lvl="0" indent="-228600" algn="ctr" rtl="0">
              <a:lnSpc>
                <a:spcPct val="90000"/>
              </a:lnSpc>
              <a:spcBef>
                <a:spcPts val="1000"/>
              </a:spcBef>
              <a:spcAft>
                <a:spcPts val="0"/>
              </a:spcAft>
              <a:buClr>
                <a:srgbClr val="262626"/>
              </a:buClr>
              <a:buSzPts val="2000"/>
              <a:buFont typeface="Arial"/>
              <a:buNone/>
              <a:defRPr sz="2000" b="0" i="0" u="none" strike="noStrike" cap="none">
                <a:solidFill>
                  <a:srgbClr val="262626"/>
                </a:solidFill>
                <a:latin typeface="Meiryo"/>
                <a:ea typeface="Meiryo"/>
                <a:cs typeface="Meiryo"/>
                <a:sym typeface="Meiryo"/>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Meiryo"/>
                <a:ea typeface="Meiryo"/>
                <a:cs typeface="Meiryo"/>
                <a:sym typeface="Meiryo"/>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Meiryo"/>
                <a:ea typeface="Meiryo"/>
                <a:cs typeface="Meiryo"/>
                <a:sym typeface="Meiryo"/>
              </a:defRPr>
            </a:lvl3pPr>
            <a:lvl4pPr marL="1828800" marR="0" lvl="3"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Meiryo"/>
                <a:ea typeface="Meiryo"/>
                <a:cs typeface="Meiryo"/>
                <a:sym typeface="Meiryo"/>
              </a:defRPr>
            </a:lvl4pPr>
            <a:lvl5pPr marL="2286000" marR="0" lvl="4"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Meiryo"/>
                <a:ea typeface="Meiryo"/>
                <a:cs typeface="Meiryo"/>
                <a:sym typeface="Meiry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9" name="Google Shape;39;p5"/>
          <p:cNvSpPr txBox="1">
            <a:spLocks noGrp="1"/>
          </p:cNvSpPr>
          <p:nvPr>
            <p:ph type="body" idx="2"/>
          </p:nvPr>
        </p:nvSpPr>
        <p:spPr>
          <a:xfrm>
            <a:off x="838199" y="4783731"/>
            <a:ext cx="10515600" cy="368100"/>
          </a:xfrm>
          <a:prstGeom prst="rect">
            <a:avLst/>
          </a:prstGeom>
          <a:noFill/>
          <a:ln>
            <a:noFill/>
          </a:ln>
        </p:spPr>
        <p:txBody>
          <a:bodyPr spcFirstLastPara="1" wrap="square" lIns="0" tIns="0" rIns="0" bIns="0" anchor="t" anchorCtr="0">
            <a:noAutofit/>
          </a:bodyPr>
          <a:lstStyle>
            <a:lvl1pPr marL="457200" marR="0" lvl="0" indent="-228600" algn="ctr" rtl="0">
              <a:lnSpc>
                <a:spcPct val="90000"/>
              </a:lnSpc>
              <a:spcBef>
                <a:spcPts val="1000"/>
              </a:spcBef>
              <a:spcAft>
                <a:spcPts val="0"/>
              </a:spcAft>
              <a:buClr>
                <a:srgbClr val="262626"/>
              </a:buClr>
              <a:buSzPts val="2400"/>
              <a:buFont typeface="Arial"/>
              <a:buNone/>
              <a:defRPr sz="2400" b="0" i="0" u="none" strike="noStrike" cap="none">
                <a:solidFill>
                  <a:srgbClr val="262626"/>
                </a:solidFill>
                <a:latin typeface="Meiryo"/>
                <a:ea typeface="Meiryo"/>
                <a:cs typeface="Meiryo"/>
                <a:sym typeface="Meiryo"/>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Meiryo"/>
                <a:ea typeface="Meiryo"/>
                <a:cs typeface="Meiryo"/>
                <a:sym typeface="Meiryo"/>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Meiryo"/>
                <a:ea typeface="Meiryo"/>
                <a:cs typeface="Meiryo"/>
                <a:sym typeface="Meiryo"/>
              </a:defRPr>
            </a:lvl3pPr>
            <a:lvl4pPr marL="1828800" marR="0" lvl="3"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Meiryo"/>
                <a:ea typeface="Meiryo"/>
                <a:cs typeface="Meiryo"/>
                <a:sym typeface="Meiryo"/>
              </a:defRPr>
            </a:lvl4pPr>
            <a:lvl5pPr marL="2286000" marR="0" lvl="4"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Meiryo"/>
                <a:ea typeface="Meiryo"/>
                <a:cs typeface="Meiryo"/>
                <a:sym typeface="Meiry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0" name="Google Shape;40;p5"/>
          <p:cNvSpPr txBox="1">
            <a:spLocks noGrp="1"/>
          </p:cNvSpPr>
          <p:nvPr>
            <p:ph type="title"/>
          </p:nvPr>
        </p:nvSpPr>
        <p:spPr>
          <a:xfrm>
            <a:off x="838199" y="2008014"/>
            <a:ext cx="10515600" cy="2025300"/>
          </a:xfrm>
          <a:prstGeom prst="rect">
            <a:avLst/>
          </a:prstGeom>
          <a:noFill/>
          <a:ln>
            <a:noFill/>
          </a:ln>
        </p:spPr>
        <p:txBody>
          <a:bodyPr spcFirstLastPara="1" wrap="square" lIns="0" tIns="0" rIns="0" bIns="0" anchor="ctr" anchorCtr="0">
            <a:noAutofit/>
          </a:bodyPr>
          <a:lstStyle>
            <a:lvl1pPr marR="0" lvl="0" algn="ctr" rtl="0">
              <a:lnSpc>
                <a:spcPct val="125000"/>
              </a:lnSpc>
              <a:spcBef>
                <a:spcPts val="1500"/>
              </a:spcBef>
              <a:spcAft>
                <a:spcPts val="0"/>
              </a:spcAft>
              <a:buClr>
                <a:srgbClr val="262626"/>
              </a:buClr>
              <a:buSzPts val="3600"/>
              <a:buFont typeface="Meiryo"/>
              <a:buNone/>
              <a:defRPr sz="3600" b="1" i="0" u="none" strike="noStrike" cap="none">
                <a:solidFill>
                  <a:srgbClr val="262626"/>
                </a:solidFill>
                <a:latin typeface="Meiryo"/>
                <a:ea typeface="Meiryo"/>
                <a:cs typeface="Meiryo"/>
                <a:sym typeface="Meiryo"/>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Tree>
    <p:extLst>
      <p:ext uri="{BB962C8B-B14F-4D97-AF65-F5344CB8AC3E}">
        <p14:creationId xmlns:p14="http://schemas.microsoft.com/office/powerpoint/2010/main" val="27936951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マスターなし">
  <p:cSld name="マスターなし">
    <p:spTree>
      <p:nvGrpSpPr>
        <p:cNvPr id="1" name="Shape 68"/>
        <p:cNvGrpSpPr/>
        <p:nvPr/>
      </p:nvGrpSpPr>
      <p:grpSpPr>
        <a:xfrm>
          <a:off x="0" y="0"/>
          <a:ext cx="0" cy="0"/>
          <a:chOff x="0" y="0"/>
          <a:chExt cx="0" cy="0"/>
        </a:xfrm>
      </p:grpSpPr>
    </p:spTree>
    <p:extLst>
      <p:ext uri="{BB962C8B-B14F-4D97-AF65-F5344CB8AC3E}">
        <p14:creationId xmlns:p14="http://schemas.microsoft.com/office/powerpoint/2010/main" val="687970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0FD327-B04C-4C83-9C6A-B1446DD45837}" type="datetimeFigureOut">
              <a:rPr kumimoji="1" lang="ja-JP" altLang="en-US" smtClean="0"/>
              <a:t>2026/2/1</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FAE07D-C2D7-4A55-A366-F71F9A1D52D5}" type="slidenum">
              <a:rPr kumimoji="1" lang="ja-JP" altLang="en-US" smtClean="0"/>
              <a:t>‹#›</a:t>
            </a:fld>
            <a:endParaRPr kumimoji="1" lang="ja-JP" altLang="en-US"/>
          </a:p>
        </p:txBody>
      </p:sp>
    </p:spTree>
    <p:extLst>
      <p:ext uri="{BB962C8B-B14F-4D97-AF65-F5344CB8AC3E}">
        <p14:creationId xmlns:p14="http://schemas.microsoft.com/office/powerpoint/2010/main" val="1380686918"/>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hyperlink" Target="https://aws.amazon.com/jp/architecture/well-architected/" TargetMode="Externa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hyperlink" Target="https://pixabay.com/nl/monitor-scherm-computer-internet-558021/"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gmo-jp.zoom.us/j/81742280451?pwd=mlLQv0LsV0pvdfb5nyiWyJoqQqIttU.1" TargetMode="External"/><Relationship Id="rId2" Type="http://schemas.openxmlformats.org/officeDocument/2006/relationships/hyperlink" Target="https://gmo-jp.zoom.us/j/88375465463?pwd=t9aMHe2baAv71xCOBV8XnaVg0Gg5fD.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838199" y="2244429"/>
            <a:ext cx="10515600" cy="2025300"/>
          </a:xfrm>
          <a:prstGeom prst="rect">
            <a:avLst/>
          </a:prstGeom>
          <a:noFill/>
          <a:ln>
            <a:noFill/>
          </a:ln>
        </p:spPr>
        <p:txBody>
          <a:bodyPr spcFirstLastPara="1" wrap="square" lIns="0" tIns="0" rIns="0" bIns="0" anchor="ctr" anchorCtr="0">
            <a:noAutofit/>
          </a:bodyPr>
          <a:lstStyle/>
          <a:p>
            <a:pPr marL="0" lvl="0" indent="0" algn="ctr" rtl="0">
              <a:lnSpc>
                <a:spcPct val="125000"/>
              </a:lnSpc>
              <a:spcBef>
                <a:spcPts val="0"/>
              </a:spcBef>
              <a:spcAft>
                <a:spcPts val="0"/>
              </a:spcAft>
              <a:buClr>
                <a:srgbClr val="262626"/>
              </a:buClr>
              <a:buSzPts val="5400"/>
              <a:buFont typeface="Meiryo"/>
              <a:buNone/>
            </a:pPr>
            <a:r>
              <a:rPr lang="en-US" altLang="ja-JP" sz="9600"/>
              <a:t>ML/WEB</a:t>
            </a:r>
            <a:r>
              <a:rPr lang="ja-JP" altLang="en-US" sz="9600"/>
              <a:t>コース</a:t>
            </a:r>
            <a:endParaRPr sz="9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D591533-7C2F-41F5-8B86-9779A02CE95D}"/>
              </a:ext>
            </a:extLst>
          </p:cNvPr>
          <p:cNvSpPr txBox="1">
            <a:spLocks/>
          </p:cNvSpPr>
          <p:nvPr/>
        </p:nvSpPr>
        <p:spPr>
          <a:xfrm>
            <a:off x="838200" y="556995"/>
            <a:ext cx="10515600" cy="1133693"/>
          </a:xfrm>
          <a:prstGeom prst="rect">
            <a:avLst/>
          </a:prstGeom>
        </p:spPr>
        <p:txBody>
          <a:bodyPr vert="horz" lIns="91440" tIns="45720" rIns="91440" bIns="45720" rtlCol="0" anchor="ct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914400">
              <a:lnSpc>
                <a:spcPct val="90000"/>
              </a:lnSpc>
              <a:spcBef>
                <a:spcPct val="0"/>
              </a:spcBef>
              <a:spcAft>
                <a:spcPts val="600"/>
              </a:spcAft>
            </a:pPr>
            <a:r>
              <a:rPr kumimoji="1" lang="ja-JP" altLang="en-US" sz="3600" b="1" kern="1200">
                <a:solidFill>
                  <a:schemeClr val="tx1"/>
                </a:solidFill>
                <a:latin typeface="+mj-lt"/>
                <a:ea typeface="+mj-ea"/>
                <a:cs typeface="+mj-cs"/>
              </a:rPr>
              <a:t>何をやりますか？</a:t>
            </a:r>
          </a:p>
        </p:txBody>
      </p:sp>
      <p:graphicFrame>
        <p:nvGraphicFramePr>
          <p:cNvPr id="3" name="コンテンツ プレースホルダー 2">
            <a:extLst>
              <a:ext uri="{FF2B5EF4-FFF2-40B4-BE49-F238E27FC236}">
                <a16:creationId xmlns:a16="http://schemas.microsoft.com/office/drawing/2014/main" id="{4DD70D24-50C7-4FF3-88A3-D33777DD5873}"/>
              </a:ext>
            </a:extLst>
          </p:cNvPr>
          <p:cNvGraphicFramePr>
            <a:graphicFrameLocks/>
          </p:cNvGraphicFramePr>
          <p:nvPr>
            <p:extLst>
              <p:ext uri="{D42A27DB-BD31-4B8C-83A1-F6EECF244321}">
                <p14:modId xmlns:p14="http://schemas.microsoft.com/office/powerpoint/2010/main" val="37952173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5596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84EACFDE-3C06-4B63-8FFD-255D880A04B3}"/>
              </a:ext>
            </a:extLst>
          </p:cNvPr>
          <p:cNvSpPr txBox="1"/>
          <p:nvPr/>
        </p:nvSpPr>
        <p:spPr>
          <a:xfrm>
            <a:off x="2314769" y="2725069"/>
            <a:ext cx="7419028" cy="1246495"/>
          </a:xfrm>
          <a:prstGeom prst="rect">
            <a:avLst/>
          </a:prstGeom>
          <a:noFill/>
        </p:spPr>
        <p:txBody>
          <a:bodyPr wrap="square" lIns="91440" tIns="45720" rIns="91440" bIns="45720" anchor="t">
            <a:spAutoFit/>
          </a:bodyPr>
          <a:lstStyle/>
          <a:p>
            <a:pPr algn="ctr"/>
            <a:r>
              <a:rPr lang="ja-JP" altLang="en-US" sz="7500">
                <a:ea typeface="游ゴシック"/>
              </a:rPr>
              <a:t>開発課題</a:t>
            </a:r>
            <a:endParaRPr lang="ja-JP" altLang="en-US" sz="7500">
              <a:ea typeface="游ゴシック"/>
              <a:cs typeface="Calibri"/>
            </a:endParaRPr>
          </a:p>
        </p:txBody>
      </p:sp>
    </p:spTree>
    <p:extLst>
      <p:ext uri="{BB962C8B-B14F-4D97-AF65-F5344CB8AC3E}">
        <p14:creationId xmlns:p14="http://schemas.microsoft.com/office/powerpoint/2010/main" val="1940214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D4B4550-BEB8-C7A6-F6E3-5EDD8BB75444}"/>
              </a:ext>
            </a:extLst>
          </p:cNvPr>
          <p:cNvSpPr txBox="1"/>
          <p:nvPr/>
        </p:nvSpPr>
        <p:spPr>
          <a:xfrm>
            <a:off x="359526" y="178422"/>
            <a:ext cx="6138948" cy="769441"/>
          </a:xfrm>
          <a:prstGeom prst="rect">
            <a:avLst/>
          </a:prstGeom>
          <a:noFill/>
        </p:spPr>
        <p:txBody>
          <a:bodyPr wrap="square">
            <a:spAutoFit/>
          </a:bodyPr>
          <a:lstStyle/>
          <a:p>
            <a:r>
              <a:rPr kumimoji="1" lang="ja-JP" altLang="en-US" sz="4400"/>
              <a:t>開発課題</a:t>
            </a:r>
            <a:endParaRPr lang="ja-JP" altLang="en-US" sz="4400"/>
          </a:p>
        </p:txBody>
      </p:sp>
      <p:pic>
        <p:nvPicPr>
          <p:cNvPr id="5" name="図 4">
            <a:extLst>
              <a:ext uri="{FF2B5EF4-FFF2-40B4-BE49-F238E27FC236}">
                <a16:creationId xmlns:a16="http://schemas.microsoft.com/office/drawing/2014/main" id="{494796C7-5E91-B0E0-FAB9-17295CC69D3B}"/>
              </a:ext>
            </a:extLst>
          </p:cNvPr>
          <p:cNvPicPr>
            <a:picLocks noChangeAspect="1"/>
          </p:cNvPicPr>
          <p:nvPr/>
        </p:nvPicPr>
        <p:blipFill>
          <a:blip r:embed="rId2"/>
          <a:stretch>
            <a:fillRect/>
          </a:stretch>
        </p:blipFill>
        <p:spPr>
          <a:xfrm>
            <a:off x="788892" y="1175577"/>
            <a:ext cx="10650071" cy="4745699"/>
          </a:xfrm>
          <a:prstGeom prst="rect">
            <a:avLst/>
          </a:prstGeom>
        </p:spPr>
      </p:pic>
    </p:spTree>
    <p:extLst>
      <p:ext uri="{BB962C8B-B14F-4D97-AF65-F5344CB8AC3E}">
        <p14:creationId xmlns:p14="http://schemas.microsoft.com/office/powerpoint/2010/main" val="1871091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F6D2F417-A6D4-F181-B5F7-4E48043836D8}"/>
              </a:ext>
            </a:extLst>
          </p:cNvPr>
          <p:cNvSpPr txBox="1"/>
          <p:nvPr/>
        </p:nvSpPr>
        <p:spPr>
          <a:xfrm>
            <a:off x="359526" y="178422"/>
            <a:ext cx="6138948" cy="769441"/>
          </a:xfrm>
          <a:prstGeom prst="rect">
            <a:avLst/>
          </a:prstGeom>
          <a:noFill/>
        </p:spPr>
        <p:txBody>
          <a:bodyPr wrap="square">
            <a:spAutoFit/>
          </a:bodyPr>
          <a:lstStyle/>
          <a:p>
            <a:r>
              <a:rPr kumimoji="1" lang="ja-JP" altLang="en-US" sz="4400"/>
              <a:t>開発課題</a:t>
            </a:r>
            <a:endParaRPr lang="ja-JP" altLang="en-US" sz="4400"/>
          </a:p>
        </p:txBody>
      </p:sp>
      <p:sp>
        <p:nvSpPr>
          <p:cNvPr id="3" name="コンテンツ プレースホルダー 2">
            <a:extLst>
              <a:ext uri="{FF2B5EF4-FFF2-40B4-BE49-F238E27FC236}">
                <a16:creationId xmlns:a16="http://schemas.microsoft.com/office/drawing/2014/main" id="{DA9CC9F4-2FB4-79D1-30D6-1D20CCE3E90D}"/>
              </a:ext>
            </a:extLst>
          </p:cNvPr>
          <p:cNvSpPr txBox="1">
            <a:spLocks/>
          </p:cNvSpPr>
          <p:nvPr/>
        </p:nvSpPr>
        <p:spPr>
          <a:xfrm>
            <a:off x="654424" y="1130426"/>
            <a:ext cx="11116235" cy="5002746"/>
          </a:xfr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ja-JP" altLang="en-US" sz="2400">
                <a:latin typeface="メイリオ" panose="020B0604030504040204" pitchFamily="50" charset="-128"/>
                <a:ea typeface="メイリオ" panose="020B0604030504040204" pitchFamily="50" charset="-128"/>
              </a:rPr>
              <a:t>天秤</a:t>
            </a:r>
            <a:r>
              <a:rPr lang="en-US" altLang="ja-JP" sz="2400">
                <a:latin typeface="メイリオ" panose="020B0604030504040204" pitchFamily="50" charset="-128"/>
                <a:ea typeface="メイリオ" panose="020B0604030504040204" pitchFamily="50" charset="-128"/>
              </a:rPr>
              <a:t>AI</a:t>
            </a:r>
            <a:r>
              <a:rPr lang="ja-JP" altLang="en-US" sz="2400">
                <a:latin typeface="メイリオ" panose="020B0604030504040204" pitchFamily="50" charset="-128"/>
                <a:ea typeface="メイリオ" panose="020B0604030504040204" pitchFamily="50" charset="-128"/>
              </a:rPr>
              <a:t>とは？</a:t>
            </a:r>
            <a:endParaRPr lang="en-US" altLang="ja-JP" sz="2400">
              <a:latin typeface="メイリオ" panose="020B0604030504040204" pitchFamily="50" charset="-128"/>
              <a:ea typeface="メイリオ" panose="020B0604030504040204" pitchFamily="50" charset="-128"/>
            </a:endParaRPr>
          </a:p>
          <a:p>
            <a:endParaRPr lang="en-US" altLang="ja-JP" sz="2400">
              <a:latin typeface="メイリオ" panose="020B0604030504040204" pitchFamily="50" charset="-128"/>
              <a:ea typeface="メイリオ" panose="020B0604030504040204" pitchFamily="50" charset="-128"/>
            </a:endParaRPr>
          </a:p>
          <a:p>
            <a:pPr marL="342900" indent="-342900">
              <a:buFont typeface="Arial" panose="020B0604020202020204" pitchFamily="34" charset="0"/>
              <a:buChar char="•"/>
            </a:pPr>
            <a:r>
              <a:rPr lang="ja-JP" altLang="en-US" sz="2400">
                <a:latin typeface="メイリオ" panose="020B0604030504040204" pitchFamily="50" charset="-128"/>
                <a:ea typeface="メイリオ" panose="020B0604030504040204" pitchFamily="50" charset="-128"/>
              </a:rPr>
              <a:t>複数の</a:t>
            </a:r>
            <a:r>
              <a:rPr lang="en-US" altLang="ja-JP" sz="2400">
                <a:latin typeface="メイリオ" panose="020B0604030504040204" pitchFamily="50" charset="-128"/>
                <a:ea typeface="メイリオ" panose="020B0604030504040204" pitchFamily="50" charset="-128"/>
              </a:rPr>
              <a:t>LLM</a:t>
            </a:r>
            <a:r>
              <a:rPr lang="ja-JP" altLang="en-US" sz="2400">
                <a:latin typeface="メイリオ" panose="020B0604030504040204" pitchFamily="50" charset="-128"/>
                <a:ea typeface="メイリオ" panose="020B0604030504040204" pitchFamily="50" charset="-128"/>
              </a:rPr>
              <a:t>を同時実行し、結果を比較できます。</a:t>
            </a:r>
          </a:p>
          <a:p>
            <a:endParaRPr lang="en-US" altLang="ja-JP" sz="2400">
              <a:latin typeface="メイリオ" panose="020B0604030504040204" pitchFamily="50" charset="-128"/>
              <a:ea typeface="メイリオ" panose="020B0604030504040204" pitchFamily="50" charset="-128"/>
            </a:endParaRPr>
          </a:p>
          <a:p>
            <a:endParaRPr lang="en-US" altLang="ja-JP" sz="2400">
              <a:latin typeface="メイリオ" panose="020B0604030504040204" pitchFamily="50" charset="-128"/>
              <a:ea typeface="メイリオ" panose="020B0604030504040204" pitchFamily="50" charset="-128"/>
            </a:endParaRPr>
          </a:p>
          <a:p>
            <a:r>
              <a:rPr lang="en-US" altLang="ja-JP" sz="1600">
                <a:latin typeface="メイリオ" panose="020B0604030504040204" pitchFamily="50" charset="-128"/>
                <a:ea typeface="メイリオ" panose="020B0604030504040204" pitchFamily="50" charset="-128"/>
              </a:rPr>
              <a:t>※</a:t>
            </a:r>
            <a:r>
              <a:rPr lang="ja-JP" altLang="en-US" sz="1600">
                <a:latin typeface="メイリオ" panose="020B0604030504040204" pitchFamily="50" charset="-128"/>
                <a:ea typeface="メイリオ" panose="020B0604030504040204" pitchFamily="50" charset="-128"/>
              </a:rPr>
              <a:t>姉妹サイト 「教えて</a:t>
            </a:r>
            <a:r>
              <a:rPr lang="en-US" altLang="ja-JP" sz="1600">
                <a:latin typeface="メイリオ" panose="020B0604030504040204" pitchFamily="50" charset="-128"/>
                <a:ea typeface="メイリオ" panose="020B0604030504040204" pitchFamily="50" charset="-128"/>
              </a:rPr>
              <a:t>AI byGMO</a:t>
            </a:r>
            <a:r>
              <a:rPr lang="ja-JP" altLang="en-US" sz="1600">
                <a:latin typeface="メイリオ" panose="020B0604030504040204" pitchFamily="50" charset="-128"/>
                <a:ea typeface="メイリオ" panose="020B0604030504040204" pitchFamily="50" charset="-128"/>
              </a:rPr>
              <a:t>」</a:t>
            </a:r>
            <a:r>
              <a:rPr lang="en-US" altLang="ja-JP" sz="1600">
                <a:latin typeface="メイリオ" panose="020B0604030504040204" pitchFamily="50" charset="-128"/>
                <a:ea typeface="メイリオ" panose="020B0604030504040204" pitchFamily="50" charset="-128"/>
              </a:rPr>
              <a:t> </a:t>
            </a:r>
          </a:p>
          <a:p>
            <a:r>
              <a:rPr lang="ja-JP" altLang="en-US" sz="1600">
                <a:latin typeface="メイリオ" panose="020B0604030504040204" pitchFamily="50" charset="-128"/>
                <a:ea typeface="メイリオ" panose="020B0604030504040204" pitchFamily="50" charset="-128"/>
              </a:rPr>
              <a:t>　</a:t>
            </a:r>
            <a:r>
              <a:rPr lang="en-US" altLang="ja-JP" sz="1600">
                <a:latin typeface="メイリオ" panose="020B0604030504040204" pitchFamily="50" charset="-128"/>
                <a:ea typeface="メイリオ" panose="020B0604030504040204" pitchFamily="50" charset="-128"/>
              </a:rPr>
              <a:t>ChatGPT</a:t>
            </a:r>
            <a:r>
              <a:rPr lang="ja-JP" altLang="en-US" sz="1600">
                <a:latin typeface="メイリオ" panose="020B0604030504040204" pitchFamily="50" charset="-128"/>
                <a:ea typeface="メイリオ" panose="020B0604030504040204" pitchFamily="50" charset="-128"/>
              </a:rPr>
              <a:t>や</a:t>
            </a:r>
            <a:r>
              <a:rPr lang="en-US" altLang="ja-JP" sz="1600">
                <a:latin typeface="メイリオ" panose="020B0604030504040204" pitchFamily="50" charset="-128"/>
                <a:ea typeface="メイリオ" panose="020B0604030504040204" pitchFamily="50" charset="-128"/>
              </a:rPr>
              <a:t>Gemini</a:t>
            </a:r>
            <a:r>
              <a:rPr lang="ja-JP" altLang="en-US" sz="1600">
                <a:latin typeface="メイリオ" panose="020B0604030504040204" pitchFamily="50" charset="-128"/>
                <a:ea typeface="メイリオ" panose="020B0604030504040204" pitchFamily="50" charset="-128"/>
              </a:rPr>
              <a:t>などの生成</a:t>
            </a:r>
            <a:r>
              <a:rPr lang="en-US" altLang="ja-JP" sz="1600">
                <a:latin typeface="メイリオ" panose="020B0604030504040204" pitchFamily="50" charset="-128"/>
                <a:ea typeface="メイリオ" panose="020B0604030504040204" pitchFamily="50" charset="-128"/>
              </a:rPr>
              <a:t>AI</a:t>
            </a:r>
            <a:r>
              <a:rPr lang="ja-JP" altLang="en-US" sz="1600">
                <a:latin typeface="メイリオ" panose="020B0604030504040204" pitchFamily="50" charset="-128"/>
                <a:ea typeface="メイリオ" panose="020B0604030504040204" pitchFamily="50" charset="-128"/>
              </a:rPr>
              <a:t>へ送るプロンプトを登録・共有・実行できます。</a:t>
            </a:r>
            <a:endParaRPr lang="en-US" altLang="ja-JP" sz="1600">
              <a:latin typeface="メイリオ" panose="020B0604030504040204" pitchFamily="50" charset="-128"/>
              <a:ea typeface="メイリオ" panose="020B0604030504040204" pitchFamily="50" charset="-128"/>
            </a:endParaRPr>
          </a:p>
          <a:p>
            <a:endParaRPr lang="en-US" altLang="ja-JP" sz="24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151945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658F742-1284-0891-6391-984D7944D308}"/>
              </a:ext>
            </a:extLst>
          </p:cNvPr>
          <p:cNvSpPr txBox="1"/>
          <p:nvPr/>
        </p:nvSpPr>
        <p:spPr>
          <a:xfrm>
            <a:off x="359526" y="178422"/>
            <a:ext cx="6138948" cy="769441"/>
          </a:xfrm>
          <a:prstGeom prst="rect">
            <a:avLst/>
          </a:prstGeom>
          <a:noFill/>
        </p:spPr>
        <p:txBody>
          <a:bodyPr wrap="square">
            <a:spAutoFit/>
          </a:bodyPr>
          <a:lstStyle/>
          <a:p>
            <a:r>
              <a:rPr kumimoji="1" lang="ja-JP" altLang="en-US" sz="4400"/>
              <a:t>開発課題</a:t>
            </a:r>
            <a:endParaRPr lang="ja-JP" altLang="en-US" sz="4400"/>
          </a:p>
        </p:txBody>
      </p:sp>
      <p:sp>
        <p:nvSpPr>
          <p:cNvPr id="5" name="コンテンツ プレースホルダー 2">
            <a:extLst>
              <a:ext uri="{FF2B5EF4-FFF2-40B4-BE49-F238E27FC236}">
                <a16:creationId xmlns:a16="http://schemas.microsoft.com/office/drawing/2014/main" id="{95FA77B9-F7AF-7584-5719-0DE77D5BCFE2}"/>
              </a:ext>
            </a:extLst>
          </p:cNvPr>
          <p:cNvSpPr txBox="1">
            <a:spLocks/>
          </p:cNvSpPr>
          <p:nvPr/>
        </p:nvSpPr>
        <p:spPr>
          <a:xfrm>
            <a:off x="618565" y="1031814"/>
            <a:ext cx="11071412" cy="5431739"/>
          </a:xfrm>
        </p:spPr>
        <p:txBody>
          <a:bodyPr lIns="91440" tIns="45720" rIns="91440" bIns="45720" anchor="t">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ja-JP" altLang="en-US" sz="2400">
                <a:latin typeface="メイリオ"/>
                <a:ea typeface="メイリオ"/>
              </a:rPr>
              <a:t>天秤</a:t>
            </a:r>
            <a:r>
              <a:rPr lang="en-US" altLang="ja-JP" sz="2400">
                <a:latin typeface="メイリオ"/>
                <a:ea typeface="メイリオ"/>
              </a:rPr>
              <a:t>AI</a:t>
            </a:r>
            <a:r>
              <a:rPr lang="ja-JP" altLang="en-US" sz="2400">
                <a:latin typeface="メイリオ"/>
                <a:ea typeface="メイリオ"/>
              </a:rPr>
              <a:t>のミニマム版を開発してほしいです。</a:t>
            </a:r>
            <a:endParaRPr lang="en-US" altLang="ja-JP" sz="2400">
              <a:latin typeface="メイリオ"/>
              <a:ea typeface="メイリオ"/>
            </a:endParaRPr>
          </a:p>
          <a:p>
            <a:endParaRPr lang="en-US" altLang="ja-JP" sz="2400">
              <a:latin typeface="メイリオ" panose="020B0604030504040204" pitchFamily="50" charset="-128"/>
              <a:ea typeface="メイリオ" panose="020B0604030504040204" pitchFamily="50" charset="-128"/>
            </a:endParaRPr>
          </a:p>
          <a:p>
            <a:r>
              <a:rPr lang="ja-JP" altLang="en-US" sz="2800" b="1">
                <a:latin typeface="メイリオ" panose="020B0604030504040204" pitchFamily="50" charset="-128"/>
                <a:ea typeface="メイリオ" panose="020B0604030504040204" pitchFamily="50" charset="-128"/>
              </a:rPr>
              <a:t>基本機能開発</a:t>
            </a:r>
            <a:endParaRPr lang="en-US" altLang="ja-JP" sz="2400">
              <a:latin typeface="メイリオ" panose="020B0604030504040204" pitchFamily="50" charset="-128"/>
              <a:ea typeface="メイリオ" panose="020B0604030504040204" pitchFamily="50" charset="-128"/>
            </a:endParaRPr>
          </a:p>
          <a:p>
            <a:pPr lvl="1"/>
            <a:r>
              <a:rPr lang="ja-JP" altLang="en-US" sz="2400">
                <a:latin typeface="メイリオ"/>
                <a:ea typeface="メイリオ"/>
              </a:rPr>
              <a:t>・複数</a:t>
            </a:r>
            <a:r>
              <a:rPr lang="en-US" altLang="ja-JP" sz="2400">
                <a:latin typeface="メイリオ"/>
                <a:ea typeface="メイリオ"/>
              </a:rPr>
              <a:t>LLM</a:t>
            </a:r>
            <a:r>
              <a:rPr lang="ja-JP" altLang="en-US" sz="2400">
                <a:latin typeface="メイリオ"/>
                <a:ea typeface="メイリオ"/>
              </a:rPr>
              <a:t>プロンプト同時実行画面</a:t>
            </a:r>
            <a:endParaRPr lang="en-US" altLang="ja-JP" sz="2400">
              <a:latin typeface="メイリオ"/>
              <a:ea typeface="メイリオ"/>
            </a:endParaRPr>
          </a:p>
          <a:p>
            <a:pPr lvl="1"/>
            <a:r>
              <a:rPr lang="ja-JP" altLang="en-US" sz="2400">
                <a:latin typeface="メイリオ"/>
                <a:ea typeface="メイリオ"/>
              </a:rPr>
              <a:t>・インフラ構築</a:t>
            </a:r>
            <a:r>
              <a:rPr lang="ja-JP" altLang="en-US" sz="2800">
                <a:latin typeface="メイリオ"/>
                <a:ea typeface="メイリオ"/>
              </a:rPr>
              <a:t> </a:t>
            </a:r>
            <a:r>
              <a:rPr lang="ja-JP" altLang="en-US" sz="2400">
                <a:latin typeface="メイリオ"/>
                <a:ea typeface="メイリオ"/>
              </a:rPr>
              <a:t>（とりあえず動作させる。最低限のセキュリティ）</a:t>
            </a:r>
            <a:endParaRPr lang="en-US" altLang="ja-JP" sz="2400">
              <a:latin typeface="メイリオ"/>
              <a:ea typeface="メイリオ"/>
            </a:endParaRPr>
          </a:p>
          <a:p>
            <a:r>
              <a:rPr lang="en-US" altLang="ja-JP" sz="2400">
                <a:latin typeface="メイリオ"/>
                <a:ea typeface="メイリオ"/>
              </a:rPr>
              <a:t>	</a:t>
            </a:r>
            <a:br>
              <a:rPr lang="en-US" altLang="ja-JP" sz="2400">
                <a:latin typeface="メイリオ" panose="020B0604030504040204" pitchFamily="50" charset="-128"/>
                <a:ea typeface="メイリオ" panose="020B0604030504040204" pitchFamily="50" charset="-128"/>
              </a:rPr>
            </a:br>
            <a:endParaRPr lang="en-US" altLang="ja-JP">
              <a:latin typeface="メイリオ" panose="020B0604030504040204" pitchFamily="50" charset="-128"/>
              <a:ea typeface="メイリオ" panose="020B0604030504040204" pitchFamily="50" charset="-128"/>
            </a:endParaRPr>
          </a:p>
          <a:p>
            <a:r>
              <a:rPr lang="ja-JP" altLang="en-US" sz="2800" b="1">
                <a:latin typeface="メイリオ"/>
                <a:ea typeface="メイリオ"/>
              </a:rPr>
              <a:t>機能拡張（</a:t>
            </a:r>
            <a:r>
              <a:rPr lang="en-US" altLang="ja-JP" sz="2800" b="1">
                <a:latin typeface="メイリオ"/>
                <a:ea typeface="メイリオ"/>
              </a:rPr>
              <a:t>1</a:t>
            </a:r>
            <a:r>
              <a:rPr lang="ja-JP" altLang="en-US" sz="2800" b="1">
                <a:latin typeface="メイリオ"/>
                <a:ea typeface="メイリオ"/>
              </a:rPr>
              <a:t>人</a:t>
            </a:r>
            <a:r>
              <a:rPr lang="en-US" altLang="ja-JP" sz="2800" b="1">
                <a:latin typeface="メイリオ"/>
                <a:ea typeface="メイリオ"/>
              </a:rPr>
              <a:t>1</a:t>
            </a:r>
            <a:r>
              <a:rPr lang="ja-JP" altLang="en-US" sz="2800" b="1">
                <a:latin typeface="メイリオ"/>
                <a:ea typeface="メイリオ"/>
              </a:rPr>
              <a:t>つ）</a:t>
            </a:r>
            <a:endParaRPr lang="en-US" altLang="ja-JP" sz="2400">
              <a:latin typeface="メイリオ"/>
              <a:ea typeface="メイリオ"/>
            </a:endParaRPr>
          </a:p>
          <a:p>
            <a:r>
              <a:rPr lang="en-US" altLang="ja-JP" sz="2400">
                <a:latin typeface="メイリオ"/>
                <a:ea typeface="メイリオ"/>
              </a:rPr>
              <a:t>	</a:t>
            </a:r>
            <a:r>
              <a:rPr lang="ja-JP" altLang="en-US" sz="2400">
                <a:latin typeface="メイリオ"/>
                <a:ea typeface="メイリオ"/>
              </a:rPr>
              <a:t>・新機能追加</a:t>
            </a:r>
            <a:endParaRPr lang="en-US" altLang="ja-JP" sz="2400">
              <a:latin typeface="メイリオ"/>
              <a:ea typeface="メイリオ"/>
            </a:endParaRPr>
          </a:p>
          <a:p>
            <a:r>
              <a:rPr lang="ja-JP" altLang="en-US" sz="2400">
                <a:latin typeface="メイリオ" panose="020B0604030504040204" pitchFamily="50" charset="-128"/>
                <a:ea typeface="メイリオ" panose="020B0604030504040204" pitchFamily="50" charset="-128"/>
              </a:rPr>
              <a:t>　　　アプリケーションの機能アイディアを考案して開発する</a:t>
            </a:r>
            <a:endParaRPr lang="en-US" altLang="ja-JP" sz="2400">
              <a:latin typeface="メイリオ" panose="020B0604030504040204" pitchFamily="50" charset="-128"/>
              <a:ea typeface="メイリオ" panose="020B0604030504040204" pitchFamily="50" charset="-128"/>
            </a:endParaRPr>
          </a:p>
          <a:p>
            <a:r>
              <a:rPr lang="en-US" altLang="ja-JP" sz="2400">
                <a:latin typeface="メイリオ"/>
                <a:ea typeface="メイリオ"/>
              </a:rPr>
              <a:t>	</a:t>
            </a:r>
            <a:r>
              <a:rPr lang="ja-JP" altLang="en-US" sz="2400">
                <a:latin typeface="メイリオ"/>
                <a:ea typeface="メイリオ"/>
              </a:rPr>
              <a:t>・インフラ改善</a:t>
            </a:r>
            <a:endParaRPr lang="en-US" altLang="ja-JP" sz="2400">
              <a:latin typeface="メイリオ"/>
              <a:ea typeface="メイリオ"/>
            </a:endParaRPr>
          </a:p>
          <a:p>
            <a:r>
              <a:rPr lang="ja-JP" altLang="en-US" sz="2400">
                <a:latin typeface="メイリオ" panose="020B0604030504040204" pitchFamily="50" charset="-128"/>
                <a:ea typeface="メイリオ" panose="020B0604030504040204" pitchFamily="50" charset="-128"/>
              </a:rPr>
              <a:t>　　　保守性、安定性、セキュリティ、パフォーマンス</a:t>
            </a:r>
            <a:endParaRPr lang="en-US" altLang="ja-JP" sz="2400">
              <a:latin typeface="メイリオ" panose="020B0604030504040204" pitchFamily="50" charset="-128"/>
              <a:ea typeface="メイリオ" panose="020B0604030504040204" pitchFamily="50" charset="-128"/>
            </a:endParaRPr>
          </a:p>
          <a:p>
            <a:r>
              <a:rPr lang="en-US" altLang="ja-JP" sz="2400">
                <a:latin typeface="メイリオ"/>
                <a:ea typeface="メイリオ"/>
              </a:rPr>
              <a:t>	※</a:t>
            </a:r>
            <a:r>
              <a:rPr lang="ja-JP" altLang="en-US" sz="2400">
                <a:latin typeface="メイリオ"/>
                <a:ea typeface="メイリオ"/>
              </a:rPr>
              <a:t>適切な案が出ない場合、運営側から提案します</a:t>
            </a:r>
            <a:endParaRPr lang="en-US" altLang="ja-JP" sz="2400">
              <a:latin typeface="メイリオ"/>
              <a:ea typeface="メイリオ"/>
            </a:endParaRPr>
          </a:p>
        </p:txBody>
      </p:sp>
    </p:spTree>
    <p:extLst>
      <p:ext uri="{BB962C8B-B14F-4D97-AF65-F5344CB8AC3E}">
        <p14:creationId xmlns:p14="http://schemas.microsoft.com/office/powerpoint/2010/main" val="3432605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90A085F8-D2CB-3D04-C20C-AA7D6B35DCE1}"/>
              </a:ext>
            </a:extLst>
          </p:cNvPr>
          <p:cNvSpPr txBox="1"/>
          <p:nvPr/>
        </p:nvSpPr>
        <p:spPr>
          <a:xfrm>
            <a:off x="359525" y="178422"/>
            <a:ext cx="11561542" cy="769441"/>
          </a:xfrm>
          <a:prstGeom prst="rect">
            <a:avLst/>
          </a:prstGeom>
          <a:noFill/>
        </p:spPr>
        <p:txBody>
          <a:bodyPr wrap="square" lIns="91440" tIns="45720" rIns="91440" bIns="45720" anchor="t">
            <a:spAutoFit/>
          </a:bodyPr>
          <a:lstStyle/>
          <a:p>
            <a:r>
              <a:rPr kumimoji="1" lang="ja-JP" altLang="en-US" sz="4400">
                <a:ea typeface="游ゴシック"/>
              </a:rPr>
              <a:t>開発課題　実行画面</a:t>
            </a:r>
            <a:endParaRPr lang="ja-JP" altLang="en-US" sz="4000">
              <a:ea typeface="游ゴシック"/>
              <a:cs typeface="Calibri" panose="020F0502020204030204"/>
            </a:endParaRPr>
          </a:p>
        </p:txBody>
      </p:sp>
      <p:sp>
        <p:nvSpPr>
          <p:cNvPr id="6" name="テキスト ボックス 5">
            <a:extLst>
              <a:ext uri="{FF2B5EF4-FFF2-40B4-BE49-F238E27FC236}">
                <a16:creationId xmlns:a16="http://schemas.microsoft.com/office/drawing/2014/main" id="{F00611FA-AD55-C39C-BB93-54003016DC6B}"/>
              </a:ext>
            </a:extLst>
          </p:cNvPr>
          <p:cNvSpPr txBox="1"/>
          <p:nvPr/>
        </p:nvSpPr>
        <p:spPr>
          <a:xfrm>
            <a:off x="8534401" y="2298036"/>
            <a:ext cx="3521137" cy="3693319"/>
          </a:xfrm>
          <a:prstGeom prst="rect">
            <a:avLst/>
          </a:prstGeom>
          <a:noFill/>
        </p:spPr>
        <p:txBody>
          <a:bodyPr wrap="square">
            <a:spAutoFit/>
          </a:bodyPr>
          <a:lstStyle/>
          <a:p>
            <a:r>
              <a:rPr lang="ja-JP" altLang="en-US"/>
              <a:t>要件</a:t>
            </a:r>
            <a:endParaRPr lang="en-US" altLang="ja-JP"/>
          </a:p>
          <a:p>
            <a:r>
              <a:rPr lang="ja-JP" altLang="en-US"/>
              <a:t>・</a:t>
            </a:r>
            <a:r>
              <a:rPr lang="en-US" altLang="ja-JP"/>
              <a:t>2</a:t>
            </a:r>
            <a:r>
              <a:rPr lang="ja-JP" altLang="en-US"/>
              <a:t>つの</a:t>
            </a:r>
            <a:r>
              <a:rPr lang="en-US" altLang="ja-JP"/>
              <a:t>LLM</a:t>
            </a:r>
            <a:r>
              <a:rPr lang="ja-JP" altLang="en-US"/>
              <a:t>同時実行</a:t>
            </a:r>
            <a:endParaRPr lang="en-US" altLang="ja-JP"/>
          </a:p>
          <a:p>
            <a:r>
              <a:rPr lang="ja-JP" altLang="en-US"/>
              <a:t>・履歴</a:t>
            </a:r>
            <a:endParaRPr lang="en-US" altLang="ja-JP"/>
          </a:p>
          <a:p>
            <a:r>
              <a:rPr lang="ja-JP" altLang="en-US"/>
              <a:t>・トークン量集計</a:t>
            </a:r>
            <a:endParaRPr lang="en-US" altLang="ja-JP"/>
          </a:p>
          <a:p>
            <a:r>
              <a:rPr lang="ja-JP" altLang="en-US"/>
              <a:t>（チャット単位で金額感を</a:t>
            </a:r>
            <a:br>
              <a:rPr lang="en-US" altLang="ja-JP"/>
            </a:br>
            <a:r>
              <a:rPr lang="ja-JP" altLang="en-US"/>
              <a:t>　画面に表示）</a:t>
            </a:r>
          </a:p>
          <a:p>
            <a:endParaRPr lang="en-US" altLang="ja-JP"/>
          </a:p>
          <a:p>
            <a:endParaRPr lang="en-US" altLang="ja-JP"/>
          </a:p>
          <a:p>
            <a:r>
              <a:rPr lang="en-US" altLang="ja-JP"/>
              <a:t>※</a:t>
            </a:r>
            <a:r>
              <a:rPr lang="ja-JP" altLang="en-US"/>
              <a:t>基本的にやらないこと</a:t>
            </a:r>
            <a:endParaRPr lang="en-US" altLang="ja-JP"/>
          </a:p>
          <a:p>
            <a:r>
              <a:rPr lang="ja-JP" altLang="en-US"/>
              <a:t>・ログイン</a:t>
            </a:r>
            <a:endParaRPr lang="en-US" altLang="ja-JP"/>
          </a:p>
          <a:p>
            <a:r>
              <a:rPr lang="ja-JP" altLang="en-US"/>
              <a:t>・</a:t>
            </a:r>
            <a:r>
              <a:rPr lang="en-US" altLang="ja-JP"/>
              <a:t>3</a:t>
            </a:r>
            <a:r>
              <a:rPr lang="ja-JP" altLang="en-US"/>
              <a:t>つ以上の</a:t>
            </a:r>
            <a:r>
              <a:rPr lang="en-US" altLang="ja-JP"/>
              <a:t>LLM</a:t>
            </a:r>
          </a:p>
          <a:p>
            <a:r>
              <a:rPr lang="ja-JP" altLang="en-US"/>
              <a:t>・「基本」、「高度」の分類</a:t>
            </a:r>
            <a:endParaRPr lang="en-US" altLang="ja-JP"/>
          </a:p>
          <a:p>
            <a:r>
              <a:rPr lang="ja-JP" altLang="en-US"/>
              <a:t>・壁打ち、やり直す、リセット</a:t>
            </a:r>
          </a:p>
        </p:txBody>
      </p:sp>
      <p:pic>
        <p:nvPicPr>
          <p:cNvPr id="8" name="図 7">
            <a:extLst>
              <a:ext uri="{FF2B5EF4-FFF2-40B4-BE49-F238E27FC236}">
                <a16:creationId xmlns:a16="http://schemas.microsoft.com/office/drawing/2014/main" id="{3F13A5CF-8966-B743-3B96-F96960F01739}"/>
              </a:ext>
            </a:extLst>
          </p:cNvPr>
          <p:cNvPicPr>
            <a:picLocks noChangeAspect="1"/>
          </p:cNvPicPr>
          <p:nvPr/>
        </p:nvPicPr>
        <p:blipFill>
          <a:blip r:embed="rId2"/>
          <a:stretch>
            <a:fillRect/>
          </a:stretch>
        </p:blipFill>
        <p:spPr>
          <a:xfrm>
            <a:off x="666975" y="1343186"/>
            <a:ext cx="7871844" cy="4918913"/>
          </a:xfrm>
          <a:prstGeom prst="rect">
            <a:avLst/>
          </a:prstGeom>
          <a:ln>
            <a:solidFill>
              <a:schemeClr val="accent1">
                <a:lumMod val="75000"/>
              </a:schemeClr>
            </a:solidFill>
          </a:ln>
        </p:spPr>
      </p:pic>
    </p:spTree>
    <p:extLst>
      <p:ext uri="{BB962C8B-B14F-4D97-AF65-F5344CB8AC3E}">
        <p14:creationId xmlns:p14="http://schemas.microsoft.com/office/powerpoint/2010/main" val="1261790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2">
            <a:extLst>
              <a:ext uri="{FF2B5EF4-FFF2-40B4-BE49-F238E27FC236}">
                <a16:creationId xmlns:a16="http://schemas.microsoft.com/office/drawing/2014/main" id="{446E717C-9040-4C52-AB2D-82086DD1CD11}"/>
              </a:ext>
            </a:extLst>
          </p:cNvPr>
          <p:cNvSpPr txBox="1">
            <a:spLocks/>
          </p:cNvSpPr>
          <p:nvPr/>
        </p:nvSpPr>
        <p:spPr>
          <a:xfrm>
            <a:off x="654424" y="1130426"/>
            <a:ext cx="11116235" cy="5002746"/>
          </a:xfrm>
        </p:spPr>
        <p:txBody>
          <a:bodyPr lIns="91440" tIns="45720" rIns="91440" bIns="45720" anchor="t">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ja-JP" altLang="en-US" sz="2400">
                <a:latin typeface="メイリオ" panose="020B0604030504040204" pitchFamily="50" charset="-128"/>
                <a:ea typeface="メイリオ" panose="020B0604030504040204" pitchFamily="50" charset="-128"/>
              </a:rPr>
              <a:t>進め方</a:t>
            </a:r>
            <a:endParaRPr lang="en-US" altLang="ja-JP" sz="2400">
              <a:latin typeface="メイリオ" panose="020B0604030504040204" pitchFamily="50" charset="-128"/>
              <a:ea typeface="メイリオ" panose="020B0604030504040204" pitchFamily="50" charset="-128"/>
            </a:endParaRPr>
          </a:p>
          <a:p>
            <a:r>
              <a:rPr lang="ja-JP" altLang="en-US" sz="2400">
                <a:latin typeface="メイリオ" panose="020B0604030504040204" pitchFamily="50" charset="-128"/>
                <a:ea typeface="メイリオ" panose="020B0604030504040204" pitchFamily="50" charset="-128"/>
              </a:rPr>
              <a:t>　カンバン形式</a:t>
            </a:r>
            <a:endParaRPr lang="en-US" altLang="ja-JP" sz="2400">
              <a:latin typeface="メイリオ" panose="020B0604030504040204" pitchFamily="50" charset="-128"/>
              <a:ea typeface="メイリオ" panose="020B0604030504040204" pitchFamily="50" charset="-128"/>
            </a:endParaRPr>
          </a:p>
          <a:p>
            <a:r>
              <a:rPr lang="ja-JP" altLang="en-US" sz="2400">
                <a:latin typeface="メイリオ" panose="020B0604030504040204" pitchFamily="50" charset="-128"/>
                <a:ea typeface="メイリオ" panose="020B0604030504040204" pitchFamily="50" charset="-128"/>
              </a:rPr>
              <a:t>　毎日朝会</a:t>
            </a:r>
            <a:r>
              <a:rPr lang="en-US" altLang="ja-JP" sz="2400">
                <a:latin typeface="メイリオ" panose="020B0604030504040204" pitchFamily="50" charset="-128"/>
                <a:ea typeface="メイリオ" panose="020B0604030504040204" pitchFamily="50" charset="-128"/>
              </a:rPr>
              <a:t>10</a:t>
            </a:r>
            <a:r>
              <a:rPr lang="ja-JP" altLang="en-US" sz="2400">
                <a:latin typeface="メイリオ" panose="020B0604030504040204" pitchFamily="50" charset="-128"/>
                <a:ea typeface="メイリオ" panose="020B0604030504040204" pitchFamily="50" charset="-128"/>
              </a:rPr>
              <a:t>時と夕会</a:t>
            </a:r>
            <a:r>
              <a:rPr lang="en-US" altLang="ja-JP" sz="2400">
                <a:latin typeface="メイリオ" panose="020B0604030504040204" pitchFamily="50" charset="-128"/>
                <a:ea typeface="メイリオ" panose="020B0604030504040204" pitchFamily="50" charset="-128"/>
              </a:rPr>
              <a:t>16</a:t>
            </a:r>
            <a:r>
              <a:rPr lang="ja-JP" altLang="en-US" sz="2400">
                <a:latin typeface="メイリオ" panose="020B0604030504040204" pitchFamily="50" charset="-128"/>
                <a:ea typeface="メイリオ" panose="020B0604030504040204" pitchFamily="50" charset="-128"/>
              </a:rPr>
              <a:t>時以降で進捗確認</a:t>
            </a:r>
            <a:endParaRPr lang="en-US" altLang="ja-JP" sz="2400">
              <a:latin typeface="メイリオ" panose="020B0604030504040204" pitchFamily="50" charset="-128"/>
              <a:ea typeface="メイリオ" panose="020B0604030504040204" pitchFamily="50" charset="-128"/>
            </a:endParaRPr>
          </a:p>
          <a:p>
            <a:r>
              <a:rPr lang="ja-JP" altLang="en-US" sz="2400">
                <a:latin typeface="メイリオ" panose="020B0604030504040204" pitchFamily="50" charset="-128"/>
                <a:ea typeface="メイリオ" panose="020B0604030504040204" pitchFamily="50" charset="-128"/>
              </a:rPr>
              <a:t>　1週目金曜日に「振り返り」</a:t>
            </a:r>
            <a:r>
              <a:rPr lang="en-US" altLang="ja-JP" sz="2400">
                <a:latin typeface="メイリオ" panose="020B0604030504040204" pitchFamily="50" charset="-128"/>
                <a:ea typeface="メイリオ" panose="020B0604030504040204" pitchFamily="50" charset="-128"/>
              </a:rPr>
              <a:t>MTG</a:t>
            </a:r>
            <a:r>
              <a:rPr lang="ja-JP" altLang="en-US" sz="2400">
                <a:latin typeface="メイリオ" panose="020B0604030504040204" pitchFamily="50" charset="-128"/>
                <a:ea typeface="メイリオ" panose="020B0604030504040204" pitchFamily="50" charset="-128"/>
              </a:rPr>
              <a:t>を実施</a:t>
            </a:r>
            <a:endParaRPr lang="en-US" altLang="ja-JP" sz="2400">
              <a:latin typeface="メイリオ" panose="020B0604030504040204" pitchFamily="50" charset="-128"/>
              <a:ea typeface="メイリオ" panose="020B0604030504040204" pitchFamily="50" charset="-128"/>
            </a:endParaRPr>
          </a:p>
          <a:p>
            <a:r>
              <a:rPr lang="ja-JP" altLang="en-US" sz="2400">
                <a:latin typeface="メイリオ" panose="020B0604030504040204" pitchFamily="50" charset="-128"/>
                <a:ea typeface="メイリオ" panose="020B0604030504040204" pitchFamily="50" charset="-128"/>
              </a:rPr>
              <a:t>プロジェクト管理</a:t>
            </a:r>
            <a:endParaRPr lang="en-US" altLang="ja-JP" sz="2400">
              <a:latin typeface="メイリオ" panose="020B0604030504040204" pitchFamily="50" charset="-128"/>
              <a:ea typeface="メイリオ" panose="020B0604030504040204" pitchFamily="50" charset="-128"/>
            </a:endParaRPr>
          </a:p>
          <a:p>
            <a:r>
              <a:rPr lang="ja-JP" altLang="en-US" sz="2400">
                <a:latin typeface="メイリオ" panose="020B0604030504040204" pitchFamily="50" charset="-128"/>
                <a:ea typeface="メイリオ" panose="020B0604030504040204" pitchFamily="50" charset="-128"/>
              </a:rPr>
              <a:t>　</a:t>
            </a:r>
            <a:r>
              <a:rPr lang="en-US" altLang="ja-JP" sz="2400">
                <a:latin typeface="メイリオ" panose="020B0604030504040204" pitchFamily="50" charset="-128"/>
                <a:ea typeface="メイリオ" panose="020B0604030504040204" pitchFamily="50" charset="-128"/>
              </a:rPr>
              <a:t>GitHub</a:t>
            </a:r>
            <a:r>
              <a:rPr lang="ja-JP" altLang="en-US" sz="2400">
                <a:latin typeface="メイリオ" panose="020B0604030504040204" pitchFamily="50" charset="-128"/>
                <a:ea typeface="メイリオ" panose="020B0604030504040204" pitchFamily="50" charset="-128"/>
              </a:rPr>
              <a:t> </a:t>
            </a:r>
            <a:r>
              <a:rPr lang="en-US" altLang="ja-JP" sz="2400">
                <a:latin typeface="メイリオ" panose="020B0604030504040204" pitchFamily="50" charset="-128"/>
                <a:ea typeface="メイリオ" panose="020B0604030504040204" pitchFamily="50" charset="-128"/>
              </a:rPr>
              <a:t>Projects</a:t>
            </a:r>
            <a:r>
              <a:rPr lang="ja-JP" altLang="en-US" sz="2400">
                <a:latin typeface="メイリオ" panose="020B0604030504040204" pitchFamily="50" charset="-128"/>
                <a:ea typeface="メイリオ" panose="020B0604030504040204" pitchFamily="50" charset="-128"/>
              </a:rPr>
              <a:t> </a:t>
            </a:r>
            <a:endParaRPr lang="en-US" altLang="ja-JP" sz="2400">
              <a:latin typeface="メイリオ" panose="020B0604030504040204" pitchFamily="50" charset="-128"/>
              <a:ea typeface="メイリオ" panose="020B0604030504040204" pitchFamily="50" charset="-128"/>
            </a:endParaRPr>
          </a:p>
          <a:p>
            <a:r>
              <a:rPr lang="ja-JP" altLang="en-US" sz="2400">
                <a:latin typeface="メイリオ" panose="020B0604030504040204" pitchFamily="50" charset="-128"/>
                <a:ea typeface="メイリオ" panose="020B0604030504040204" pitchFamily="50" charset="-128"/>
              </a:rPr>
              <a:t>コード管理</a:t>
            </a:r>
            <a:endParaRPr lang="en-US" altLang="ja-JP" sz="2400">
              <a:latin typeface="メイリオ" panose="020B0604030504040204" pitchFamily="50" charset="-128"/>
              <a:ea typeface="メイリオ" panose="020B0604030504040204" pitchFamily="50" charset="-128"/>
            </a:endParaRPr>
          </a:p>
          <a:p>
            <a:r>
              <a:rPr lang="ja-JP" altLang="en-US" sz="2400">
                <a:latin typeface="メイリオ" panose="020B0604030504040204" pitchFamily="50" charset="-128"/>
                <a:ea typeface="メイリオ" panose="020B0604030504040204" pitchFamily="50" charset="-128"/>
              </a:rPr>
              <a:t>　</a:t>
            </a:r>
            <a:r>
              <a:rPr lang="en-US" altLang="ja-JP" sz="2400">
                <a:latin typeface="メイリオ" panose="020B0604030504040204" pitchFamily="50" charset="-128"/>
                <a:ea typeface="メイリオ" panose="020B0604030504040204" pitchFamily="50" charset="-128"/>
              </a:rPr>
              <a:t>GitHub</a:t>
            </a:r>
            <a:r>
              <a:rPr lang="ja-JP" altLang="en-US" sz="2400">
                <a:latin typeface="メイリオ" panose="020B0604030504040204" pitchFamily="50" charset="-128"/>
                <a:ea typeface="メイリオ" panose="020B0604030504040204" pitchFamily="50" charset="-128"/>
              </a:rPr>
              <a:t> </a:t>
            </a:r>
            <a:endParaRPr lang="en-US" altLang="ja-JP" sz="2400">
              <a:latin typeface="メイリオ" panose="020B0604030504040204" pitchFamily="50" charset="-128"/>
              <a:ea typeface="メイリオ" panose="020B0604030504040204" pitchFamily="50" charset="-128"/>
            </a:endParaRPr>
          </a:p>
          <a:p>
            <a:r>
              <a:rPr lang="ja-JP" altLang="en-US" sz="2400">
                <a:latin typeface="メイリオ" panose="020B0604030504040204" pitchFamily="50" charset="-128"/>
                <a:ea typeface="メイリオ" panose="020B0604030504040204" pitchFamily="50" charset="-128"/>
              </a:rPr>
              <a:t>インフラ環境</a:t>
            </a:r>
            <a:endParaRPr lang="en-US" altLang="ja-JP" sz="2400">
              <a:latin typeface="メイリオ" panose="020B0604030504040204" pitchFamily="50" charset="-128"/>
              <a:ea typeface="メイリオ" panose="020B0604030504040204" pitchFamily="50" charset="-128"/>
            </a:endParaRPr>
          </a:p>
          <a:p>
            <a:r>
              <a:rPr lang="ja-JP" altLang="en-US" sz="2400">
                <a:latin typeface="メイリオ" panose="020B0604030504040204" pitchFamily="50" charset="-128"/>
                <a:ea typeface="メイリオ" panose="020B0604030504040204" pitchFamily="50" charset="-128"/>
              </a:rPr>
              <a:t>　</a:t>
            </a:r>
            <a:r>
              <a:rPr lang="en-US" altLang="ja-JP" sz="2400">
                <a:latin typeface="メイリオ" panose="020B0604030504040204" pitchFamily="50" charset="-128"/>
                <a:ea typeface="メイリオ" panose="020B0604030504040204" pitchFamily="50" charset="-128"/>
              </a:rPr>
              <a:t>AWS</a:t>
            </a:r>
          </a:p>
        </p:txBody>
      </p:sp>
      <p:sp>
        <p:nvSpPr>
          <p:cNvPr id="4" name="テキスト ボックス 3">
            <a:extLst>
              <a:ext uri="{FF2B5EF4-FFF2-40B4-BE49-F238E27FC236}">
                <a16:creationId xmlns:a16="http://schemas.microsoft.com/office/drawing/2014/main" id="{5897A313-BA51-48FF-B35F-3A980FCF9057}"/>
              </a:ext>
            </a:extLst>
          </p:cNvPr>
          <p:cNvSpPr txBox="1"/>
          <p:nvPr/>
        </p:nvSpPr>
        <p:spPr>
          <a:xfrm>
            <a:off x="359526" y="178422"/>
            <a:ext cx="6138948" cy="769441"/>
          </a:xfrm>
          <a:prstGeom prst="rect">
            <a:avLst/>
          </a:prstGeom>
          <a:noFill/>
        </p:spPr>
        <p:txBody>
          <a:bodyPr wrap="square">
            <a:spAutoFit/>
          </a:bodyPr>
          <a:lstStyle/>
          <a:p>
            <a:r>
              <a:rPr kumimoji="1" lang="ja-JP" altLang="en-US" sz="4400"/>
              <a:t>開発の進め方</a:t>
            </a:r>
            <a:endParaRPr lang="ja-JP" altLang="en-US" sz="4400"/>
          </a:p>
        </p:txBody>
      </p:sp>
    </p:spTree>
    <p:extLst>
      <p:ext uri="{BB962C8B-B14F-4D97-AF65-F5344CB8AC3E}">
        <p14:creationId xmlns:p14="http://schemas.microsoft.com/office/powerpoint/2010/main" val="2326251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6487B6-10C4-814F-A75F-68B40C439E9D}"/>
              </a:ext>
            </a:extLst>
          </p:cNvPr>
          <p:cNvSpPr>
            <a:spLocks noGrp="1"/>
          </p:cNvSpPr>
          <p:nvPr>
            <p:ph type="title"/>
          </p:nvPr>
        </p:nvSpPr>
        <p:spPr>
          <a:xfrm>
            <a:off x="417356" y="89647"/>
            <a:ext cx="10197494" cy="1099457"/>
          </a:xfrm>
        </p:spPr>
        <p:txBody>
          <a:bodyPr>
            <a:normAutofit fontScale="90000"/>
          </a:bodyPr>
          <a:lstStyle/>
          <a:p>
            <a:r>
              <a:rPr lang="ja-JP">
                <a:latin typeface="Meiryo"/>
                <a:ea typeface="Meiryo"/>
              </a:rPr>
              <a:t>最終ゴール</a:t>
            </a:r>
            <a:r>
              <a:rPr lang="ja-JP" altLang="en-US">
                <a:latin typeface="メイリオ"/>
                <a:ea typeface="メイリオ"/>
              </a:rPr>
              <a:t>（</a:t>
            </a:r>
            <a:r>
              <a:rPr lang="ja-JP" altLang="en-US">
                <a:latin typeface="Meiryo"/>
                <a:ea typeface="Meiryo"/>
              </a:rPr>
              <a:t>本質的に求められる項目</a:t>
            </a:r>
            <a:r>
              <a:rPr lang="ja-JP" altLang="en-US">
                <a:latin typeface="メイリオ"/>
                <a:ea typeface="メイリオ"/>
              </a:rPr>
              <a:t>）</a:t>
            </a:r>
            <a:endParaRPr lang="en-US" altLang="ja-JP"/>
          </a:p>
        </p:txBody>
      </p:sp>
      <p:graphicFrame>
        <p:nvGraphicFramePr>
          <p:cNvPr id="5" name="コンテンツ プレースホルダー 2">
            <a:extLst>
              <a:ext uri="{FF2B5EF4-FFF2-40B4-BE49-F238E27FC236}">
                <a16:creationId xmlns:a16="http://schemas.microsoft.com/office/drawing/2014/main" id="{8B1AB91C-339A-441A-8DB5-B411FA9A28FA}"/>
              </a:ext>
            </a:extLst>
          </p:cNvPr>
          <p:cNvGraphicFramePr>
            <a:graphicFrameLocks noGrp="1"/>
          </p:cNvGraphicFramePr>
          <p:nvPr>
            <p:ph idx="1"/>
            <p:extLst>
              <p:ext uri="{D42A27DB-BD31-4B8C-83A1-F6EECF244321}">
                <p14:modId xmlns:p14="http://schemas.microsoft.com/office/powerpoint/2010/main" val="3153020347"/>
              </p:ext>
            </p:extLst>
          </p:nvPr>
        </p:nvGraphicFramePr>
        <p:xfrm>
          <a:off x="776130" y="822938"/>
          <a:ext cx="10631978" cy="52536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3" name="グループ化 2">
            <a:extLst>
              <a:ext uri="{FF2B5EF4-FFF2-40B4-BE49-F238E27FC236}">
                <a16:creationId xmlns:a16="http://schemas.microsoft.com/office/drawing/2014/main" id="{684F104F-02A5-CAA0-33BC-7D82A7E2A039}"/>
              </a:ext>
            </a:extLst>
          </p:cNvPr>
          <p:cNvGrpSpPr/>
          <p:nvPr/>
        </p:nvGrpSpPr>
        <p:grpSpPr>
          <a:xfrm>
            <a:off x="7855157" y="3476625"/>
            <a:ext cx="3322493" cy="1993495"/>
            <a:chOff x="5236083" y="2693018"/>
            <a:chExt cx="3322493" cy="1993495"/>
          </a:xfrm>
          <a:solidFill>
            <a:schemeClr val="accent2">
              <a:lumMod val="60000"/>
              <a:lumOff val="40000"/>
            </a:schemeClr>
          </a:solidFill>
        </p:grpSpPr>
        <p:sp>
          <p:nvSpPr>
            <p:cNvPr id="4" name="正方形/長方形 3">
              <a:extLst>
                <a:ext uri="{FF2B5EF4-FFF2-40B4-BE49-F238E27FC236}">
                  <a16:creationId xmlns:a16="http://schemas.microsoft.com/office/drawing/2014/main" id="{043CB7FD-8017-519B-C092-FCED0ECDE83E}"/>
                </a:ext>
              </a:extLst>
            </p:cNvPr>
            <p:cNvSpPr/>
            <p:nvPr/>
          </p:nvSpPr>
          <p:spPr>
            <a:xfrm>
              <a:off x="5236083" y="2693018"/>
              <a:ext cx="3322493" cy="1993495"/>
            </a:xfrm>
            <a:prstGeom prst="rect">
              <a:avLst/>
            </a:prstGeom>
            <a:grpFill/>
          </p:spPr>
          <p:style>
            <a:lnRef idx="2">
              <a:schemeClr val="lt1">
                <a:hueOff val="0"/>
                <a:satOff val="0"/>
                <a:lumOff val="0"/>
                <a:alphaOff val="0"/>
              </a:schemeClr>
            </a:lnRef>
            <a:fillRef idx="1">
              <a:schemeClr val="accent5">
                <a:hueOff val="-1689636"/>
                <a:satOff val="-4355"/>
                <a:lumOff val="-2941"/>
                <a:alphaOff val="0"/>
              </a:schemeClr>
            </a:fillRef>
            <a:effectRef idx="0">
              <a:schemeClr val="accent5">
                <a:hueOff val="-1689636"/>
                <a:satOff val="-4355"/>
                <a:lumOff val="-2941"/>
                <a:alphaOff val="0"/>
              </a:schemeClr>
            </a:effectRef>
            <a:fontRef idx="minor">
              <a:schemeClr val="lt1"/>
            </a:fontRef>
          </p:style>
          <p:txBody>
            <a:bodyPr/>
            <a:lstStyle/>
            <a:p>
              <a:endParaRPr lang="ja-JP" altLang="en-US"/>
            </a:p>
          </p:txBody>
        </p:sp>
        <p:sp>
          <p:nvSpPr>
            <p:cNvPr id="7" name="テキスト ボックス 6">
              <a:extLst>
                <a:ext uri="{FF2B5EF4-FFF2-40B4-BE49-F238E27FC236}">
                  <a16:creationId xmlns:a16="http://schemas.microsoft.com/office/drawing/2014/main" id="{9938E4A4-98A2-1382-C62B-E7A00325F76B}"/>
                </a:ext>
              </a:extLst>
            </p:cNvPr>
            <p:cNvSpPr txBox="1"/>
            <p:nvPr/>
          </p:nvSpPr>
          <p:spPr>
            <a:xfrm>
              <a:off x="5236083" y="2693018"/>
              <a:ext cx="3322493" cy="199349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180975" lvl="0" defTabSz="1244600">
                <a:lnSpc>
                  <a:spcPct val="100000"/>
                </a:lnSpc>
                <a:spcBef>
                  <a:spcPct val="0"/>
                </a:spcBef>
                <a:spcAft>
                  <a:spcPct val="35000"/>
                </a:spcAft>
                <a:buNone/>
                <a:defRPr cap="all"/>
              </a:pPr>
              <a:r>
                <a:rPr kumimoji="1" lang="ja-JP" altLang="en-US" sz="2800" kern="1200"/>
                <a:t>コスト</a:t>
              </a:r>
              <a:br>
                <a:rPr kumimoji="1" lang="en-US" altLang="ja-JP" sz="2800" kern="1200"/>
              </a:br>
              <a:r>
                <a:rPr kumimoji="1" lang="ja-JP" altLang="en-US" sz="1400" b="1" kern="1200"/>
                <a:t>・必要最低限のリソースのみを使う</a:t>
              </a:r>
              <a:endParaRPr kumimoji="1" lang="en-US" altLang="ja-JP" sz="1400" b="1" kern="1200"/>
            </a:p>
            <a:p>
              <a:pPr marL="180975" lvl="0" defTabSz="1244600">
                <a:lnSpc>
                  <a:spcPct val="100000"/>
                </a:lnSpc>
                <a:spcBef>
                  <a:spcPct val="0"/>
                </a:spcBef>
                <a:spcAft>
                  <a:spcPct val="35000"/>
                </a:spcAft>
                <a:buNone/>
                <a:defRPr cap="all"/>
              </a:pPr>
              <a:r>
                <a:rPr kumimoji="1" lang="ja-JP" altLang="en-US" sz="1400" b="1" kern="1200"/>
                <a:t>・</a:t>
              </a:r>
              <a:r>
                <a:rPr kumimoji="1" lang="ja-JP" altLang="en-US" sz="1400" b="1"/>
                <a:t>使っていない時間は停止する</a:t>
              </a:r>
              <a:endParaRPr kumimoji="1" lang="en-US" altLang="ja-JP" sz="1400" b="1" kern="1200"/>
            </a:p>
          </p:txBody>
        </p:sp>
      </p:grpSp>
      <p:sp>
        <p:nvSpPr>
          <p:cNvPr id="13" name="TextBox 12">
            <a:extLst>
              <a:ext uri="{FF2B5EF4-FFF2-40B4-BE49-F238E27FC236}">
                <a16:creationId xmlns:a16="http://schemas.microsoft.com/office/drawing/2014/main" id="{4F7FBCC5-98B6-84D5-293E-0FFF6917019B}"/>
              </a:ext>
            </a:extLst>
          </p:cNvPr>
          <p:cNvSpPr txBox="1"/>
          <p:nvPr/>
        </p:nvSpPr>
        <p:spPr>
          <a:xfrm>
            <a:off x="780143" y="5615215"/>
            <a:ext cx="11139713" cy="12366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AWS Well-Architected </a:t>
            </a:r>
            <a:endParaRPr lang="en-US"/>
          </a:p>
          <a:p>
            <a:r>
              <a:rPr lang="en-US">
                <a:hlinkClick r:id="rId7"/>
              </a:rPr>
              <a:t>https://aws.amazon.com/jp/architecture/well-architected/</a:t>
            </a:r>
            <a:endParaRPr lang="en-US">
              <a:ea typeface="Calibri"/>
              <a:cs typeface="Calibri"/>
              <a:hlinkClick r:id="rId7"/>
            </a:endParaRPr>
          </a:p>
          <a:p>
            <a:r>
              <a:rPr lang="ja-JP" altLang="en-US">
                <a:ea typeface="Calibri"/>
                <a:cs typeface="Calibri"/>
              </a:rPr>
              <a:t>上位レベルの開発者は、これら観点を網羅的に理解し、優先度を決めてプロダクト開発を進めています。</a:t>
            </a:r>
          </a:p>
          <a:p>
            <a:pPr algn="ctr"/>
            <a:endParaRPr lang="en-US">
              <a:ea typeface="Calibri" panose="020F0502020204030204"/>
              <a:cs typeface="Calibri" panose="020F0502020204030204"/>
            </a:endParaRPr>
          </a:p>
        </p:txBody>
      </p:sp>
    </p:spTree>
    <p:extLst>
      <p:ext uri="{BB962C8B-B14F-4D97-AF65-F5344CB8AC3E}">
        <p14:creationId xmlns:p14="http://schemas.microsoft.com/office/powerpoint/2010/main" val="4040849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0083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84EACFDE-3C06-4B63-8FFD-255D880A04B3}"/>
              </a:ext>
            </a:extLst>
          </p:cNvPr>
          <p:cNvSpPr txBox="1"/>
          <p:nvPr/>
        </p:nvSpPr>
        <p:spPr>
          <a:xfrm>
            <a:off x="2730812" y="2805752"/>
            <a:ext cx="7419028" cy="1246495"/>
          </a:xfrm>
          <a:prstGeom prst="rect">
            <a:avLst/>
          </a:prstGeom>
          <a:noFill/>
        </p:spPr>
        <p:txBody>
          <a:bodyPr wrap="square">
            <a:spAutoFit/>
          </a:bodyPr>
          <a:lstStyle/>
          <a:p>
            <a:r>
              <a:rPr lang="ja-JP" altLang="en-US" sz="7500"/>
              <a:t>スケジュール</a:t>
            </a:r>
          </a:p>
        </p:txBody>
      </p:sp>
    </p:spTree>
    <p:extLst>
      <p:ext uri="{BB962C8B-B14F-4D97-AF65-F5344CB8AC3E}">
        <p14:creationId xmlns:p14="http://schemas.microsoft.com/office/powerpoint/2010/main" val="2100650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62A0EA-1C68-454D-9A27-AB9A610646DD}"/>
              </a:ext>
            </a:extLst>
          </p:cNvPr>
          <p:cNvSpPr txBox="1">
            <a:spLocks/>
          </p:cNvSpPr>
          <p:nvPr/>
        </p:nvSpPr>
        <p:spPr>
          <a:xfrm>
            <a:off x="677334" y="163426"/>
            <a:ext cx="8596668" cy="594856"/>
          </a:xfr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ja-JP" altLang="en-US" sz="2800">
                <a:latin typeface="メイリオ" panose="020B0604030504040204" pitchFamily="50" charset="-128"/>
                <a:ea typeface="メイリオ" panose="020B0604030504040204" pitchFamily="50" charset="-128"/>
              </a:rPr>
              <a:t>大まかなスケジュール</a:t>
            </a:r>
            <a:endParaRPr kumimoji="1" lang="ja-JP" altLang="en-US" sz="2800">
              <a:latin typeface="メイリオ" panose="020B0604030504040204" pitchFamily="50" charset="-128"/>
              <a:ea typeface="メイリオ" panose="020B0604030504040204" pitchFamily="50" charset="-128"/>
            </a:endParaRPr>
          </a:p>
        </p:txBody>
      </p:sp>
      <p:sp>
        <p:nvSpPr>
          <p:cNvPr id="3" name="コンテンツ プレースホルダー 2">
            <a:extLst>
              <a:ext uri="{FF2B5EF4-FFF2-40B4-BE49-F238E27FC236}">
                <a16:creationId xmlns:a16="http://schemas.microsoft.com/office/drawing/2014/main" id="{AB65B888-ED69-4959-BCD4-094455ADF18F}"/>
              </a:ext>
            </a:extLst>
          </p:cNvPr>
          <p:cNvSpPr txBox="1">
            <a:spLocks/>
          </p:cNvSpPr>
          <p:nvPr/>
        </p:nvSpPr>
        <p:spPr>
          <a:xfrm>
            <a:off x="406398" y="1185338"/>
            <a:ext cx="3496733" cy="5120640"/>
          </a:xfrm>
        </p:spPr>
        <p:txBody>
          <a:bodyPr lIns="91440" tIns="45720" rIns="91440" bIns="45720" anchor="t">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1" lang="en-US" altLang="ja-JP" sz="1600" b="1">
                <a:latin typeface="メイリオ"/>
                <a:ea typeface="メイリオ"/>
              </a:rPr>
              <a:t>Day 1</a:t>
            </a:r>
            <a:r>
              <a:rPr kumimoji="1" lang="ja-JP" altLang="en-US" sz="1600" b="1">
                <a:latin typeface="メイリオ"/>
                <a:ea typeface="メイリオ"/>
              </a:rPr>
              <a:t>　</a:t>
            </a:r>
            <a:endParaRPr kumimoji="1" lang="en-US" altLang="ja-JP" sz="1600" b="1">
              <a:latin typeface="メイリオ"/>
              <a:ea typeface="メイリオ"/>
            </a:endParaRPr>
          </a:p>
          <a:p>
            <a:r>
              <a:rPr lang="ja-JP" altLang="en-US" sz="1600">
                <a:latin typeface="メイリオ"/>
                <a:ea typeface="メイリオ"/>
              </a:rPr>
              <a:t>　　</a:t>
            </a:r>
            <a:r>
              <a:rPr lang="en-US" altLang="ja-JP" sz="1600">
                <a:latin typeface="メイリオ"/>
                <a:ea typeface="メイリオ"/>
              </a:rPr>
              <a:t>1000</a:t>
            </a:r>
            <a:r>
              <a:rPr lang="ja-JP" altLang="en-US" sz="1600">
                <a:latin typeface="メイリオ"/>
                <a:ea typeface="メイリオ"/>
              </a:rPr>
              <a:t>　</a:t>
            </a:r>
            <a:r>
              <a:rPr kumimoji="1" lang="ja-JP" altLang="en-US" sz="1600">
                <a:latin typeface="メイリオ"/>
                <a:ea typeface="メイリオ"/>
              </a:rPr>
              <a:t>オリエンテーション</a:t>
            </a:r>
            <a:endParaRPr kumimoji="1" lang="en-US" altLang="ja-JP" sz="1600">
              <a:latin typeface="メイリオ"/>
              <a:ea typeface="メイリオ"/>
            </a:endParaRPr>
          </a:p>
          <a:p>
            <a:r>
              <a:rPr lang="ja-JP" altLang="en-US" sz="1600">
                <a:latin typeface="メイリオ"/>
                <a:ea typeface="メイリオ"/>
              </a:rPr>
              <a:t>　　</a:t>
            </a:r>
            <a:r>
              <a:rPr lang="en-US" altLang="ja-JP" sz="1600">
                <a:latin typeface="メイリオ"/>
                <a:ea typeface="メイリオ"/>
              </a:rPr>
              <a:t>1200</a:t>
            </a:r>
            <a:r>
              <a:rPr lang="ja-JP" altLang="en-US" sz="1600">
                <a:latin typeface="メイリオ"/>
                <a:ea typeface="メイリオ"/>
              </a:rPr>
              <a:t>　ランチ</a:t>
            </a:r>
            <a:endParaRPr lang="en-US" altLang="ja-JP" sz="1600">
              <a:latin typeface="メイリオ"/>
              <a:ea typeface="メイリオ"/>
            </a:endParaRPr>
          </a:p>
          <a:p>
            <a:r>
              <a:rPr lang="ja-JP" altLang="en-US" sz="1600">
                <a:latin typeface="メイリオ"/>
                <a:ea typeface="メイリオ"/>
              </a:rPr>
              <a:t>　　</a:t>
            </a:r>
            <a:r>
              <a:rPr lang="en-US" altLang="ja-JP" sz="1600">
                <a:latin typeface="メイリオ"/>
                <a:ea typeface="メイリオ"/>
              </a:rPr>
              <a:t>1330</a:t>
            </a:r>
            <a:r>
              <a:rPr lang="ja-JP" altLang="en-US" sz="1600">
                <a:latin typeface="メイリオ"/>
                <a:ea typeface="メイリオ"/>
              </a:rPr>
              <a:t>　コースの説明</a:t>
            </a:r>
            <a:endParaRPr lang="en-US" altLang="ja-JP" sz="1600">
              <a:latin typeface="メイリオ"/>
              <a:ea typeface="メイリオ"/>
            </a:endParaRPr>
          </a:p>
          <a:p>
            <a:r>
              <a:rPr kumimoji="1" lang="ja-JP" altLang="en-US" sz="1600">
                <a:latin typeface="メイリオ"/>
                <a:ea typeface="メイリオ"/>
              </a:rPr>
              <a:t>　　</a:t>
            </a:r>
            <a:r>
              <a:rPr kumimoji="1" lang="en-US" altLang="ja-JP" sz="1600">
                <a:latin typeface="メイリオ"/>
                <a:ea typeface="メイリオ"/>
              </a:rPr>
              <a:t>1530</a:t>
            </a:r>
            <a:r>
              <a:rPr kumimoji="1" lang="ja-JP" altLang="en-US" sz="1600">
                <a:latin typeface="メイリオ"/>
                <a:ea typeface="メイリオ"/>
              </a:rPr>
              <a:t>　チーム相談　</a:t>
            </a:r>
            <a:endParaRPr kumimoji="1" lang="en-US" altLang="ja-JP" sz="1600">
              <a:latin typeface="メイリオ"/>
              <a:ea typeface="メイリオ"/>
            </a:endParaRPr>
          </a:p>
          <a:p>
            <a:r>
              <a:rPr kumimoji="1" lang="ja-JP" altLang="en-US" sz="1600">
                <a:latin typeface="メイリオ"/>
                <a:ea typeface="メイリオ"/>
              </a:rPr>
              <a:t>　　</a:t>
            </a:r>
            <a:r>
              <a:rPr kumimoji="1" lang="en-US" altLang="ja-JP" sz="1600">
                <a:latin typeface="メイリオ"/>
                <a:ea typeface="メイリオ"/>
              </a:rPr>
              <a:t>1630</a:t>
            </a:r>
            <a:r>
              <a:rPr kumimoji="1" lang="ja-JP" altLang="en-US" sz="1600">
                <a:latin typeface="メイリオ"/>
                <a:ea typeface="メイリオ"/>
              </a:rPr>
              <a:t>　夕会 チーム１</a:t>
            </a:r>
            <a:endParaRPr kumimoji="1" lang="en-US" altLang="ja-JP" sz="1600">
              <a:latin typeface="メイリオ"/>
              <a:ea typeface="メイリオ"/>
            </a:endParaRPr>
          </a:p>
          <a:p>
            <a:r>
              <a:rPr lang="ja-JP" altLang="en-US" sz="1600">
                <a:latin typeface="Meiryo"/>
                <a:ea typeface="Meiryo"/>
              </a:rPr>
              <a:t>　　</a:t>
            </a:r>
            <a:r>
              <a:rPr lang="en-US" sz="1600">
                <a:latin typeface="Meiryo"/>
                <a:ea typeface="Meiryo"/>
              </a:rPr>
              <a:t>1820</a:t>
            </a:r>
            <a:r>
              <a:rPr lang="ja-JP" altLang="en-US" sz="1600">
                <a:latin typeface="Meiryo"/>
                <a:ea typeface="Meiryo"/>
              </a:rPr>
              <a:t>　夕会 チーム２</a:t>
            </a:r>
            <a:endParaRPr lang="en-US" sz="1600">
              <a:latin typeface="Meiryo"/>
              <a:ea typeface="Meiryo"/>
            </a:endParaRPr>
          </a:p>
          <a:p>
            <a:endParaRPr lang="en-US" altLang="ja-JP" sz="1600" b="1">
              <a:latin typeface="メイリオ" panose="020B0604030504040204" pitchFamily="50" charset="-128"/>
              <a:ea typeface="メイリオ" panose="020B0604030504040204" pitchFamily="50" charset="-128"/>
            </a:endParaRPr>
          </a:p>
          <a:p>
            <a:endParaRPr lang="en-US" altLang="ja-JP" sz="1600">
              <a:latin typeface="メイリオ" panose="020B0604030504040204" pitchFamily="50" charset="-128"/>
              <a:ea typeface="メイリオ" panose="020B0604030504040204" pitchFamily="50" charset="-128"/>
            </a:endParaRPr>
          </a:p>
        </p:txBody>
      </p:sp>
      <p:sp>
        <p:nvSpPr>
          <p:cNvPr id="4" name="コンテンツ プレースホルダー 2">
            <a:extLst>
              <a:ext uri="{FF2B5EF4-FFF2-40B4-BE49-F238E27FC236}">
                <a16:creationId xmlns:a16="http://schemas.microsoft.com/office/drawing/2014/main" id="{891FDA2D-D052-4CC2-9C51-BE327B195451}"/>
              </a:ext>
            </a:extLst>
          </p:cNvPr>
          <p:cNvSpPr txBox="1">
            <a:spLocks/>
          </p:cNvSpPr>
          <p:nvPr/>
        </p:nvSpPr>
        <p:spPr>
          <a:xfrm>
            <a:off x="7689536" y="1109138"/>
            <a:ext cx="4096066" cy="504951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9pPr>
          </a:lstStyle>
          <a:p>
            <a:pPr marL="0" indent="0">
              <a:buNone/>
            </a:pPr>
            <a:r>
              <a:rPr lang="en-US" altLang="ja-JP" sz="1600" b="1">
                <a:latin typeface="メイリオ" panose="020B0604030504040204" pitchFamily="50" charset="-128"/>
                <a:ea typeface="メイリオ" panose="020B0604030504040204" pitchFamily="50" charset="-128"/>
              </a:rPr>
              <a:t>2</a:t>
            </a:r>
            <a:r>
              <a:rPr lang="ja-JP" altLang="en-US" sz="1600" b="1">
                <a:latin typeface="メイリオ" panose="020B0604030504040204" pitchFamily="50" charset="-128"/>
                <a:ea typeface="メイリオ" panose="020B0604030504040204" pitchFamily="50" charset="-128"/>
              </a:rPr>
              <a:t>週目</a:t>
            </a:r>
            <a:endParaRPr lang="en-US" altLang="ja-JP" sz="1600" b="1">
              <a:latin typeface="メイリオ" panose="020B0604030504040204" pitchFamily="50" charset="-128"/>
              <a:ea typeface="メイリオ" panose="020B0604030504040204" pitchFamily="50" charset="-128"/>
            </a:endParaRPr>
          </a:p>
          <a:p>
            <a:pPr marL="0" indent="0">
              <a:buNone/>
            </a:pPr>
            <a:r>
              <a:rPr lang="en-US" altLang="ja-JP" sz="1600" b="1">
                <a:latin typeface="メイリオ" panose="020B0604030504040204" pitchFamily="50" charset="-128"/>
                <a:ea typeface="メイリオ" panose="020B0604030504040204" pitchFamily="50" charset="-128"/>
              </a:rPr>
              <a:t>  Day</a:t>
            </a:r>
            <a:r>
              <a:rPr lang="ja-JP" altLang="en-US" sz="1600" b="1">
                <a:latin typeface="メイリオ" panose="020B0604030504040204" pitchFamily="50" charset="-128"/>
                <a:ea typeface="メイリオ" panose="020B0604030504040204" pitchFamily="50" charset="-128"/>
              </a:rPr>
              <a:t> </a:t>
            </a:r>
            <a:r>
              <a:rPr lang="en-US" altLang="ja-JP" sz="1600" b="1">
                <a:latin typeface="メイリオ" panose="020B0604030504040204" pitchFamily="50" charset="-128"/>
                <a:ea typeface="メイリオ" panose="020B0604030504040204" pitchFamily="50" charset="-128"/>
              </a:rPr>
              <a:t>5, 6, 7</a:t>
            </a:r>
          </a:p>
          <a:p>
            <a:pPr marL="0" indent="0">
              <a:buNone/>
            </a:pPr>
            <a:r>
              <a:rPr lang="ja-JP" altLang="en-US" sz="1600">
                <a:latin typeface="メイリオ" panose="020B0604030504040204" pitchFamily="50" charset="-128"/>
                <a:ea typeface="メイリオ" panose="020B0604030504040204" pitchFamily="50" charset="-128"/>
              </a:rPr>
              <a:t>　  インフラ構築、結合テスト</a:t>
            </a:r>
            <a:endParaRPr lang="en-US" altLang="ja-JP" sz="1600">
              <a:latin typeface="メイリオ" panose="020B0604030504040204" pitchFamily="50" charset="-128"/>
              <a:ea typeface="メイリオ" panose="020B0604030504040204" pitchFamily="50" charset="-128"/>
            </a:endParaRPr>
          </a:p>
          <a:p>
            <a:pPr marL="0" indent="0">
              <a:buNone/>
            </a:pPr>
            <a:r>
              <a:rPr lang="en-US" altLang="ja-JP" sz="1600" b="1">
                <a:latin typeface="メイリオ" panose="020B0604030504040204" pitchFamily="50" charset="-128"/>
                <a:ea typeface="メイリオ" panose="020B0604030504040204" pitchFamily="50" charset="-128"/>
              </a:rPr>
              <a:t>  Day</a:t>
            </a:r>
            <a:r>
              <a:rPr lang="ja-JP" altLang="en-US" sz="1600" b="1">
                <a:latin typeface="メイリオ" panose="020B0604030504040204" pitchFamily="50" charset="-128"/>
                <a:ea typeface="メイリオ" panose="020B0604030504040204" pitchFamily="50" charset="-128"/>
              </a:rPr>
              <a:t> </a:t>
            </a:r>
            <a:r>
              <a:rPr lang="en-US" altLang="ja-JP" sz="1600" b="1">
                <a:latin typeface="メイリオ" panose="020B0604030504040204" pitchFamily="50" charset="-128"/>
                <a:ea typeface="メイリオ" panose="020B0604030504040204" pitchFamily="50" charset="-128"/>
              </a:rPr>
              <a:t>8</a:t>
            </a:r>
          </a:p>
          <a:p>
            <a:pPr marL="0" indent="0">
              <a:buNone/>
            </a:pPr>
            <a:r>
              <a:rPr lang="ja-JP" altLang="en-US" sz="1600">
                <a:latin typeface="メイリオ" panose="020B0604030504040204" pitchFamily="50" charset="-128"/>
                <a:ea typeface="メイリオ" panose="020B0604030504040204" pitchFamily="50" charset="-128"/>
              </a:rPr>
              <a:t>　  資料作成、デモ作成</a:t>
            </a:r>
            <a:endParaRPr lang="en-US" altLang="ja-JP" sz="1600">
              <a:latin typeface="メイリオ" panose="020B0604030504040204" pitchFamily="50" charset="-128"/>
              <a:ea typeface="メイリオ" panose="020B0604030504040204" pitchFamily="50" charset="-128"/>
            </a:endParaRPr>
          </a:p>
          <a:p>
            <a:pPr marL="0" indent="0">
              <a:buNone/>
            </a:pPr>
            <a:r>
              <a:rPr lang="ja-JP" altLang="en-US" sz="1600" b="1">
                <a:latin typeface="メイリオ" panose="020B0604030504040204" pitchFamily="50" charset="-128"/>
                <a:ea typeface="メイリオ" panose="020B0604030504040204" pitchFamily="50" charset="-128"/>
              </a:rPr>
              <a:t>発表準備</a:t>
            </a:r>
            <a:endParaRPr lang="en-US" altLang="ja-JP" sz="1600" b="1">
              <a:latin typeface="メイリオ" panose="020B0604030504040204" pitchFamily="50" charset="-128"/>
              <a:ea typeface="メイリオ" panose="020B0604030504040204" pitchFamily="50" charset="-128"/>
            </a:endParaRPr>
          </a:p>
          <a:p>
            <a:pPr marL="0" indent="0">
              <a:buNone/>
            </a:pPr>
            <a:r>
              <a:rPr lang="en-US" altLang="ja-JP" sz="1600" b="1">
                <a:latin typeface="メイリオ" panose="020B0604030504040204" pitchFamily="50" charset="-128"/>
                <a:ea typeface="メイリオ" panose="020B0604030504040204" pitchFamily="50" charset="-128"/>
              </a:rPr>
              <a:t>  Day</a:t>
            </a:r>
            <a:r>
              <a:rPr lang="ja-JP" altLang="en-US" sz="1600" b="1">
                <a:latin typeface="メイリオ" panose="020B0604030504040204" pitchFamily="50" charset="-128"/>
                <a:ea typeface="メイリオ" panose="020B0604030504040204" pitchFamily="50" charset="-128"/>
              </a:rPr>
              <a:t> </a:t>
            </a:r>
            <a:r>
              <a:rPr lang="en-US" altLang="ja-JP" sz="1600" b="1">
                <a:latin typeface="メイリオ" panose="020B0604030504040204" pitchFamily="50" charset="-128"/>
                <a:ea typeface="メイリオ" panose="020B0604030504040204" pitchFamily="50" charset="-128"/>
              </a:rPr>
              <a:t>9</a:t>
            </a:r>
          </a:p>
          <a:p>
            <a:pPr marL="0" indent="0">
              <a:buNone/>
            </a:pPr>
            <a:r>
              <a:rPr lang="ja-JP" altLang="en-US" sz="1600">
                <a:latin typeface="メイリオ" panose="020B0604030504040204" pitchFamily="50" charset="-128"/>
                <a:ea typeface="メイリオ" panose="020B0604030504040204" pitchFamily="50" charset="-128"/>
              </a:rPr>
              <a:t>　  発表　</a:t>
            </a:r>
            <a:r>
              <a:rPr lang="en-US" altLang="ja-JP" sz="1600">
                <a:latin typeface="メイリオ" panose="020B0604030504040204" pitchFamily="50" charset="-128"/>
                <a:ea typeface="メイリオ" panose="020B0604030504040204" pitchFamily="50" charset="-128"/>
              </a:rPr>
              <a:t>1</a:t>
            </a:r>
            <a:r>
              <a:rPr lang="ja-JP" altLang="en-US" sz="1600">
                <a:latin typeface="メイリオ" panose="020B0604030504040204" pitchFamily="50" charset="-128"/>
                <a:ea typeface="メイリオ" panose="020B0604030504040204" pitchFamily="50" charset="-128"/>
              </a:rPr>
              <a:t>人</a:t>
            </a:r>
            <a:r>
              <a:rPr lang="en-US" altLang="ja-JP" sz="1600">
                <a:latin typeface="メイリオ" panose="020B0604030504040204" pitchFamily="50" charset="-128"/>
                <a:ea typeface="メイリオ" panose="020B0604030504040204" pitchFamily="50" charset="-128"/>
              </a:rPr>
              <a:t>15</a:t>
            </a:r>
            <a:r>
              <a:rPr lang="ja-JP" altLang="en-US" sz="1600">
                <a:latin typeface="メイリオ" panose="020B0604030504040204" pitchFamily="50" charset="-128"/>
                <a:ea typeface="メイリオ" panose="020B0604030504040204" pitchFamily="50" charset="-128"/>
              </a:rPr>
              <a:t>分 </a:t>
            </a:r>
            <a:r>
              <a:rPr lang="en-US" altLang="ja-JP" sz="1600">
                <a:latin typeface="メイリオ" panose="020B0604030504040204" pitchFamily="50" charset="-128"/>
                <a:ea typeface="メイリオ" panose="020B0604030504040204" pitchFamily="50" charset="-128"/>
              </a:rPr>
              <a:t>+ </a:t>
            </a:r>
            <a:r>
              <a:rPr lang="ja-JP" altLang="en-US" sz="1600">
                <a:latin typeface="メイリオ" panose="020B0604030504040204" pitchFamily="50" charset="-128"/>
                <a:ea typeface="メイリオ" panose="020B0604030504040204" pitchFamily="50" charset="-128"/>
              </a:rPr>
              <a:t>質疑応答</a:t>
            </a:r>
            <a:endParaRPr lang="en-US" altLang="ja-JP" sz="1600">
              <a:latin typeface="メイリオ" panose="020B0604030504040204" pitchFamily="50" charset="-128"/>
              <a:ea typeface="メイリオ" panose="020B0604030504040204" pitchFamily="50" charset="-128"/>
            </a:endParaRPr>
          </a:p>
          <a:p>
            <a:pPr marL="0" indent="0">
              <a:buNone/>
            </a:pPr>
            <a:r>
              <a:rPr lang="ja-JP" altLang="en-US" sz="1600">
                <a:latin typeface="メイリオ" panose="020B0604030504040204" pitchFamily="50" charset="-128"/>
                <a:ea typeface="メイリオ" panose="020B0604030504040204" pitchFamily="50" charset="-128"/>
              </a:rPr>
              <a:t>　</a:t>
            </a:r>
          </a:p>
          <a:p>
            <a:pPr marL="0" indent="0">
              <a:buFont typeface="Wingdings 3" charset="2"/>
              <a:buNone/>
            </a:pPr>
            <a:endParaRPr lang="ja-JP" altLang="en-US" sz="160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28C5D701-FD18-CA2F-5B5C-26BAA699613B}"/>
              </a:ext>
            </a:extLst>
          </p:cNvPr>
          <p:cNvSpPr txBox="1"/>
          <p:nvPr/>
        </p:nvSpPr>
        <p:spPr>
          <a:xfrm>
            <a:off x="4132008" y="1193629"/>
            <a:ext cx="3746676" cy="4031873"/>
          </a:xfrm>
          <a:prstGeom prst="rect">
            <a:avLst/>
          </a:prstGeom>
          <a:noFill/>
        </p:spPr>
        <p:txBody>
          <a:bodyPr wrap="square">
            <a:spAutoFit/>
          </a:bodyPr>
          <a:lstStyle/>
          <a:p>
            <a:r>
              <a:rPr lang="en-US" altLang="ja-JP" sz="1600" b="1">
                <a:latin typeface="メイリオ" panose="020B0604030504040204" pitchFamily="50" charset="-128"/>
                <a:ea typeface="メイリオ" panose="020B0604030504040204" pitchFamily="50" charset="-128"/>
              </a:rPr>
              <a:t>1</a:t>
            </a:r>
            <a:r>
              <a:rPr lang="ja-JP" altLang="en-US" sz="1600" b="1">
                <a:latin typeface="メイリオ" panose="020B0604030504040204" pitchFamily="50" charset="-128"/>
                <a:ea typeface="メイリオ" panose="020B0604030504040204" pitchFamily="50" charset="-128"/>
              </a:rPr>
              <a:t>週目</a:t>
            </a:r>
            <a:endParaRPr lang="en-US" altLang="ja-JP" sz="1600" b="1">
              <a:latin typeface="メイリオ" panose="020B0604030504040204" pitchFamily="50" charset="-128"/>
              <a:ea typeface="メイリオ" panose="020B0604030504040204" pitchFamily="50" charset="-128"/>
            </a:endParaRPr>
          </a:p>
          <a:p>
            <a:r>
              <a:rPr lang="ja-JP" altLang="en-US" sz="1600" b="1">
                <a:latin typeface="メイリオ" panose="020B0604030504040204" pitchFamily="50" charset="-128"/>
                <a:ea typeface="メイリオ" panose="020B0604030504040204" pitchFamily="50" charset="-128"/>
              </a:rPr>
              <a:t>　</a:t>
            </a:r>
            <a:r>
              <a:rPr lang="en-US" altLang="ja-JP" sz="1600" b="1">
                <a:latin typeface="メイリオ" panose="020B0604030504040204" pitchFamily="50" charset="-128"/>
                <a:ea typeface="メイリオ" panose="020B0604030504040204" pitchFamily="50" charset="-128"/>
              </a:rPr>
              <a:t>Day</a:t>
            </a:r>
            <a:r>
              <a:rPr lang="ja-JP" altLang="en-US" sz="1600" b="1">
                <a:latin typeface="メイリオ" panose="020B0604030504040204" pitchFamily="50" charset="-128"/>
                <a:ea typeface="メイリオ" panose="020B0604030504040204" pitchFamily="50" charset="-128"/>
              </a:rPr>
              <a:t> </a:t>
            </a:r>
            <a:r>
              <a:rPr lang="en-US" altLang="ja-JP" sz="1600" b="1">
                <a:latin typeface="メイリオ" panose="020B0604030504040204" pitchFamily="50" charset="-128"/>
                <a:ea typeface="メイリオ" panose="020B0604030504040204" pitchFamily="50" charset="-128"/>
              </a:rPr>
              <a:t>2</a:t>
            </a:r>
          </a:p>
          <a:p>
            <a:r>
              <a:rPr lang="ja-JP" altLang="en-US" sz="1600">
                <a:latin typeface="メイリオ" panose="020B0604030504040204" pitchFamily="50" charset="-128"/>
                <a:ea typeface="メイリオ" panose="020B0604030504040204" pitchFamily="50" charset="-128"/>
              </a:rPr>
              <a:t>　　</a:t>
            </a:r>
            <a:r>
              <a:rPr lang="en-US" altLang="ja-JP" sz="1600">
                <a:latin typeface="メイリオ" panose="020B0604030504040204" pitchFamily="50" charset="-128"/>
                <a:ea typeface="メイリオ" panose="020B0604030504040204" pitchFamily="50" charset="-128"/>
              </a:rPr>
              <a:t>1000</a:t>
            </a:r>
            <a:r>
              <a:rPr lang="ja-JP" altLang="en-US" sz="1600">
                <a:latin typeface="メイリオ" panose="020B0604030504040204" pitchFamily="50" charset="-128"/>
                <a:ea typeface="メイリオ" panose="020B0604030504040204" pitchFamily="50" charset="-128"/>
              </a:rPr>
              <a:t>　　朝会</a:t>
            </a:r>
            <a:endParaRPr lang="en-US" altLang="ja-JP" sz="1600">
              <a:latin typeface="メイリオ" panose="020B0604030504040204" pitchFamily="50" charset="-128"/>
              <a:ea typeface="メイリオ" panose="020B0604030504040204" pitchFamily="50" charset="-128"/>
            </a:endParaRPr>
          </a:p>
          <a:p>
            <a:r>
              <a:rPr kumimoji="1" lang="ja-JP" altLang="en-US" sz="1600">
                <a:latin typeface="メイリオ" panose="020B0604030504040204" pitchFamily="50" charset="-128"/>
                <a:ea typeface="メイリオ" panose="020B0604030504040204" pitchFamily="50" charset="-128"/>
              </a:rPr>
              <a:t>　　</a:t>
            </a:r>
            <a:r>
              <a:rPr kumimoji="1" lang="en-US" altLang="ja-JP" sz="1600">
                <a:latin typeface="メイリオ" panose="020B0604030504040204" pitchFamily="50" charset="-128"/>
                <a:ea typeface="メイリオ" panose="020B0604030504040204" pitchFamily="50" charset="-128"/>
              </a:rPr>
              <a:t>1600</a:t>
            </a:r>
            <a:r>
              <a:rPr kumimoji="1" lang="ja-JP" altLang="en-US" sz="1600">
                <a:latin typeface="メイリオ" panose="020B0604030504040204" pitchFamily="50" charset="-128"/>
                <a:ea typeface="メイリオ" panose="020B0604030504040204" pitchFamily="50" charset="-128"/>
              </a:rPr>
              <a:t>～　夕会</a:t>
            </a:r>
            <a:endParaRPr kumimoji="1" lang="en-US" altLang="ja-JP" sz="1600">
              <a:latin typeface="メイリオ" panose="020B0604030504040204" pitchFamily="50" charset="-128"/>
              <a:ea typeface="メイリオ" panose="020B0604030504040204" pitchFamily="50" charset="-128"/>
            </a:endParaRPr>
          </a:p>
          <a:p>
            <a:endParaRPr kumimoji="1" lang="en-US" altLang="ja-JP" sz="1600">
              <a:latin typeface="メイリオ" panose="020B0604030504040204" pitchFamily="50" charset="-128"/>
              <a:ea typeface="メイリオ" panose="020B0604030504040204" pitchFamily="50" charset="-128"/>
            </a:endParaRPr>
          </a:p>
          <a:p>
            <a:r>
              <a:rPr kumimoji="1" lang="ja-JP" altLang="en-US" sz="1600">
                <a:latin typeface="メイリオ" panose="020B0604030504040204" pitchFamily="50" charset="-128"/>
                <a:ea typeface="メイリオ" panose="020B0604030504040204" pitchFamily="50" charset="-128"/>
              </a:rPr>
              <a:t>   　仕様調査</a:t>
            </a:r>
            <a:endParaRPr kumimoji="1" lang="en-US" altLang="ja-JP" sz="1600">
              <a:latin typeface="メイリオ" panose="020B0604030504040204" pitchFamily="50" charset="-128"/>
              <a:ea typeface="メイリオ" panose="020B0604030504040204" pitchFamily="50" charset="-128"/>
            </a:endParaRPr>
          </a:p>
          <a:p>
            <a:r>
              <a:rPr kumimoji="1" lang="ja-JP" altLang="en-US" sz="1600">
                <a:latin typeface="メイリオ" panose="020B0604030504040204" pitchFamily="50" charset="-128"/>
                <a:ea typeface="メイリオ" panose="020B0604030504040204" pitchFamily="50" charset="-128"/>
              </a:rPr>
              <a:t>　　技術要素一覧</a:t>
            </a:r>
            <a:endParaRPr kumimoji="1" lang="en-US" altLang="ja-JP" sz="1600">
              <a:latin typeface="メイリオ" panose="020B0604030504040204" pitchFamily="50" charset="-128"/>
              <a:ea typeface="メイリオ" panose="020B0604030504040204" pitchFamily="50" charset="-128"/>
            </a:endParaRPr>
          </a:p>
          <a:p>
            <a:r>
              <a:rPr lang="ja-JP" altLang="en-US" sz="1600">
                <a:latin typeface="メイリオ" panose="020B0604030504040204" pitchFamily="50" charset="-128"/>
                <a:ea typeface="メイリオ" panose="020B0604030504040204" pitchFamily="50" charset="-128"/>
              </a:rPr>
              <a:t>　</a:t>
            </a:r>
            <a:r>
              <a:rPr kumimoji="1" lang="ja-JP" altLang="en-US" sz="1600">
                <a:latin typeface="メイリオ" panose="020B0604030504040204" pitchFamily="50" charset="-128"/>
                <a:ea typeface="メイリオ" panose="020B0604030504040204" pitchFamily="50" charset="-128"/>
              </a:rPr>
              <a:t>　ローカル環境構築手順書</a:t>
            </a:r>
            <a:endParaRPr kumimoji="1" lang="en-US" altLang="ja-JP" sz="1600">
              <a:latin typeface="メイリオ" panose="020B0604030504040204" pitchFamily="50" charset="-128"/>
              <a:ea typeface="メイリオ" panose="020B0604030504040204" pitchFamily="50" charset="-128"/>
            </a:endParaRPr>
          </a:p>
          <a:p>
            <a:r>
              <a:rPr kumimoji="1" lang="ja-JP" altLang="en-US" sz="1600">
                <a:latin typeface="メイリオ" panose="020B0604030504040204" pitchFamily="50" charset="-128"/>
                <a:ea typeface="メイリオ" panose="020B0604030504040204" pitchFamily="50" charset="-128"/>
              </a:rPr>
              <a:t>　　</a:t>
            </a:r>
            <a:r>
              <a:rPr kumimoji="1" lang="en-US" altLang="ja-JP" sz="1600">
                <a:latin typeface="メイリオ" panose="020B0604030504040204" pitchFamily="50" charset="-128"/>
                <a:ea typeface="メイリオ" panose="020B0604030504040204" pitchFamily="50" charset="-128"/>
              </a:rPr>
              <a:t>DB</a:t>
            </a:r>
            <a:r>
              <a:rPr kumimoji="1" lang="ja-JP" altLang="en-US" sz="1600">
                <a:latin typeface="メイリオ" panose="020B0604030504040204" pitchFamily="50" charset="-128"/>
                <a:ea typeface="メイリオ" panose="020B0604030504040204" pitchFamily="50" charset="-128"/>
              </a:rPr>
              <a:t>設計書</a:t>
            </a:r>
            <a:endParaRPr kumimoji="1" lang="en-US" altLang="ja-JP" sz="1600">
              <a:latin typeface="メイリオ" panose="020B0604030504040204" pitchFamily="50" charset="-128"/>
              <a:ea typeface="メイリオ" panose="020B0604030504040204" pitchFamily="50" charset="-128"/>
            </a:endParaRPr>
          </a:p>
          <a:p>
            <a:r>
              <a:rPr kumimoji="1" lang="ja-JP" altLang="en-US" sz="1600">
                <a:latin typeface="メイリオ" panose="020B0604030504040204" pitchFamily="50" charset="-128"/>
                <a:ea typeface="メイリオ" panose="020B0604030504040204" pitchFamily="50" charset="-128"/>
              </a:rPr>
              <a:t>　　</a:t>
            </a:r>
            <a:r>
              <a:rPr kumimoji="1" lang="en-US" altLang="ja-JP" sz="1600">
                <a:latin typeface="メイリオ" panose="020B0604030504040204" pitchFamily="50" charset="-128"/>
                <a:ea typeface="メイリオ" panose="020B0604030504040204" pitchFamily="50" charset="-128"/>
              </a:rPr>
              <a:t>URL</a:t>
            </a:r>
            <a:r>
              <a:rPr kumimoji="1" lang="ja-JP" altLang="en-US" sz="1600">
                <a:latin typeface="メイリオ" panose="020B0604030504040204" pitchFamily="50" charset="-128"/>
                <a:ea typeface="メイリオ" panose="020B0604030504040204" pitchFamily="50" charset="-128"/>
              </a:rPr>
              <a:t>一覧</a:t>
            </a:r>
            <a:endParaRPr kumimoji="1" lang="en-US" altLang="ja-JP" sz="1600">
              <a:latin typeface="メイリオ" panose="020B0604030504040204" pitchFamily="50" charset="-128"/>
              <a:ea typeface="メイリオ" panose="020B0604030504040204" pitchFamily="50" charset="-128"/>
            </a:endParaRPr>
          </a:p>
          <a:p>
            <a:r>
              <a:rPr kumimoji="1" lang="ja-JP" altLang="en-US" sz="1600">
                <a:latin typeface="メイリオ" panose="020B0604030504040204" pitchFamily="50" charset="-128"/>
                <a:ea typeface="メイリオ" panose="020B0604030504040204" pitchFamily="50" charset="-128"/>
              </a:rPr>
              <a:t>　　システム構成図</a:t>
            </a:r>
            <a:endParaRPr kumimoji="1" lang="en-US" altLang="ja-JP" sz="1600">
              <a:latin typeface="メイリオ" panose="020B0604030504040204" pitchFamily="50" charset="-128"/>
              <a:ea typeface="メイリオ" panose="020B0604030504040204" pitchFamily="50" charset="-128"/>
            </a:endParaRPr>
          </a:p>
          <a:p>
            <a:endParaRPr kumimoji="1" lang="en-US" altLang="ja-JP" sz="1600">
              <a:latin typeface="メイリオ" panose="020B0604030504040204" pitchFamily="50" charset="-128"/>
              <a:ea typeface="メイリオ" panose="020B0604030504040204" pitchFamily="50" charset="-128"/>
            </a:endParaRPr>
          </a:p>
          <a:p>
            <a:r>
              <a:rPr kumimoji="1" lang="ja-JP" altLang="en-US" sz="1600" b="1">
                <a:latin typeface="メイリオ" panose="020B0604030504040204" pitchFamily="50" charset="-128"/>
                <a:ea typeface="メイリオ" panose="020B0604030504040204" pitchFamily="50" charset="-128"/>
              </a:rPr>
              <a:t>　</a:t>
            </a:r>
            <a:r>
              <a:rPr lang="en-US" altLang="ja-JP" sz="1600" b="1">
                <a:latin typeface="メイリオ" panose="020B0604030504040204" pitchFamily="50" charset="-128"/>
                <a:ea typeface="メイリオ" panose="020B0604030504040204" pitchFamily="50" charset="-128"/>
              </a:rPr>
              <a:t>Day</a:t>
            </a:r>
            <a:r>
              <a:rPr lang="ja-JP" altLang="en-US" sz="1600" b="1">
                <a:latin typeface="メイリオ" panose="020B0604030504040204" pitchFamily="50" charset="-128"/>
                <a:ea typeface="メイリオ" panose="020B0604030504040204" pitchFamily="50" charset="-128"/>
              </a:rPr>
              <a:t> </a:t>
            </a:r>
            <a:r>
              <a:rPr lang="en-US" altLang="ja-JP" sz="1600" b="1">
                <a:latin typeface="メイリオ" panose="020B0604030504040204" pitchFamily="50" charset="-128"/>
                <a:ea typeface="メイリオ" panose="020B0604030504040204" pitchFamily="50" charset="-128"/>
              </a:rPr>
              <a:t>3, 4</a:t>
            </a:r>
            <a:endParaRPr kumimoji="1" lang="en-US" altLang="ja-JP" sz="1600" b="1">
              <a:latin typeface="メイリオ" panose="020B0604030504040204" pitchFamily="50" charset="-128"/>
              <a:ea typeface="メイリオ" panose="020B0604030504040204" pitchFamily="50" charset="-128"/>
            </a:endParaRPr>
          </a:p>
          <a:p>
            <a:r>
              <a:rPr lang="ja-JP" altLang="en-US" sz="1600">
                <a:latin typeface="メイリオ" panose="020B0604030504040204" pitchFamily="50" charset="-128"/>
                <a:ea typeface="メイリオ" panose="020B0604030504040204" pitchFamily="50" charset="-128"/>
              </a:rPr>
              <a:t>　　アプリケーション実装</a:t>
            </a:r>
            <a:endParaRPr lang="en-US" altLang="ja-JP" sz="1600">
              <a:latin typeface="メイリオ" panose="020B0604030504040204" pitchFamily="50" charset="-128"/>
              <a:ea typeface="メイリオ" panose="020B0604030504040204" pitchFamily="50" charset="-128"/>
            </a:endParaRPr>
          </a:p>
          <a:p>
            <a:r>
              <a:rPr lang="ja-JP" altLang="en-US" sz="1600">
                <a:latin typeface="メイリオ" panose="020B0604030504040204" pitchFamily="50" charset="-128"/>
                <a:ea typeface="メイリオ" panose="020B0604030504040204" pitchFamily="50" charset="-128"/>
              </a:rPr>
              <a:t>　　インフラ構築</a:t>
            </a:r>
            <a:endParaRPr lang="en-US" altLang="ja-JP" sz="1600">
              <a:latin typeface="メイリオ" panose="020B0604030504040204" pitchFamily="50" charset="-128"/>
              <a:ea typeface="メイリオ" panose="020B0604030504040204" pitchFamily="50" charset="-128"/>
            </a:endParaRPr>
          </a:p>
          <a:p>
            <a:endParaRPr lang="en-US" altLang="ja-JP" sz="16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372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A149C3-C0AA-43BC-B984-0F0C3F2F7495}"/>
              </a:ext>
            </a:extLst>
          </p:cNvPr>
          <p:cNvSpPr>
            <a:spLocks noGrp="1"/>
          </p:cNvSpPr>
          <p:nvPr>
            <p:ph type="title"/>
          </p:nvPr>
        </p:nvSpPr>
        <p:spPr>
          <a:xfrm>
            <a:off x="739585" y="8918"/>
            <a:ext cx="10515600" cy="1152348"/>
          </a:xfrm>
        </p:spPr>
        <p:txBody>
          <a:bodyPr/>
          <a:lstStyle/>
          <a:p>
            <a:r>
              <a:rPr lang="ja-JP" altLang="en-US"/>
              <a:t>初日</a:t>
            </a:r>
            <a:endParaRPr kumimoji="1" lang="ja-JP" altLang="en-US"/>
          </a:p>
        </p:txBody>
      </p:sp>
      <p:sp>
        <p:nvSpPr>
          <p:cNvPr id="3" name="コンテンツ プレースホルダー 2">
            <a:extLst>
              <a:ext uri="{FF2B5EF4-FFF2-40B4-BE49-F238E27FC236}">
                <a16:creationId xmlns:a16="http://schemas.microsoft.com/office/drawing/2014/main" id="{0E87E005-D634-43D0-8492-5AFB38791A45}"/>
              </a:ext>
            </a:extLst>
          </p:cNvPr>
          <p:cNvSpPr>
            <a:spLocks noGrp="1"/>
          </p:cNvSpPr>
          <p:nvPr>
            <p:ph idx="1"/>
          </p:nvPr>
        </p:nvSpPr>
        <p:spPr>
          <a:xfrm>
            <a:off x="655267" y="1246094"/>
            <a:ext cx="11159145" cy="4888006"/>
          </a:xfrm>
        </p:spPr>
        <p:txBody>
          <a:bodyPr vert="horz" lIns="91440" tIns="45720" rIns="91440" bIns="45720" rtlCol="0" anchor="t">
            <a:normAutofit fontScale="55000" lnSpcReduction="20000"/>
          </a:bodyPr>
          <a:lstStyle/>
          <a:p>
            <a:pPr marL="0" indent="0">
              <a:buNone/>
            </a:pPr>
            <a:r>
              <a:rPr lang="ja-JP" altLang="en-US">
                <a:latin typeface="メイリオ" panose="020B0604030504040204" pitchFamily="50" charset="-128"/>
                <a:ea typeface="メイリオ" panose="020B0604030504040204" pitchFamily="50" charset="-128"/>
              </a:rPr>
              <a:t>成果物（チームで１つ作成してください）</a:t>
            </a:r>
            <a:endParaRPr kumimoji="1" lang="en-US" altLang="ja-JP">
              <a:latin typeface="メイリオ" panose="020B0604030504040204" pitchFamily="50" charset="-128"/>
              <a:ea typeface="メイリオ" panose="020B0604030504040204" pitchFamily="50" charset="-128"/>
            </a:endParaRPr>
          </a:p>
          <a:p>
            <a:r>
              <a:rPr lang="en-US" altLang="ja-JP" err="1">
                <a:latin typeface="メイリオ"/>
                <a:ea typeface="メイリオ"/>
              </a:rPr>
              <a:t>Github</a:t>
            </a:r>
            <a:r>
              <a:rPr lang="ja-JP" altLang="en-US">
                <a:latin typeface="メイリオ"/>
                <a:ea typeface="メイリオ"/>
              </a:rPr>
              <a:t> 準備（プライベート化してチームに共有。コードやドキュメント上に</a:t>
            </a:r>
            <a:r>
              <a:rPr lang="en-US" altLang="ja-JP">
                <a:latin typeface="メイリオ"/>
                <a:ea typeface="メイリオ"/>
              </a:rPr>
              <a:t>GMO</a:t>
            </a:r>
            <a:r>
              <a:rPr lang="ja-JP" altLang="en-US">
                <a:latin typeface="メイリオ"/>
                <a:ea typeface="メイリオ"/>
              </a:rPr>
              <a:t>の社名を書かないでください）</a:t>
            </a:r>
            <a:endParaRPr lang="en-US" altLang="ja-JP">
              <a:latin typeface="メイリオ"/>
              <a:ea typeface="メイリオ"/>
            </a:endParaRPr>
          </a:p>
          <a:p>
            <a:r>
              <a:rPr lang="ja-JP" altLang="en-US" sz="2800">
                <a:latin typeface="メイリオ"/>
                <a:ea typeface="メイリオ"/>
              </a:rPr>
              <a:t>技術要素一覧（使用する言語、フレームワーク、</a:t>
            </a:r>
            <a:r>
              <a:rPr lang="en-US" altLang="ja-JP" sz="2800">
                <a:latin typeface="メイリオ"/>
                <a:ea typeface="メイリオ"/>
              </a:rPr>
              <a:t>DB</a:t>
            </a:r>
            <a:r>
              <a:rPr lang="ja-JP" altLang="en-US" sz="2800">
                <a:latin typeface="メイリオ"/>
                <a:ea typeface="メイリオ"/>
              </a:rPr>
              <a:t>、</a:t>
            </a:r>
            <a:r>
              <a:rPr lang="en-US" altLang="ja-JP" sz="2800">
                <a:latin typeface="メイリオ"/>
                <a:ea typeface="メイリオ"/>
              </a:rPr>
              <a:t>OS</a:t>
            </a:r>
            <a:r>
              <a:rPr lang="ja-JP" altLang="en-US" sz="2800">
                <a:latin typeface="メイリオ"/>
                <a:ea typeface="メイリオ"/>
              </a:rPr>
              <a:t>、</a:t>
            </a:r>
            <a:r>
              <a:rPr lang="en-US" altLang="ja-JP">
                <a:latin typeface="メイリオ"/>
                <a:ea typeface="メイリオ"/>
              </a:rPr>
              <a:t>AI</a:t>
            </a:r>
            <a:r>
              <a:rPr lang="ja-JP" altLang="en-US">
                <a:latin typeface="メイリオ"/>
                <a:ea typeface="メイリオ"/>
              </a:rPr>
              <a:t>モデル（今回は従量課金のみ）など</a:t>
            </a:r>
            <a:r>
              <a:rPr lang="ja-JP" altLang="en-US" sz="2800">
                <a:latin typeface="メイリオ"/>
                <a:ea typeface="メイリオ"/>
              </a:rPr>
              <a:t>を決めて一覧化）</a:t>
            </a:r>
            <a:endParaRPr lang="en-US" altLang="ja-JP" sz="2800">
              <a:latin typeface="メイリオ"/>
              <a:ea typeface="メイリオ"/>
            </a:endParaRPr>
          </a:p>
          <a:p>
            <a:r>
              <a:rPr lang="ja-JP" altLang="en-US">
                <a:latin typeface="メイリオ" panose="020B0604030504040204" pitchFamily="50" charset="-128"/>
                <a:ea typeface="メイリオ" panose="020B0604030504040204" pitchFamily="50" charset="-128"/>
              </a:rPr>
              <a:t>ローカル環境構築＆手順書</a:t>
            </a:r>
            <a:r>
              <a:rPr lang="ja-JP" altLang="en-US"/>
              <a:t>（</a:t>
            </a:r>
            <a:r>
              <a:rPr lang="en-US" altLang="ja-JP"/>
              <a:t>README</a:t>
            </a:r>
            <a:r>
              <a:rPr lang="ja-JP" altLang="en-US"/>
              <a:t>） </a:t>
            </a:r>
            <a:r>
              <a:rPr lang="ja-JP" altLang="en-US">
                <a:latin typeface="メイリオ" panose="020B0604030504040204" pitchFamily="50" charset="-128"/>
                <a:ea typeface="メイリオ" panose="020B0604030504040204" pitchFamily="50" charset="-128"/>
              </a:rPr>
              <a:t>（とくにフォーマットなし）</a:t>
            </a:r>
            <a:endParaRPr lang="en-US" altLang="ja-JP" sz="2800">
              <a:latin typeface="メイリオ"/>
              <a:ea typeface="メイリオ"/>
            </a:endParaRPr>
          </a:p>
          <a:p>
            <a:pPr marL="0" indent="0">
              <a:buNone/>
            </a:pPr>
            <a:endParaRPr lang="en-US" altLang="ja-JP">
              <a:latin typeface="メイリオ" panose="020B0604030504040204" pitchFamily="50" charset="-128"/>
              <a:ea typeface="メイリオ" panose="020B0604030504040204" pitchFamily="50" charset="-128"/>
            </a:endParaRPr>
          </a:p>
          <a:p>
            <a:pPr marL="0" indent="0">
              <a:buNone/>
            </a:pPr>
            <a:r>
              <a:rPr lang="en-US" altLang="ja-JP">
                <a:latin typeface="メイリオ"/>
                <a:ea typeface="メイリオ"/>
              </a:rPr>
              <a:t>1000</a:t>
            </a:r>
            <a:r>
              <a:rPr lang="ja-JP" altLang="en-US">
                <a:latin typeface="メイリオ"/>
                <a:ea typeface="メイリオ"/>
              </a:rPr>
              <a:t> 人事説明、コース説明</a:t>
            </a:r>
            <a:endParaRPr lang="en-US" altLang="ja-JP">
              <a:latin typeface="メイリオ"/>
              <a:ea typeface="メイリオ"/>
            </a:endParaRPr>
          </a:p>
          <a:p>
            <a:pPr marL="0" indent="0">
              <a:buNone/>
            </a:pPr>
            <a:r>
              <a:rPr lang="en-US" altLang="ja-JP">
                <a:latin typeface="メイリオ"/>
                <a:ea typeface="メイリオ"/>
              </a:rPr>
              <a:t>1200</a:t>
            </a:r>
            <a:r>
              <a:rPr lang="ja-JP" altLang="en-US">
                <a:latin typeface="メイリオ"/>
                <a:ea typeface="メイリオ"/>
              </a:rPr>
              <a:t> ランチ</a:t>
            </a:r>
            <a:endParaRPr lang="en-US" altLang="ja-JP">
              <a:latin typeface="メイリオ"/>
              <a:ea typeface="メイリオ"/>
            </a:endParaRPr>
          </a:p>
          <a:p>
            <a:pPr marL="0" indent="0">
              <a:buNone/>
            </a:pPr>
            <a:r>
              <a:rPr lang="en-US" altLang="ja-JP">
                <a:solidFill>
                  <a:srgbClr val="FF0000"/>
                </a:solidFill>
                <a:latin typeface="メイリオ"/>
                <a:ea typeface="メイリオ"/>
              </a:rPr>
              <a:t>1330</a:t>
            </a:r>
            <a:r>
              <a:rPr lang="ja-JP" altLang="en-US">
                <a:solidFill>
                  <a:srgbClr val="FF0000"/>
                </a:solidFill>
                <a:latin typeface="メイリオ"/>
                <a:ea typeface="メイリオ"/>
              </a:rPr>
              <a:t> コース説明</a:t>
            </a:r>
            <a:endParaRPr lang="en-US" altLang="ja-JP">
              <a:solidFill>
                <a:srgbClr val="FF0000"/>
              </a:solidFill>
              <a:latin typeface="メイリオ"/>
              <a:ea typeface="メイリオ"/>
            </a:endParaRPr>
          </a:p>
          <a:p>
            <a:pPr marL="0" indent="0">
              <a:buNone/>
            </a:pPr>
            <a:r>
              <a:rPr lang="en-US" altLang="ja-JP" sz="2800">
                <a:latin typeface="メイリオ"/>
                <a:ea typeface="メイリオ"/>
              </a:rPr>
              <a:t>1500</a:t>
            </a:r>
            <a:r>
              <a:rPr lang="ja-JP" altLang="en-US" sz="2800">
                <a:latin typeface="メイリオ"/>
                <a:ea typeface="メイリオ"/>
              </a:rPr>
              <a:t> カフェタイム</a:t>
            </a:r>
            <a:endParaRPr lang="en-US" altLang="ja-JP">
              <a:latin typeface="メイリオ"/>
              <a:ea typeface="メイリオ"/>
            </a:endParaRPr>
          </a:p>
          <a:p>
            <a:pPr marL="0" indent="0">
              <a:buNone/>
            </a:pPr>
            <a:r>
              <a:rPr lang="en-US" altLang="ja-JP" sz="2800">
                <a:latin typeface="メイリオ"/>
                <a:ea typeface="メイリオ"/>
              </a:rPr>
              <a:t>1530</a:t>
            </a:r>
            <a:r>
              <a:rPr lang="ja-JP" altLang="en-US" sz="2800">
                <a:latin typeface="メイリオ"/>
                <a:ea typeface="メイリオ"/>
              </a:rPr>
              <a:t> チーム</a:t>
            </a:r>
            <a:r>
              <a:rPr lang="ja-JP" altLang="en-US">
                <a:latin typeface="メイリオ"/>
                <a:ea typeface="メイリオ"/>
              </a:rPr>
              <a:t>作業（要件を理解し、処理を調査、技術要素の洗い出し、タスクチケット作成。設計ドキュメント準備）</a:t>
            </a:r>
            <a:endParaRPr lang="en-US" altLang="ja-JP">
              <a:latin typeface="メイリオ"/>
              <a:ea typeface="メイリオ"/>
            </a:endParaRPr>
          </a:p>
          <a:p>
            <a:pPr marL="0" indent="0">
              <a:buNone/>
            </a:pPr>
            <a:r>
              <a:rPr lang="en-US" altLang="ja-JP">
                <a:solidFill>
                  <a:srgbClr val="FF0000"/>
                </a:solidFill>
                <a:latin typeface="メイリオ"/>
                <a:ea typeface="メイリオ"/>
              </a:rPr>
              <a:t>1630</a:t>
            </a:r>
            <a:r>
              <a:rPr lang="ja-JP" altLang="en-US">
                <a:solidFill>
                  <a:srgbClr val="FF0000"/>
                </a:solidFill>
                <a:latin typeface="メイリオ"/>
                <a:ea typeface="メイリオ"/>
              </a:rPr>
              <a:t> 夕会</a:t>
            </a:r>
            <a:endParaRPr lang="en-US" altLang="ja-JP">
              <a:solidFill>
                <a:srgbClr val="FF0000"/>
              </a:solidFill>
              <a:latin typeface="メイリオ"/>
              <a:ea typeface="メイリオ"/>
            </a:endParaRPr>
          </a:p>
          <a:p>
            <a:pPr marL="0" indent="0">
              <a:buNone/>
            </a:pPr>
            <a:r>
              <a:rPr lang="en-US" altLang="ja-JP">
                <a:latin typeface="メイリオ"/>
                <a:ea typeface="メイリオ"/>
              </a:rPr>
              <a:t>1900</a:t>
            </a:r>
            <a:r>
              <a:rPr lang="ja-JP" altLang="en-US">
                <a:latin typeface="メイリオ"/>
                <a:ea typeface="メイリオ"/>
              </a:rPr>
              <a:t> 解散</a:t>
            </a:r>
            <a:br>
              <a:rPr lang="en-US" altLang="ja-JP">
                <a:latin typeface="メイリオ" panose="020B0604030504040204" pitchFamily="50" charset="-128"/>
                <a:ea typeface="メイリオ" panose="020B0604030504040204" pitchFamily="50" charset="-128"/>
              </a:rPr>
            </a:br>
            <a:endParaRPr lang="en-US" altLang="ja-JP">
              <a:latin typeface="メイリオ" panose="020B0604030504040204" pitchFamily="50" charset="-128"/>
              <a:ea typeface="メイリオ" panose="020B0604030504040204" pitchFamily="50" charset="-128"/>
            </a:endParaRPr>
          </a:p>
          <a:p>
            <a:pPr marL="0" indent="0">
              <a:buNone/>
            </a:pPr>
            <a:r>
              <a:rPr kumimoji="1" lang="en-US" altLang="ja-JP">
                <a:latin typeface="メイリオ"/>
                <a:ea typeface="メイリオ"/>
              </a:rPr>
              <a:t>※</a:t>
            </a:r>
            <a:r>
              <a:rPr kumimoji="1" lang="ja-JP" altLang="en-US">
                <a:latin typeface="メイリオ"/>
                <a:ea typeface="メイリオ"/>
              </a:rPr>
              <a:t>余裕があれば</a:t>
            </a:r>
            <a:r>
              <a:rPr kumimoji="1" lang="en-US" altLang="ja-JP">
                <a:latin typeface="メイリオ"/>
                <a:ea typeface="メイリオ"/>
              </a:rPr>
              <a:t>2</a:t>
            </a:r>
            <a:r>
              <a:rPr kumimoji="1" lang="ja-JP" altLang="en-US">
                <a:latin typeface="メイリオ"/>
                <a:ea typeface="メイリオ"/>
              </a:rPr>
              <a:t>日目以降のタスクを進めてください。</a:t>
            </a:r>
            <a:endParaRPr kumimoji="1" lang="en-US" altLang="ja-JP">
              <a:latin typeface="メイリオ"/>
              <a:ea typeface="メイリオ"/>
            </a:endParaRPr>
          </a:p>
          <a:p>
            <a:pPr marL="0" indent="0">
              <a:buNone/>
            </a:pPr>
            <a:r>
              <a:rPr kumimoji="1" lang="en-US" altLang="ja-JP">
                <a:latin typeface="メイリオ"/>
                <a:ea typeface="メイリオ"/>
              </a:rPr>
              <a:t>※</a:t>
            </a:r>
            <a:r>
              <a:rPr kumimoji="1" lang="ja-JP" altLang="en-US">
                <a:latin typeface="メイリオ"/>
                <a:ea typeface="メイリオ"/>
              </a:rPr>
              <a:t>トイレに行く、コンビニ行くなどは自由です。</a:t>
            </a:r>
            <a:endParaRPr kumimoji="1" lang="en-US" altLang="ja-JP">
              <a:latin typeface="メイリオ"/>
              <a:ea typeface="メイリオ"/>
            </a:endParaRPr>
          </a:p>
          <a:p>
            <a:pPr marL="0" indent="0">
              <a:buNone/>
            </a:pPr>
            <a:r>
              <a:rPr lang="en-US" altLang="ja-JP">
                <a:latin typeface="メイリオ"/>
                <a:ea typeface="メイリオ"/>
              </a:rPr>
              <a:t>※</a:t>
            </a:r>
            <a:r>
              <a:rPr lang="ja-JP" altLang="en-US">
                <a:latin typeface="メイリオ"/>
                <a:ea typeface="メイリオ"/>
              </a:rPr>
              <a:t>社内での残業は基本</a:t>
            </a:r>
            <a:r>
              <a:rPr lang="en-US" altLang="ja-JP">
                <a:latin typeface="メイリオ"/>
                <a:ea typeface="メイリオ"/>
              </a:rPr>
              <a:t>NG</a:t>
            </a:r>
            <a:r>
              <a:rPr lang="ja-JP" altLang="en-US">
                <a:latin typeface="メイリオ"/>
                <a:ea typeface="メイリオ"/>
              </a:rPr>
              <a:t>なので</a:t>
            </a:r>
            <a:r>
              <a:rPr lang="en-US" altLang="ja-JP">
                <a:latin typeface="メイリオ"/>
                <a:ea typeface="メイリオ"/>
              </a:rPr>
              <a:t>19:00</a:t>
            </a:r>
            <a:r>
              <a:rPr lang="ja-JP" altLang="en-US">
                <a:latin typeface="メイリオ"/>
                <a:ea typeface="メイリオ"/>
              </a:rPr>
              <a:t>ですぐにご帰宅ください。</a:t>
            </a:r>
            <a:endParaRPr lang="en-US" altLang="ja-JP">
              <a:latin typeface="メイリオ"/>
              <a:ea typeface="メイリオ"/>
            </a:endParaRPr>
          </a:p>
          <a:p>
            <a:pPr marL="0" indent="0">
              <a:buNone/>
            </a:pPr>
            <a:r>
              <a:rPr kumimoji="1" lang="en-US" altLang="ja-JP">
                <a:latin typeface="メイリオ"/>
                <a:ea typeface="メイリオ"/>
              </a:rPr>
              <a:t>※PC</a:t>
            </a:r>
            <a:r>
              <a:rPr lang="ja-JP" altLang="en-US">
                <a:latin typeface="メイリオ"/>
                <a:ea typeface="メイリオ"/>
              </a:rPr>
              <a:t>を</a:t>
            </a:r>
            <a:r>
              <a:rPr kumimoji="1" lang="ja-JP" altLang="en-US">
                <a:latin typeface="メイリオ"/>
                <a:ea typeface="メイリオ"/>
              </a:rPr>
              <a:t>持ち帰っても作業しても大丈夫です。個人利用はしないでください。</a:t>
            </a:r>
            <a:endParaRPr lang="ja-JP" altLang="en-US">
              <a:latin typeface="メイリオ"/>
              <a:ea typeface="メイリオ"/>
            </a:endParaRPr>
          </a:p>
        </p:txBody>
      </p:sp>
    </p:spTree>
    <p:extLst>
      <p:ext uri="{BB962C8B-B14F-4D97-AF65-F5344CB8AC3E}">
        <p14:creationId xmlns:p14="http://schemas.microsoft.com/office/powerpoint/2010/main" val="3694951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A149C3-C0AA-43BC-B984-0F0C3F2F7495}"/>
              </a:ext>
            </a:extLst>
          </p:cNvPr>
          <p:cNvSpPr>
            <a:spLocks noGrp="1"/>
          </p:cNvSpPr>
          <p:nvPr>
            <p:ph type="title"/>
          </p:nvPr>
        </p:nvSpPr>
        <p:spPr>
          <a:xfrm>
            <a:off x="838200" y="74089"/>
            <a:ext cx="10515600" cy="1325563"/>
          </a:xfrm>
        </p:spPr>
        <p:txBody>
          <a:bodyPr/>
          <a:lstStyle/>
          <a:p>
            <a:r>
              <a:rPr kumimoji="1" lang="en-US" altLang="ja-JP"/>
              <a:t>2</a:t>
            </a:r>
            <a:r>
              <a:rPr kumimoji="1" lang="ja-JP" altLang="en-US"/>
              <a:t>～</a:t>
            </a:r>
            <a:r>
              <a:rPr kumimoji="1" lang="en-US" altLang="ja-JP"/>
              <a:t>3</a:t>
            </a:r>
            <a:r>
              <a:rPr kumimoji="1" lang="ja-JP" altLang="en-US"/>
              <a:t>日目　設計フェーズ</a:t>
            </a:r>
          </a:p>
        </p:txBody>
      </p:sp>
      <p:sp>
        <p:nvSpPr>
          <p:cNvPr id="3" name="コンテンツ プレースホルダー 2">
            <a:extLst>
              <a:ext uri="{FF2B5EF4-FFF2-40B4-BE49-F238E27FC236}">
                <a16:creationId xmlns:a16="http://schemas.microsoft.com/office/drawing/2014/main" id="{0E87E005-D634-43D0-8492-5AFB38791A45}"/>
              </a:ext>
            </a:extLst>
          </p:cNvPr>
          <p:cNvSpPr>
            <a:spLocks noGrp="1"/>
          </p:cNvSpPr>
          <p:nvPr>
            <p:ph idx="1"/>
          </p:nvPr>
        </p:nvSpPr>
        <p:spPr>
          <a:xfrm>
            <a:off x="643217" y="1265837"/>
            <a:ext cx="11145371" cy="4989997"/>
          </a:xfrm>
        </p:spPr>
        <p:txBody>
          <a:bodyPr>
            <a:noAutofit/>
          </a:bodyPr>
          <a:lstStyle/>
          <a:p>
            <a:pPr marL="0" indent="0">
              <a:lnSpc>
                <a:spcPct val="50000"/>
              </a:lnSpc>
              <a:buNone/>
            </a:pPr>
            <a:r>
              <a:rPr lang="ja-JP" altLang="en-US" sz="1600">
                <a:latin typeface="メイリオ" panose="020B0604030504040204" pitchFamily="50" charset="-128"/>
                <a:ea typeface="メイリオ" panose="020B0604030504040204" pitchFamily="50" charset="-128"/>
              </a:rPr>
              <a:t>成果物（個別に担当者を設定して作成）</a:t>
            </a:r>
            <a:endParaRPr lang="en-US" altLang="ja-JP" sz="1600">
              <a:latin typeface="メイリオ" panose="020B0604030504040204" pitchFamily="50" charset="-128"/>
              <a:ea typeface="メイリオ" panose="020B0604030504040204" pitchFamily="50" charset="-128"/>
            </a:endParaRPr>
          </a:p>
          <a:p>
            <a:pPr>
              <a:lnSpc>
                <a:spcPct val="50000"/>
              </a:lnSpc>
            </a:pPr>
            <a:r>
              <a:rPr lang="ja-JP" altLang="en-US" sz="1600">
                <a:latin typeface="メイリオ" panose="020B0604030504040204" pitchFamily="50" charset="-128"/>
                <a:ea typeface="メイリオ" panose="020B0604030504040204" pitchFamily="50" charset="-128"/>
              </a:rPr>
              <a:t>技術要素一覧（</a:t>
            </a:r>
            <a:r>
              <a:rPr lang="en-US" altLang="ja-JP" sz="1600">
                <a:latin typeface="メイリオ" panose="020B0604030504040204" pitchFamily="50" charset="-128"/>
                <a:ea typeface="メイリオ" panose="020B0604030504040204" pitchFamily="50" charset="-128"/>
              </a:rPr>
              <a:t>Excel</a:t>
            </a:r>
            <a:r>
              <a:rPr lang="ja-JP" altLang="en-US" sz="1600">
                <a:latin typeface="メイリオ" panose="020B0604030504040204" pitchFamily="50" charset="-128"/>
                <a:ea typeface="メイリオ" panose="020B0604030504040204" pitchFamily="50" charset="-128"/>
              </a:rPr>
              <a:t>） ：使用する言語、フレームワーク、</a:t>
            </a:r>
            <a:r>
              <a:rPr lang="en-US" altLang="ja-JP" sz="1600">
                <a:latin typeface="メイリオ" panose="020B0604030504040204" pitchFamily="50" charset="-128"/>
                <a:ea typeface="メイリオ" panose="020B0604030504040204" pitchFamily="50" charset="-128"/>
              </a:rPr>
              <a:t>DB</a:t>
            </a:r>
            <a:r>
              <a:rPr lang="ja-JP" altLang="en-US" sz="1600">
                <a:latin typeface="メイリオ" panose="020B0604030504040204" pitchFamily="50" charset="-128"/>
                <a:ea typeface="メイリオ" panose="020B0604030504040204" pitchFamily="50" charset="-128"/>
              </a:rPr>
              <a:t>、</a:t>
            </a:r>
            <a:r>
              <a:rPr lang="en-US" altLang="ja-JP" sz="1600">
                <a:latin typeface="メイリオ" panose="020B0604030504040204" pitchFamily="50" charset="-128"/>
                <a:ea typeface="メイリオ" panose="020B0604030504040204" pitchFamily="50" charset="-128"/>
              </a:rPr>
              <a:t>OS</a:t>
            </a:r>
            <a:r>
              <a:rPr lang="ja-JP" altLang="en-US" sz="1600">
                <a:latin typeface="メイリオ" panose="020B0604030504040204" pitchFamily="50" charset="-128"/>
                <a:ea typeface="メイリオ" panose="020B0604030504040204" pitchFamily="50" charset="-128"/>
              </a:rPr>
              <a:t>、他ソフトウェア、バージョン番号、選定理由</a:t>
            </a:r>
            <a:endParaRPr lang="en-US" altLang="ja-JP" sz="1600">
              <a:latin typeface="メイリオ" panose="020B0604030504040204" pitchFamily="50" charset="-128"/>
              <a:ea typeface="メイリオ" panose="020B0604030504040204" pitchFamily="50" charset="-128"/>
            </a:endParaRPr>
          </a:p>
          <a:p>
            <a:pPr>
              <a:lnSpc>
                <a:spcPct val="50000"/>
              </a:lnSpc>
            </a:pPr>
            <a:r>
              <a:rPr lang="ja-JP" altLang="en-US" sz="1600">
                <a:latin typeface="メイリオ" panose="020B0604030504040204" pitchFamily="50" charset="-128"/>
                <a:ea typeface="メイリオ" panose="020B0604030504040204" pitchFamily="50" charset="-128"/>
              </a:rPr>
              <a:t>システム構成図（フォーマットなし）、</a:t>
            </a:r>
            <a:r>
              <a:rPr lang="en-US" altLang="ja-JP" sz="1600">
                <a:latin typeface="メイリオ" panose="020B0604030504040204" pitchFamily="50" charset="-128"/>
                <a:ea typeface="メイリオ" panose="020B0604030504040204" pitchFamily="50" charset="-128"/>
              </a:rPr>
              <a:t>DB</a:t>
            </a:r>
            <a:r>
              <a:rPr lang="ja-JP" altLang="en-US" sz="1600">
                <a:latin typeface="メイリオ" panose="020B0604030504040204" pitchFamily="50" charset="-128"/>
                <a:ea typeface="メイリオ" panose="020B0604030504040204" pitchFamily="50" charset="-128"/>
              </a:rPr>
              <a:t>設計書（</a:t>
            </a:r>
            <a:r>
              <a:rPr lang="en-US" altLang="ja-JP" sz="1600">
                <a:latin typeface="メイリオ" panose="020B0604030504040204" pitchFamily="50" charset="-128"/>
                <a:ea typeface="メイリオ" panose="020B0604030504040204" pitchFamily="50" charset="-128"/>
              </a:rPr>
              <a:t>Excel</a:t>
            </a:r>
            <a:r>
              <a:rPr lang="ja-JP" altLang="en-US" sz="1600">
                <a:latin typeface="メイリオ" panose="020B0604030504040204" pitchFamily="50" charset="-128"/>
                <a:ea typeface="メイリオ" panose="020B0604030504040204" pitchFamily="50" charset="-128"/>
              </a:rPr>
              <a:t>）、</a:t>
            </a:r>
            <a:r>
              <a:rPr lang="en-US" altLang="ja-JP" sz="1600">
                <a:latin typeface="メイリオ" panose="020B0604030504040204" pitchFamily="50" charset="-128"/>
                <a:ea typeface="メイリオ" panose="020B0604030504040204" pitchFamily="50" charset="-128"/>
              </a:rPr>
              <a:t>API</a:t>
            </a:r>
            <a:r>
              <a:rPr lang="ja-JP" altLang="en-US" sz="1600">
                <a:latin typeface="メイリオ" panose="020B0604030504040204" pitchFamily="50" charset="-128"/>
                <a:ea typeface="メイリオ" panose="020B0604030504040204" pitchFamily="50" charset="-128"/>
              </a:rPr>
              <a:t> </a:t>
            </a:r>
            <a:r>
              <a:rPr lang="en-US" altLang="ja-JP" sz="1600">
                <a:latin typeface="メイリオ" panose="020B0604030504040204" pitchFamily="50" charset="-128"/>
                <a:ea typeface="メイリオ" panose="020B0604030504040204" pitchFamily="50" charset="-128"/>
              </a:rPr>
              <a:t>URL</a:t>
            </a:r>
            <a:r>
              <a:rPr lang="ja-JP" altLang="en-US" sz="1600">
                <a:latin typeface="メイリオ" panose="020B0604030504040204" pitchFamily="50" charset="-128"/>
                <a:ea typeface="メイリオ" panose="020B0604030504040204" pitchFamily="50" charset="-128"/>
              </a:rPr>
              <a:t>一覧（</a:t>
            </a:r>
            <a:r>
              <a:rPr lang="en-US" altLang="ja-JP" sz="1600">
                <a:latin typeface="メイリオ" panose="020B0604030504040204" pitchFamily="50" charset="-128"/>
                <a:ea typeface="メイリオ" panose="020B0604030504040204" pitchFamily="50" charset="-128"/>
              </a:rPr>
              <a:t>Excel</a:t>
            </a:r>
            <a:r>
              <a:rPr lang="ja-JP" altLang="en-US" sz="1600">
                <a:latin typeface="メイリオ" panose="020B0604030504040204" pitchFamily="50" charset="-128"/>
                <a:ea typeface="メイリオ" panose="020B0604030504040204" pitchFamily="50" charset="-128"/>
              </a:rPr>
              <a:t>）</a:t>
            </a:r>
            <a:endParaRPr lang="en-US" altLang="ja-JP" sz="1600">
              <a:latin typeface="メイリオ" panose="020B0604030504040204" pitchFamily="50" charset="-128"/>
              <a:ea typeface="メイリオ" panose="020B0604030504040204" pitchFamily="50" charset="-128"/>
            </a:endParaRPr>
          </a:p>
          <a:p>
            <a:pPr>
              <a:lnSpc>
                <a:spcPct val="50000"/>
              </a:lnSpc>
            </a:pPr>
            <a:r>
              <a:rPr lang="ja-JP" altLang="en-US" sz="1600">
                <a:latin typeface="メイリオ" panose="020B0604030504040204" pitchFamily="50" charset="-128"/>
                <a:ea typeface="メイリオ" panose="020B0604030504040204" pitchFamily="50" charset="-128"/>
              </a:rPr>
              <a:t>ローカル環境構築手順書</a:t>
            </a:r>
            <a:r>
              <a:rPr lang="ja-JP" altLang="en-US" sz="1600"/>
              <a:t>（</a:t>
            </a:r>
            <a:r>
              <a:rPr lang="en-US" altLang="ja-JP" sz="1600"/>
              <a:t>README</a:t>
            </a:r>
            <a:r>
              <a:rPr lang="ja-JP" altLang="en-US" sz="1600"/>
              <a:t>） </a:t>
            </a:r>
            <a:r>
              <a:rPr lang="ja-JP" altLang="en-US" sz="1600">
                <a:latin typeface="メイリオ" panose="020B0604030504040204" pitchFamily="50" charset="-128"/>
                <a:ea typeface="メイリオ" panose="020B0604030504040204" pitchFamily="50" charset="-128"/>
              </a:rPr>
              <a:t>（フォーマットなし）</a:t>
            </a:r>
            <a:endParaRPr lang="en-US" altLang="ja-JP" sz="1600">
              <a:latin typeface="メイリオ" panose="020B0604030504040204" pitchFamily="50" charset="-128"/>
              <a:ea typeface="メイリオ" panose="020B0604030504040204" pitchFamily="50" charset="-128"/>
            </a:endParaRPr>
          </a:p>
          <a:p>
            <a:pPr marL="0" indent="0">
              <a:lnSpc>
                <a:spcPct val="50000"/>
              </a:lnSpc>
              <a:buNone/>
            </a:pPr>
            <a:r>
              <a:rPr lang="ja-JP" altLang="en-US" sz="1600">
                <a:latin typeface="メイリオ" panose="020B0604030504040204" pitchFamily="50" charset="-128"/>
                <a:ea typeface="メイリオ" panose="020B0604030504040204" pitchFamily="50" charset="-128"/>
              </a:rPr>
              <a:t>→ 上記のドキュメントはチーム内でレビューしたらメンターへレビュー依頼（チケットに添付またはリンク）</a:t>
            </a:r>
            <a:endParaRPr lang="en-US" altLang="ja-JP" sz="1600">
              <a:latin typeface="メイリオ" panose="020B0604030504040204" pitchFamily="50" charset="-128"/>
              <a:ea typeface="メイリオ" panose="020B0604030504040204" pitchFamily="50" charset="-128"/>
            </a:endParaRPr>
          </a:p>
          <a:p>
            <a:pPr marL="0" indent="0">
              <a:lnSpc>
                <a:spcPct val="50000"/>
              </a:lnSpc>
              <a:buNone/>
            </a:pPr>
            <a:endParaRPr lang="en-US" altLang="ja-JP" sz="1600">
              <a:latin typeface="メイリオ" panose="020B0604030504040204" pitchFamily="50" charset="-128"/>
              <a:ea typeface="メイリオ" panose="020B0604030504040204" pitchFamily="50" charset="-128"/>
            </a:endParaRPr>
          </a:p>
          <a:p>
            <a:pPr marL="0" indent="0">
              <a:lnSpc>
                <a:spcPct val="50000"/>
              </a:lnSpc>
              <a:buNone/>
            </a:pPr>
            <a:r>
              <a:rPr lang="ja-JP" altLang="en-US" sz="1600">
                <a:latin typeface="メイリオ" panose="020B0604030504040204" pitchFamily="50" charset="-128"/>
                <a:ea typeface="メイリオ" panose="020B0604030504040204" pitchFamily="50" charset="-128"/>
              </a:rPr>
              <a:t>（</a:t>
            </a:r>
            <a:r>
              <a:rPr lang="en-US" altLang="ja-JP" sz="1600">
                <a:latin typeface="メイリオ" panose="020B0604030504040204" pitchFamily="50" charset="-128"/>
                <a:ea typeface="メイリオ" panose="020B0604030504040204" pitchFamily="50" charset="-128"/>
              </a:rPr>
              <a:t>3</a:t>
            </a:r>
            <a:r>
              <a:rPr lang="ja-JP" altLang="en-US" sz="1600">
                <a:latin typeface="メイリオ" panose="020B0604030504040204" pitchFamily="50" charset="-128"/>
                <a:ea typeface="メイリオ" panose="020B0604030504040204" pitchFamily="50" charset="-128"/>
              </a:rPr>
              <a:t>日目の夕会までにチーム全員で進める）</a:t>
            </a:r>
            <a:endParaRPr lang="en-US" altLang="ja-JP" sz="1600">
              <a:latin typeface="メイリオ" panose="020B0604030504040204" pitchFamily="50" charset="-128"/>
              <a:ea typeface="メイリオ" panose="020B0604030504040204" pitchFamily="50" charset="-128"/>
            </a:endParaRPr>
          </a:p>
          <a:p>
            <a:pPr>
              <a:lnSpc>
                <a:spcPct val="50000"/>
              </a:lnSpc>
            </a:pPr>
            <a:r>
              <a:rPr lang="ja-JP" altLang="en-US" sz="1600">
                <a:latin typeface="メイリオ" panose="020B0604030504040204" pitchFamily="50" charset="-128"/>
                <a:ea typeface="メイリオ" panose="020B0604030504040204" pitchFamily="50" charset="-128"/>
              </a:rPr>
              <a:t>チームリードを決める</a:t>
            </a:r>
            <a:endParaRPr lang="en-US" altLang="ja-JP" sz="1600">
              <a:latin typeface="メイリオ" panose="020B0604030504040204" pitchFamily="50" charset="-128"/>
              <a:ea typeface="メイリオ" panose="020B0604030504040204" pitchFamily="50" charset="-128"/>
            </a:endParaRPr>
          </a:p>
          <a:p>
            <a:pPr>
              <a:lnSpc>
                <a:spcPct val="50000"/>
              </a:lnSpc>
            </a:pPr>
            <a:r>
              <a:rPr lang="ja-JP" altLang="en-US" sz="1600">
                <a:latin typeface="メイリオ" panose="020B0604030504040204" pitchFamily="50" charset="-128"/>
                <a:ea typeface="メイリオ" panose="020B0604030504040204" pitchFamily="50" charset="-128"/>
              </a:rPr>
              <a:t>自分がメインで担当するタスクを決める（≒最終プレゼン内容）</a:t>
            </a:r>
            <a:endParaRPr lang="en-US" altLang="ja-JP" sz="1600">
              <a:latin typeface="メイリオ" panose="020B0604030504040204" pitchFamily="50" charset="-128"/>
              <a:ea typeface="メイリオ" panose="020B0604030504040204" pitchFamily="50" charset="-128"/>
            </a:endParaRPr>
          </a:p>
          <a:p>
            <a:pPr>
              <a:lnSpc>
                <a:spcPct val="50000"/>
              </a:lnSpc>
            </a:pPr>
            <a:r>
              <a:rPr lang="ja-JP" altLang="en-US" sz="1600">
                <a:latin typeface="メイリオ" panose="020B0604030504040204" pitchFamily="50" charset="-128"/>
                <a:ea typeface="メイリオ" panose="020B0604030504040204" pitchFamily="50" charset="-128"/>
              </a:rPr>
              <a:t>より詳細なタスクをチケット化</a:t>
            </a:r>
            <a:endParaRPr lang="en-US" altLang="ja-JP" sz="1600">
              <a:latin typeface="メイリオ" panose="020B0604030504040204" pitchFamily="50" charset="-128"/>
              <a:ea typeface="メイリオ" panose="020B0604030504040204" pitchFamily="50" charset="-128"/>
            </a:endParaRPr>
          </a:p>
          <a:p>
            <a:pPr marL="0" indent="0">
              <a:lnSpc>
                <a:spcPct val="50000"/>
              </a:lnSpc>
              <a:buNone/>
            </a:pPr>
            <a:endParaRPr lang="en-US" altLang="ja-JP" sz="1600">
              <a:latin typeface="メイリオ" panose="020B0604030504040204" pitchFamily="50" charset="-128"/>
              <a:ea typeface="メイリオ" panose="020B0604030504040204" pitchFamily="50" charset="-128"/>
            </a:endParaRPr>
          </a:p>
          <a:p>
            <a:pPr marL="0" indent="0">
              <a:lnSpc>
                <a:spcPct val="50000"/>
              </a:lnSpc>
              <a:buNone/>
            </a:pPr>
            <a:r>
              <a:rPr lang="en-US" altLang="ja-JP" sz="1600">
                <a:latin typeface="メイリオ" panose="020B0604030504040204" pitchFamily="50" charset="-128"/>
                <a:ea typeface="メイリオ" panose="020B0604030504040204" pitchFamily="50" charset="-128"/>
              </a:rPr>
              <a:t>1000</a:t>
            </a:r>
            <a:r>
              <a:rPr lang="ja-JP" altLang="en-US" sz="1600">
                <a:latin typeface="メイリオ" panose="020B0604030504040204" pitchFamily="50" charset="-128"/>
                <a:ea typeface="メイリオ" panose="020B0604030504040204" pitchFamily="50" charset="-128"/>
              </a:rPr>
              <a:t> 朝会（個人がやったこと、これからやること、問題点の相談）（</a:t>
            </a:r>
            <a:r>
              <a:rPr lang="en-US" altLang="ja-JP" sz="1600">
                <a:latin typeface="メイリオ" panose="020B0604030504040204" pitchFamily="50" charset="-128"/>
                <a:ea typeface="メイリオ" panose="020B0604030504040204" pitchFamily="50" charset="-128"/>
              </a:rPr>
              <a:t>2</a:t>
            </a:r>
            <a:r>
              <a:rPr lang="ja-JP" altLang="en-US" sz="1600">
                <a:latin typeface="メイリオ" panose="020B0604030504040204" pitchFamily="50" charset="-128"/>
                <a:ea typeface="メイリオ" panose="020B0604030504040204" pitchFamily="50" charset="-128"/>
              </a:rPr>
              <a:t>分前に</a:t>
            </a:r>
            <a:r>
              <a:rPr lang="en-US" altLang="ja-JP" sz="1600">
                <a:latin typeface="メイリオ" panose="020B0604030504040204" pitchFamily="50" charset="-128"/>
                <a:ea typeface="メイリオ" panose="020B0604030504040204" pitchFamily="50" charset="-128"/>
              </a:rPr>
              <a:t>Zoom</a:t>
            </a:r>
            <a:r>
              <a:rPr lang="ja-JP" altLang="en-US" sz="1600">
                <a:latin typeface="メイリオ" panose="020B0604030504040204" pitchFamily="50" charset="-128"/>
                <a:ea typeface="メイリオ" panose="020B0604030504040204" pitchFamily="50" charset="-128"/>
              </a:rPr>
              <a:t>に入ってください）</a:t>
            </a:r>
            <a:endParaRPr lang="en-US" altLang="ja-JP" sz="1600">
              <a:latin typeface="メイリオ" panose="020B0604030504040204" pitchFamily="50" charset="-128"/>
              <a:ea typeface="メイリオ" panose="020B0604030504040204" pitchFamily="50" charset="-128"/>
            </a:endParaRPr>
          </a:p>
          <a:p>
            <a:pPr marL="0" indent="0">
              <a:lnSpc>
                <a:spcPct val="50000"/>
              </a:lnSpc>
              <a:buNone/>
            </a:pPr>
            <a:r>
              <a:rPr lang="en-US" altLang="ja-JP" sz="1600">
                <a:latin typeface="メイリオ" panose="020B0604030504040204" pitchFamily="50" charset="-128"/>
                <a:ea typeface="メイリオ" panose="020B0604030504040204" pitchFamily="50" charset="-128"/>
              </a:rPr>
              <a:t>1010</a:t>
            </a:r>
            <a:r>
              <a:rPr lang="ja-JP" altLang="en-US" sz="1600">
                <a:latin typeface="メイリオ" panose="020B0604030504040204" pitchFamily="50" charset="-128"/>
                <a:ea typeface="メイリオ" panose="020B0604030504040204" pitchFamily="50" charset="-128"/>
              </a:rPr>
              <a:t> 作業</a:t>
            </a:r>
            <a:endParaRPr lang="en-US" altLang="ja-JP" sz="1600">
              <a:latin typeface="メイリオ" panose="020B0604030504040204" pitchFamily="50" charset="-128"/>
              <a:ea typeface="メイリオ" panose="020B0604030504040204" pitchFamily="50" charset="-128"/>
            </a:endParaRPr>
          </a:p>
          <a:p>
            <a:pPr marL="0" indent="0">
              <a:lnSpc>
                <a:spcPct val="50000"/>
              </a:lnSpc>
              <a:buNone/>
            </a:pPr>
            <a:r>
              <a:rPr lang="en-US" altLang="ja-JP" sz="1600">
                <a:latin typeface="メイリオ" panose="020B0604030504040204" pitchFamily="50" charset="-128"/>
                <a:ea typeface="メイリオ" panose="020B0604030504040204" pitchFamily="50" charset="-128"/>
              </a:rPr>
              <a:t>1200</a:t>
            </a:r>
            <a:r>
              <a:rPr lang="ja-JP" altLang="en-US" sz="1600">
                <a:latin typeface="メイリオ" panose="020B0604030504040204" pitchFamily="50" charset="-128"/>
                <a:ea typeface="メイリオ" panose="020B0604030504040204" pitchFamily="50" charset="-128"/>
              </a:rPr>
              <a:t> ランチ</a:t>
            </a:r>
            <a:endParaRPr lang="en-US" altLang="ja-JP" sz="1600">
              <a:latin typeface="メイリオ" panose="020B0604030504040204" pitchFamily="50" charset="-128"/>
              <a:ea typeface="メイリオ" panose="020B0604030504040204" pitchFamily="50" charset="-128"/>
            </a:endParaRPr>
          </a:p>
          <a:p>
            <a:pPr marL="0" indent="0">
              <a:lnSpc>
                <a:spcPct val="50000"/>
              </a:lnSpc>
              <a:buNone/>
            </a:pPr>
            <a:r>
              <a:rPr lang="en-US" altLang="ja-JP" sz="1600">
                <a:latin typeface="メイリオ" panose="020B0604030504040204" pitchFamily="50" charset="-128"/>
                <a:ea typeface="メイリオ" panose="020B0604030504040204" pitchFamily="50" charset="-128"/>
              </a:rPr>
              <a:t>1330</a:t>
            </a:r>
            <a:r>
              <a:rPr lang="ja-JP" altLang="en-US" sz="1600">
                <a:latin typeface="メイリオ" panose="020B0604030504040204" pitchFamily="50" charset="-128"/>
                <a:ea typeface="メイリオ" panose="020B0604030504040204" pitchFamily="50" charset="-128"/>
              </a:rPr>
              <a:t> 作業</a:t>
            </a:r>
            <a:endParaRPr lang="en-US" altLang="ja-JP" sz="1600">
              <a:latin typeface="メイリオ" panose="020B0604030504040204" pitchFamily="50" charset="-128"/>
              <a:ea typeface="メイリオ" panose="020B0604030504040204" pitchFamily="50" charset="-128"/>
            </a:endParaRPr>
          </a:p>
          <a:p>
            <a:pPr marL="0" indent="0">
              <a:lnSpc>
                <a:spcPct val="50000"/>
              </a:lnSpc>
              <a:buNone/>
            </a:pPr>
            <a:r>
              <a:rPr lang="en-US" altLang="ja-JP" sz="1600">
                <a:latin typeface="メイリオ" panose="020B0604030504040204" pitchFamily="50" charset="-128"/>
                <a:ea typeface="メイリオ" panose="020B0604030504040204" pitchFamily="50" charset="-128"/>
              </a:rPr>
              <a:t>1500</a:t>
            </a:r>
            <a:r>
              <a:rPr lang="ja-JP" altLang="en-US" sz="1600">
                <a:latin typeface="メイリオ" panose="020B0604030504040204" pitchFamily="50" charset="-128"/>
                <a:ea typeface="メイリオ" panose="020B0604030504040204" pitchFamily="50" charset="-128"/>
              </a:rPr>
              <a:t> カフェタイム</a:t>
            </a:r>
            <a:endParaRPr lang="en-US" altLang="ja-JP" sz="1600">
              <a:latin typeface="メイリオ" panose="020B0604030504040204" pitchFamily="50" charset="-128"/>
              <a:ea typeface="メイリオ" panose="020B0604030504040204" pitchFamily="50" charset="-128"/>
            </a:endParaRPr>
          </a:p>
          <a:p>
            <a:pPr marL="0" indent="0">
              <a:lnSpc>
                <a:spcPct val="50000"/>
              </a:lnSpc>
              <a:buNone/>
            </a:pPr>
            <a:r>
              <a:rPr lang="en-US" altLang="ja-JP" sz="1600">
                <a:latin typeface="メイリオ" panose="020B0604030504040204" pitchFamily="50" charset="-128"/>
                <a:ea typeface="メイリオ" panose="020B0604030504040204" pitchFamily="50" charset="-128"/>
              </a:rPr>
              <a:t>1600</a:t>
            </a:r>
            <a:r>
              <a:rPr lang="ja-JP" altLang="en-US" sz="1600">
                <a:latin typeface="メイリオ" panose="020B0604030504040204" pitchFamily="50" charset="-128"/>
                <a:ea typeface="メイリオ" panose="020B0604030504040204" pitchFamily="50" charset="-128"/>
              </a:rPr>
              <a:t> 夕会</a:t>
            </a:r>
            <a:endParaRPr lang="en-US" altLang="ja-JP" sz="1600">
              <a:latin typeface="メイリオ" panose="020B0604030504040204" pitchFamily="50" charset="-128"/>
              <a:ea typeface="メイリオ" panose="020B0604030504040204" pitchFamily="50" charset="-128"/>
            </a:endParaRPr>
          </a:p>
          <a:p>
            <a:pPr marL="0" indent="0">
              <a:lnSpc>
                <a:spcPct val="50000"/>
              </a:lnSpc>
              <a:buNone/>
            </a:pPr>
            <a:r>
              <a:rPr lang="en-US" altLang="ja-JP" sz="1600">
                <a:latin typeface="メイリオ" panose="020B0604030504040204" pitchFamily="50" charset="-128"/>
                <a:ea typeface="メイリオ" panose="020B0604030504040204" pitchFamily="50" charset="-128"/>
              </a:rPr>
              <a:t>1900</a:t>
            </a:r>
            <a:r>
              <a:rPr lang="ja-JP" altLang="en-US" sz="1600">
                <a:latin typeface="メイリオ" panose="020B0604030504040204" pitchFamily="50" charset="-128"/>
                <a:ea typeface="メイリオ" panose="020B0604030504040204" pitchFamily="50" charset="-128"/>
              </a:rPr>
              <a:t> 解散</a:t>
            </a:r>
            <a:endParaRPr lang="en-US" altLang="ja-JP" sz="1600">
              <a:latin typeface="メイリオ" panose="020B0604030504040204" pitchFamily="50" charset="-128"/>
              <a:ea typeface="メイリオ" panose="020B0604030504040204" pitchFamily="50" charset="-128"/>
            </a:endParaRPr>
          </a:p>
          <a:p>
            <a:pPr marL="0" indent="0">
              <a:lnSpc>
                <a:spcPct val="50000"/>
              </a:lnSpc>
              <a:buNone/>
            </a:pPr>
            <a:endParaRPr lang="en-US" altLang="ja-JP" sz="1600">
              <a:latin typeface="メイリオ" panose="020B0604030504040204" pitchFamily="50" charset="-128"/>
              <a:ea typeface="メイリオ" panose="020B0604030504040204" pitchFamily="50" charset="-128"/>
            </a:endParaRPr>
          </a:p>
          <a:p>
            <a:pPr marL="0" indent="0">
              <a:lnSpc>
                <a:spcPct val="50000"/>
              </a:lnSpc>
              <a:buNone/>
            </a:pPr>
            <a:r>
              <a:rPr lang="en-US" altLang="ja-JP" sz="1600">
                <a:latin typeface="メイリオ" panose="020B0604030504040204" pitchFamily="50" charset="-128"/>
                <a:ea typeface="メイリオ" panose="020B0604030504040204" pitchFamily="50" charset="-128"/>
              </a:rPr>
              <a:t>※</a:t>
            </a:r>
            <a:r>
              <a:rPr lang="ja-JP" altLang="en-US" sz="1600">
                <a:latin typeface="メイリオ" panose="020B0604030504040204" pitchFamily="50" charset="-128"/>
                <a:ea typeface="メイリオ" panose="020B0604030504040204" pitchFamily="50" charset="-128"/>
              </a:rPr>
              <a:t>どこかで「</a:t>
            </a:r>
            <a:r>
              <a:rPr lang="en-US" altLang="ja-JP" sz="1600">
                <a:latin typeface="メイリオ" panose="020B0604030504040204" pitchFamily="50" charset="-128"/>
                <a:ea typeface="メイリオ" panose="020B0604030504040204" pitchFamily="50" charset="-128"/>
              </a:rPr>
              <a:t>DB</a:t>
            </a:r>
            <a:r>
              <a:rPr lang="ja-JP" altLang="en-US" sz="1600">
                <a:latin typeface="メイリオ" panose="020B0604030504040204" pitchFamily="50" charset="-128"/>
                <a:ea typeface="メイリオ" panose="020B0604030504040204" pitchFamily="50" charset="-128"/>
              </a:rPr>
              <a:t>設計」と「インフラ設計」を</a:t>
            </a:r>
            <a:r>
              <a:rPr lang="en-US" altLang="ja-JP" sz="1600">
                <a:latin typeface="メイリオ" panose="020B0604030504040204" pitchFamily="50" charset="-128"/>
                <a:ea typeface="メイリオ" panose="020B0604030504040204" pitchFamily="50" charset="-128"/>
              </a:rPr>
              <a:t>30</a:t>
            </a:r>
            <a:r>
              <a:rPr lang="ja-JP" altLang="en-US" sz="1600">
                <a:latin typeface="メイリオ" panose="020B0604030504040204" pitchFamily="50" charset="-128"/>
                <a:ea typeface="メイリオ" panose="020B0604030504040204" pitchFamily="50" charset="-128"/>
              </a:rPr>
              <a:t>分ずつ話します。</a:t>
            </a:r>
            <a:endParaRPr lang="en-US" altLang="ja-JP" sz="16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476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A149C3-C0AA-43BC-B984-0F0C3F2F7495}"/>
              </a:ext>
            </a:extLst>
          </p:cNvPr>
          <p:cNvSpPr>
            <a:spLocks noGrp="1"/>
          </p:cNvSpPr>
          <p:nvPr>
            <p:ph type="title"/>
          </p:nvPr>
        </p:nvSpPr>
        <p:spPr>
          <a:xfrm>
            <a:off x="838200" y="74089"/>
            <a:ext cx="10515600" cy="1325563"/>
          </a:xfrm>
        </p:spPr>
        <p:txBody>
          <a:bodyPr/>
          <a:lstStyle/>
          <a:p>
            <a:r>
              <a:rPr lang="en-US" altLang="ja-JP"/>
              <a:t>4</a:t>
            </a:r>
            <a:r>
              <a:rPr lang="ja-JP" altLang="en-US"/>
              <a:t>～</a:t>
            </a:r>
            <a:r>
              <a:rPr lang="en-US" altLang="ja-JP"/>
              <a:t>5</a:t>
            </a:r>
            <a:r>
              <a:rPr kumimoji="1" lang="ja-JP" altLang="en-US"/>
              <a:t>日目　実装フェーズ</a:t>
            </a:r>
          </a:p>
        </p:txBody>
      </p:sp>
      <p:sp>
        <p:nvSpPr>
          <p:cNvPr id="3" name="コンテンツ プレースホルダー 2">
            <a:extLst>
              <a:ext uri="{FF2B5EF4-FFF2-40B4-BE49-F238E27FC236}">
                <a16:creationId xmlns:a16="http://schemas.microsoft.com/office/drawing/2014/main" id="{0E87E005-D634-43D0-8492-5AFB38791A45}"/>
              </a:ext>
            </a:extLst>
          </p:cNvPr>
          <p:cNvSpPr>
            <a:spLocks noGrp="1"/>
          </p:cNvSpPr>
          <p:nvPr>
            <p:ph idx="1"/>
          </p:nvPr>
        </p:nvSpPr>
        <p:spPr>
          <a:xfrm>
            <a:off x="677332" y="1386865"/>
            <a:ext cx="11111256" cy="4758957"/>
          </a:xfrm>
        </p:spPr>
        <p:txBody>
          <a:bodyPr>
            <a:normAutofit fontScale="62500" lnSpcReduction="20000"/>
          </a:bodyPr>
          <a:lstStyle/>
          <a:p>
            <a:pPr marL="0" indent="0">
              <a:buNone/>
            </a:pPr>
            <a:r>
              <a:rPr lang="ja-JP" altLang="en-US">
                <a:latin typeface="メイリオ" panose="020B0604030504040204" pitchFamily="50" charset="-128"/>
                <a:ea typeface="メイリオ" panose="020B0604030504040204" pitchFamily="50" charset="-128"/>
              </a:rPr>
              <a:t>成果物</a:t>
            </a:r>
          </a:p>
          <a:p>
            <a:r>
              <a:rPr lang="ja-JP" altLang="en-US">
                <a:latin typeface="メイリオ" panose="020B0604030504040204" pitchFamily="50" charset="-128"/>
                <a:ea typeface="メイリオ" panose="020B0604030504040204" pitchFamily="50" charset="-128"/>
              </a:rPr>
              <a:t>プログラム実装（完了したらチームの別の人がレビューしてメンターへ飛ばす）</a:t>
            </a:r>
            <a:endParaRPr lang="en-US" altLang="ja-JP">
              <a:latin typeface="メイリオ" panose="020B0604030504040204" pitchFamily="50" charset="-128"/>
              <a:ea typeface="メイリオ" panose="020B0604030504040204" pitchFamily="50" charset="-128"/>
            </a:endParaRPr>
          </a:p>
          <a:p>
            <a:r>
              <a:rPr lang="ja-JP" altLang="en-US">
                <a:latin typeface="メイリオ" panose="020B0604030504040204" pitchFamily="50" charset="-128"/>
                <a:ea typeface="メイリオ" panose="020B0604030504040204" pitchFamily="50" charset="-128"/>
              </a:rPr>
              <a:t>システム構成図、</a:t>
            </a:r>
            <a:r>
              <a:rPr lang="en-US" altLang="ja-JP">
                <a:latin typeface="メイリオ" panose="020B0604030504040204" pitchFamily="50" charset="-128"/>
                <a:ea typeface="メイリオ" panose="020B0604030504040204" pitchFamily="50" charset="-128"/>
              </a:rPr>
              <a:t>DB</a:t>
            </a:r>
            <a:r>
              <a:rPr lang="ja-JP" altLang="en-US">
                <a:latin typeface="メイリオ" panose="020B0604030504040204" pitchFamily="50" charset="-128"/>
                <a:ea typeface="メイリオ" panose="020B0604030504040204" pitchFamily="50" charset="-128"/>
              </a:rPr>
              <a:t>設計のブラッシュアップ</a:t>
            </a:r>
            <a:endParaRPr lang="en-US" altLang="ja-JP">
              <a:latin typeface="メイリオ" panose="020B0604030504040204" pitchFamily="50" charset="-128"/>
              <a:ea typeface="メイリオ" panose="020B0604030504040204" pitchFamily="50" charset="-128"/>
            </a:endParaRPr>
          </a:p>
          <a:p>
            <a:r>
              <a:rPr lang="ja-JP" altLang="en-US">
                <a:latin typeface="メイリオ" panose="020B0604030504040204" pitchFamily="50" charset="-128"/>
                <a:ea typeface="メイリオ" panose="020B0604030504040204" pitchFamily="50" charset="-128"/>
              </a:rPr>
              <a:t>インフラ環境の構築（着手）</a:t>
            </a:r>
            <a:endParaRPr lang="en-US" altLang="ja-JP">
              <a:latin typeface="メイリオ" panose="020B0604030504040204" pitchFamily="50" charset="-128"/>
              <a:ea typeface="メイリオ" panose="020B0604030504040204" pitchFamily="50" charset="-128"/>
            </a:endParaRPr>
          </a:p>
          <a:p>
            <a:pPr marL="0" indent="0">
              <a:buNone/>
            </a:pPr>
            <a:endParaRPr lang="en-US" altLang="ja-JP">
              <a:latin typeface="メイリオ" panose="020B0604030504040204" pitchFamily="50" charset="-128"/>
              <a:ea typeface="メイリオ" panose="020B0604030504040204" pitchFamily="50" charset="-128"/>
            </a:endParaRPr>
          </a:p>
          <a:p>
            <a:pPr marL="0" indent="0">
              <a:buNone/>
            </a:pPr>
            <a:r>
              <a:rPr lang="en-US" altLang="ja-JP">
                <a:latin typeface="メイリオ" panose="020B0604030504040204" pitchFamily="50" charset="-128"/>
                <a:ea typeface="メイリオ" panose="020B0604030504040204" pitchFamily="50" charset="-128"/>
              </a:rPr>
              <a:t>※</a:t>
            </a:r>
            <a:r>
              <a:rPr lang="ja-JP" altLang="en-US">
                <a:latin typeface="メイリオ" panose="020B0604030504040204" pitchFamily="50" charset="-128"/>
                <a:ea typeface="メイリオ" panose="020B0604030504040204" pitchFamily="50" charset="-128"/>
              </a:rPr>
              <a:t>詰まったらチャットでメンターに相談してください。</a:t>
            </a:r>
            <a:endParaRPr lang="en-US" altLang="ja-JP">
              <a:latin typeface="メイリオ" panose="020B0604030504040204" pitchFamily="50" charset="-128"/>
              <a:ea typeface="メイリオ" panose="020B0604030504040204" pitchFamily="50" charset="-128"/>
            </a:endParaRPr>
          </a:p>
          <a:p>
            <a:pPr marL="0" indent="0">
              <a:buNone/>
            </a:pPr>
            <a:r>
              <a:rPr lang="en-US" altLang="ja-JP">
                <a:latin typeface="メイリオ" panose="020B0604030504040204" pitchFamily="50" charset="-128"/>
                <a:ea typeface="メイリオ" panose="020B0604030504040204" pitchFamily="50" charset="-128"/>
              </a:rPr>
              <a:t>※</a:t>
            </a:r>
            <a:r>
              <a:rPr lang="ja-JP" altLang="en-US">
                <a:latin typeface="メイリオ" panose="020B0604030504040204" pitchFamily="50" charset="-128"/>
                <a:ea typeface="メイリオ" panose="020B0604030504040204" pitchFamily="50" charset="-128"/>
              </a:rPr>
              <a:t>チームレビュー完了したらメンターにリンクをチャットしてください。</a:t>
            </a:r>
            <a:endParaRPr lang="en-US" altLang="ja-JP">
              <a:latin typeface="メイリオ" panose="020B0604030504040204" pitchFamily="50" charset="-128"/>
              <a:ea typeface="メイリオ" panose="020B0604030504040204" pitchFamily="50" charset="-128"/>
            </a:endParaRPr>
          </a:p>
          <a:p>
            <a:pPr marL="0" indent="0">
              <a:buNone/>
            </a:pPr>
            <a:r>
              <a:rPr lang="en-US" altLang="ja-JP">
                <a:latin typeface="メイリオ" panose="020B0604030504040204" pitchFamily="50" charset="-128"/>
                <a:ea typeface="メイリオ" panose="020B0604030504040204" pitchFamily="50" charset="-128"/>
              </a:rPr>
              <a:t>※</a:t>
            </a:r>
            <a:r>
              <a:rPr lang="ja-JP" altLang="en-US">
                <a:latin typeface="メイリオ" panose="020B0604030504040204" pitchFamily="50" charset="-128"/>
                <a:ea typeface="メイリオ" panose="020B0604030504040204" pitchFamily="50" charset="-128"/>
              </a:rPr>
              <a:t>日ごとのスケジュールはちょっと変わる可能性あり。当日に</a:t>
            </a:r>
            <a:r>
              <a:rPr lang="en-US" altLang="ja-JP">
                <a:latin typeface="メイリオ" panose="020B0604030504040204" pitchFamily="50" charset="-128"/>
                <a:ea typeface="メイリオ" panose="020B0604030504040204" pitchFamily="50" charset="-128"/>
              </a:rPr>
              <a:t>Fix</a:t>
            </a:r>
            <a:r>
              <a:rPr lang="ja-JP" altLang="en-US">
                <a:latin typeface="メイリオ" panose="020B0604030504040204" pitchFamily="50" charset="-128"/>
                <a:ea typeface="メイリオ" panose="020B0604030504040204" pitchFamily="50" charset="-128"/>
              </a:rPr>
              <a:t>します。</a:t>
            </a:r>
            <a:endParaRPr lang="en-US" altLang="ja-JP">
              <a:latin typeface="メイリオ" panose="020B0604030504040204" pitchFamily="50" charset="-128"/>
              <a:ea typeface="メイリオ" panose="020B0604030504040204" pitchFamily="50" charset="-128"/>
            </a:endParaRPr>
          </a:p>
          <a:p>
            <a:pPr marL="0" indent="0">
              <a:buNone/>
            </a:pPr>
            <a:endParaRPr lang="en-US" altLang="ja-JP">
              <a:latin typeface="メイリオ" panose="020B0604030504040204" pitchFamily="50" charset="-128"/>
              <a:ea typeface="メイリオ" panose="020B0604030504040204" pitchFamily="50" charset="-128"/>
            </a:endParaRPr>
          </a:p>
          <a:p>
            <a:pPr marL="0" indent="0">
              <a:buNone/>
            </a:pPr>
            <a:r>
              <a:rPr lang="en-US" altLang="ja-JP" sz="2600">
                <a:latin typeface="メイリオ" panose="020B0604030504040204" pitchFamily="50" charset="-128"/>
                <a:ea typeface="メイリオ" panose="020B0604030504040204" pitchFamily="50" charset="-128"/>
              </a:rPr>
              <a:t>4</a:t>
            </a:r>
            <a:r>
              <a:rPr lang="ja-JP" altLang="en-US" sz="2600">
                <a:latin typeface="メイリオ" panose="020B0604030504040204" pitchFamily="50" charset="-128"/>
                <a:ea typeface="メイリオ" panose="020B0604030504040204" pitchFamily="50" charset="-128"/>
              </a:rPr>
              <a:t>日目</a:t>
            </a:r>
            <a:endParaRPr lang="en-US" altLang="ja-JP" sz="2600">
              <a:latin typeface="メイリオ" panose="020B0604030504040204" pitchFamily="50" charset="-128"/>
              <a:ea typeface="メイリオ" panose="020B0604030504040204" pitchFamily="50" charset="-128"/>
            </a:endParaRPr>
          </a:p>
          <a:p>
            <a:pPr marL="0" indent="0">
              <a:buNone/>
            </a:pPr>
            <a:r>
              <a:rPr lang="en-US" altLang="ja-JP" sz="2600">
                <a:latin typeface="メイリオ" panose="020B0604030504040204" pitchFamily="50" charset="-128"/>
                <a:ea typeface="メイリオ" panose="020B0604030504040204" pitchFamily="50" charset="-128"/>
              </a:rPr>
              <a:t>1000</a:t>
            </a:r>
            <a:r>
              <a:rPr lang="ja-JP" altLang="en-US" sz="2600">
                <a:latin typeface="メイリオ" panose="020B0604030504040204" pitchFamily="50" charset="-128"/>
                <a:ea typeface="メイリオ" panose="020B0604030504040204" pitchFamily="50" charset="-128"/>
              </a:rPr>
              <a:t> 朝会</a:t>
            </a:r>
            <a:endParaRPr lang="en-US" altLang="ja-JP" sz="2600">
              <a:latin typeface="メイリオ" panose="020B0604030504040204" pitchFamily="50" charset="-128"/>
              <a:ea typeface="メイリオ" panose="020B0604030504040204" pitchFamily="50" charset="-128"/>
            </a:endParaRPr>
          </a:p>
          <a:p>
            <a:pPr marL="0" indent="0">
              <a:buNone/>
            </a:pPr>
            <a:r>
              <a:rPr lang="en-US" altLang="ja-JP" sz="2600">
                <a:latin typeface="メイリオ" panose="020B0604030504040204" pitchFamily="50" charset="-128"/>
                <a:ea typeface="メイリオ" panose="020B0604030504040204" pitchFamily="50" charset="-128"/>
              </a:rPr>
              <a:t>1200</a:t>
            </a:r>
            <a:r>
              <a:rPr lang="ja-JP" altLang="en-US" sz="2600">
                <a:latin typeface="メイリオ" panose="020B0604030504040204" pitchFamily="50" charset="-128"/>
                <a:ea typeface="メイリオ" panose="020B0604030504040204" pitchFamily="50" charset="-128"/>
              </a:rPr>
              <a:t> ランチ</a:t>
            </a:r>
            <a:endParaRPr lang="en-US" altLang="ja-JP" sz="2600">
              <a:latin typeface="メイリオ" panose="020B0604030504040204" pitchFamily="50" charset="-128"/>
              <a:ea typeface="メイリオ" panose="020B0604030504040204" pitchFamily="50" charset="-128"/>
            </a:endParaRPr>
          </a:p>
          <a:p>
            <a:pPr marL="0" indent="0">
              <a:buNone/>
            </a:pPr>
            <a:r>
              <a:rPr lang="en-US" altLang="ja-JP" sz="2600">
                <a:latin typeface="メイリオ" panose="020B0604030504040204" pitchFamily="50" charset="-128"/>
                <a:ea typeface="メイリオ" panose="020B0604030504040204" pitchFamily="50" charset="-128"/>
              </a:rPr>
              <a:t>1500</a:t>
            </a:r>
            <a:r>
              <a:rPr lang="ja-JP" altLang="en-US" sz="2600">
                <a:latin typeface="メイリオ" panose="020B0604030504040204" pitchFamily="50" charset="-128"/>
                <a:ea typeface="メイリオ" panose="020B0604030504040204" pitchFamily="50" charset="-128"/>
              </a:rPr>
              <a:t> カフェタイム</a:t>
            </a:r>
            <a:endParaRPr lang="en-US" altLang="ja-JP" sz="2600">
              <a:latin typeface="メイリオ" panose="020B0604030504040204" pitchFamily="50" charset="-128"/>
              <a:ea typeface="メイリオ" panose="020B0604030504040204" pitchFamily="50" charset="-128"/>
            </a:endParaRPr>
          </a:p>
          <a:p>
            <a:pPr marL="0" indent="0">
              <a:buNone/>
            </a:pPr>
            <a:r>
              <a:rPr lang="en-US" altLang="ja-JP" sz="2600">
                <a:latin typeface="メイリオ" panose="020B0604030504040204" pitchFamily="50" charset="-128"/>
                <a:ea typeface="メイリオ" panose="020B0604030504040204" pitchFamily="50" charset="-128"/>
              </a:rPr>
              <a:t>1600</a:t>
            </a:r>
            <a:r>
              <a:rPr lang="ja-JP" altLang="en-US" sz="2600">
                <a:latin typeface="メイリオ" panose="020B0604030504040204" pitchFamily="50" charset="-128"/>
                <a:ea typeface="メイリオ" panose="020B0604030504040204" pitchFamily="50" charset="-128"/>
              </a:rPr>
              <a:t> 夕会</a:t>
            </a:r>
            <a:endParaRPr lang="en-US" altLang="ja-JP" sz="2600">
              <a:latin typeface="メイリオ" panose="020B0604030504040204" pitchFamily="50" charset="-128"/>
              <a:ea typeface="メイリオ" panose="020B0604030504040204" pitchFamily="50" charset="-128"/>
            </a:endParaRPr>
          </a:p>
          <a:p>
            <a:pPr marL="0" indent="0">
              <a:buNone/>
            </a:pPr>
            <a:r>
              <a:rPr lang="en-US" altLang="ja-JP" sz="2600">
                <a:latin typeface="メイリオ" panose="020B0604030504040204" pitchFamily="50" charset="-128"/>
                <a:ea typeface="メイリオ" panose="020B0604030504040204" pitchFamily="50" charset="-128"/>
              </a:rPr>
              <a:t>1900</a:t>
            </a:r>
            <a:r>
              <a:rPr lang="ja-JP" altLang="en-US" sz="2600">
                <a:latin typeface="メイリオ" panose="020B0604030504040204" pitchFamily="50" charset="-128"/>
                <a:ea typeface="メイリオ" panose="020B0604030504040204" pitchFamily="50" charset="-128"/>
              </a:rPr>
              <a:t> 解散</a:t>
            </a:r>
            <a:endParaRPr lang="en-US" altLang="ja-JP" sz="190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804BC68-915C-4628-85C5-B302F6395D6E}"/>
              </a:ext>
            </a:extLst>
          </p:cNvPr>
          <p:cNvSpPr txBox="1"/>
          <p:nvPr/>
        </p:nvSpPr>
        <p:spPr>
          <a:xfrm>
            <a:off x="4648213" y="4159610"/>
            <a:ext cx="7037296" cy="1569660"/>
          </a:xfrm>
          <a:prstGeom prst="rect">
            <a:avLst/>
          </a:prstGeom>
          <a:noFill/>
        </p:spPr>
        <p:txBody>
          <a:bodyPr wrap="square">
            <a:spAutoFit/>
          </a:bodyPr>
          <a:lstStyle/>
          <a:p>
            <a:pPr marL="0" indent="0">
              <a:buNone/>
            </a:pPr>
            <a:r>
              <a:rPr lang="en-US" altLang="ja-JP" sz="1600">
                <a:latin typeface="メイリオ" panose="020B0604030504040204" pitchFamily="50" charset="-128"/>
                <a:ea typeface="メイリオ" panose="020B0604030504040204" pitchFamily="50" charset="-128"/>
              </a:rPr>
              <a:t>5</a:t>
            </a:r>
            <a:r>
              <a:rPr lang="ja-JP" altLang="en-US" sz="1600">
                <a:latin typeface="メイリオ" panose="020B0604030504040204" pitchFamily="50" charset="-128"/>
                <a:ea typeface="メイリオ" panose="020B0604030504040204" pitchFamily="50" charset="-128"/>
              </a:rPr>
              <a:t>日目</a:t>
            </a:r>
            <a:endParaRPr lang="en-US" altLang="ja-JP" sz="1600">
              <a:latin typeface="メイリオ" panose="020B0604030504040204" pitchFamily="50" charset="-128"/>
              <a:ea typeface="メイリオ" panose="020B0604030504040204" pitchFamily="50" charset="-128"/>
            </a:endParaRPr>
          </a:p>
          <a:p>
            <a:pPr marL="0" indent="0">
              <a:buNone/>
            </a:pPr>
            <a:r>
              <a:rPr lang="en-US" altLang="ja-JP" sz="1600">
                <a:latin typeface="メイリオ" panose="020B0604030504040204" pitchFamily="50" charset="-128"/>
                <a:ea typeface="メイリオ" panose="020B0604030504040204" pitchFamily="50" charset="-128"/>
              </a:rPr>
              <a:t>1000</a:t>
            </a:r>
            <a:r>
              <a:rPr lang="ja-JP" altLang="en-US" sz="1600">
                <a:latin typeface="メイリオ" panose="020B0604030504040204" pitchFamily="50" charset="-128"/>
                <a:ea typeface="メイリオ" panose="020B0604030504040204" pitchFamily="50" charset="-128"/>
              </a:rPr>
              <a:t> 朝会</a:t>
            </a:r>
            <a:endParaRPr lang="en-US" altLang="ja-JP" sz="1600">
              <a:latin typeface="メイリオ" panose="020B0604030504040204" pitchFamily="50" charset="-128"/>
              <a:ea typeface="メイリオ" panose="020B0604030504040204" pitchFamily="50" charset="-128"/>
            </a:endParaRPr>
          </a:p>
          <a:p>
            <a:r>
              <a:rPr lang="en-US" altLang="ja-JP" sz="1600">
                <a:latin typeface="メイリオ" panose="020B0604030504040204" pitchFamily="50" charset="-128"/>
                <a:ea typeface="メイリオ" panose="020B0604030504040204" pitchFamily="50" charset="-128"/>
              </a:rPr>
              <a:t>1200</a:t>
            </a:r>
            <a:r>
              <a:rPr lang="ja-JP" altLang="en-US" sz="1600">
                <a:latin typeface="メイリオ" panose="020B0604030504040204" pitchFamily="50" charset="-128"/>
                <a:ea typeface="メイリオ" panose="020B0604030504040204" pitchFamily="50" charset="-128"/>
              </a:rPr>
              <a:t> ランチ</a:t>
            </a:r>
            <a:br>
              <a:rPr lang="en-US" altLang="ja-JP" sz="1600">
                <a:latin typeface="メイリオ" panose="020B0604030504040204" pitchFamily="50" charset="-128"/>
                <a:ea typeface="メイリオ" panose="020B0604030504040204" pitchFamily="50" charset="-128"/>
              </a:rPr>
            </a:br>
            <a:r>
              <a:rPr lang="en-US" altLang="ja-JP" sz="1600">
                <a:latin typeface="メイリオ" panose="020B0604030504040204" pitchFamily="50" charset="-128"/>
                <a:ea typeface="メイリオ" panose="020B0604030504040204" pitchFamily="50" charset="-128"/>
              </a:rPr>
              <a:t>1500</a:t>
            </a:r>
            <a:r>
              <a:rPr lang="ja-JP" altLang="en-US" sz="1600">
                <a:latin typeface="メイリオ" panose="020B0604030504040204" pitchFamily="50" charset="-128"/>
                <a:ea typeface="メイリオ" panose="020B0604030504040204" pitchFamily="50" charset="-128"/>
              </a:rPr>
              <a:t> カフェタイム</a:t>
            </a:r>
            <a:endParaRPr lang="en-US" altLang="ja-JP" sz="1600">
              <a:latin typeface="メイリオ" panose="020B0604030504040204" pitchFamily="50" charset="-128"/>
              <a:ea typeface="メイリオ" panose="020B0604030504040204" pitchFamily="50" charset="-128"/>
            </a:endParaRPr>
          </a:p>
          <a:p>
            <a:pPr marL="0" indent="0">
              <a:buNone/>
            </a:pPr>
            <a:r>
              <a:rPr lang="en-US" altLang="ja-JP" sz="1600">
                <a:solidFill>
                  <a:srgbClr val="FF0000"/>
                </a:solidFill>
                <a:latin typeface="メイリオ" panose="020B0604030504040204" pitchFamily="50" charset="-128"/>
                <a:ea typeface="メイリオ" panose="020B0604030504040204" pitchFamily="50" charset="-128"/>
              </a:rPr>
              <a:t>1700</a:t>
            </a:r>
            <a:r>
              <a:rPr lang="ja-JP" altLang="en-US" sz="1600">
                <a:solidFill>
                  <a:srgbClr val="FF0000"/>
                </a:solidFill>
                <a:latin typeface="メイリオ" panose="020B0604030504040204" pitchFamily="50" charset="-128"/>
                <a:ea typeface="メイリオ" panose="020B0604030504040204" pitchFamily="50" charset="-128"/>
              </a:rPr>
              <a:t> 説明会</a:t>
            </a:r>
            <a:endParaRPr lang="en-US" altLang="ja-JP" sz="1600">
              <a:solidFill>
                <a:srgbClr val="FF0000"/>
              </a:solidFill>
              <a:latin typeface="メイリオ" panose="020B0604030504040204" pitchFamily="50" charset="-128"/>
              <a:ea typeface="メイリオ" panose="020B0604030504040204" pitchFamily="50" charset="-128"/>
            </a:endParaRPr>
          </a:p>
          <a:p>
            <a:pPr marL="0" indent="0">
              <a:buNone/>
            </a:pPr>
            <a:r>
              <a:rPr lang="en-US" altLang="ja-JP" sz="1600">
                <a:latin typeface="メイリオ" panose="020B0604030504040204" pitchFamily="50" charset="-128"/>
                <a:ea typeface="メイリオ" panose="020B0604030504040204" pitchFamily="50" charset="-128"/>
              </a:rPr>
              <a:t>1900</a:t>
            </a:r>
            <a:r>
              <a:rPr lang="ja-JP" altLang="en-US" sz="1600">
                <a:latin typeface="メイリオ" panose="020B0604030504040204" pitchFamily="50" charset="-128"/>
                <a:ea typeface="メイリオ" panose="020B0604030504040204" pitchFamily="50" charset="-128"/>
              </a:rPr>
              <a:t> 解散</a:t>
            </a:r>
            <a:endParaRPr lang="en-US" altLang="ja-JP" sz="16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656894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A149C3-C0AA-43BC-B984-0F0C3F2F7495}"/>
              </a:ext>
            </a:extLst>
          </p:cNvPr>
          <p:cNvSpPr>
            <a:spLocks noGrp="1"/>
          </p:cNvSpPr>
          <p:nvPr>
            <p:ph type="title"/>
          </p:nvPr>
        </p:nvSpPr>
        <p:spPr>
          <a:xfrm>
            <a:off x="838200" y="74089"/>
            <a:ext cx="10515600" cy="1325563"/>
          </a:xfrm>
        </p:spPr>
        <p:txBody>
          <a:bodyPr/>
          <a:lstStyle/>
          <a:p>
            <a:r>
              <a:rPr lang="en-US" altLang="ja-JP"/>
              <a:t>6</a:t>
            </a:r>
            <a:r>
              <a:rPr lang="ja-JP" altLang="en-US"/>
              <a:t>～</a:t>
            </a:r>
            <a:r>
              <a:rPr lang="en-US" altLang="ja-JP"/>
              <a:t>8</a:t>
            </a:r>
            <a:r>
              <a:rPr kumimoji="1" lang="ja-JP" altLang="en-US"/>
              <a:t>日目　</a:t>
            </a:r>
            <a:r>
              <a:rPr lang="ja-JP" altLang="en-US"/>
              <a:t>結合</a:t>
            </a:r>
            <a:r>
              <a:rPr kumimoji="1" lang="ja-JP" altLang="en-US"/>
              <a:t>テストフェーズ</a:t>
            </a:r>
          </a:p>
        </p:txBody>
      </p:sp>
      <p:sp>
        <p:nvSpPr>
          <p:cNvPr id="3" name="コンテンツ プレースホルダー 2">
            <a:extLst>
              <a:ext uri="{FF2B5EF4-FFF2-40B4-BE49-F238E27FC236}">
                <a16:creationId xmlns:a16="http://schemas.microsoft.com/office/drawing/2014/main" id="{0E87E005-D634-43D0-8492-5AFB38791A45}"/>
              </a:ext>
            </a:extLst>
          </p:cNvPr>
          <p:cNvSpPr>
            <a:spLocks noGrp="1"/>
          </p:cNvSpPr>
          <p:nvPr>
            <p:ph idx="1"/>
          </p:nvPr>
        </p:nvSpPr>
        <p:spPr>
          <a:xfrm>
            <a:off x="668368" y="1180970"/>
            <a:ext cx="11227796" cy="5152923"/>
          </a:xfrm>
        </p:spPr>
        <p:txBody>
          <a:bodyPr>
            <a:normAutofit lnSpcReduction="10000"/>
          </a:bodyPr>
          <a:lstStyle/>
          <a:p>
            <a:pPr marL="0" indent="0">
              <a:buNone/>
            </a:pPr>
            <a:r>
              <a:rPr lang="ja-JP" altLang="en-US" sz="2200">
                <a:latin typeface="メイリオ" panose="020B0604030504040204" pitchFamily="50" charset="-128"/>
                <a:ea typeface="メイリオ" panose="020B0604030504040204" pitchFamily="50" charset="-128"/>
              </a:rPr>
              <a:t>成果物</a:t>
            </a:r>
          </a:p>
          <a:p>
            <a:r>
              <a:rPr lang="ja-JP" altLang="en-US" sz="2200">
                <a:latin typeface="メイリオ" panose="020B0604030504040204" pitchFamily="50" charset="-128"/>
                <a:ea typeface="メイリオ" panose="020B0604030504040204" pitchFamily="50" charset="-128"/>
              </a:rPr>
              <a:t>インフラ環境の構築（セキュリティ設定を最優先）</a:t>
            </a:r>
            <a:endParaRPr lang="en-US" altLang="ja-JP" sz="2200">
              <a:latin typeface="メイリオ" panose="020B0604030504040204" pitchFamily="50" charset="-128"/>
              <a:ea typeface="メイリオ" panose="020B0604030504040204" pitchFamily="50" charset="-128"/>
            </a:endParaRPr>
          </a:p>
          <a:p>
            <a:r>
              <a:rPr lang="ja-JP" altLang="en-US" sz="2200">
                <a:latin typeface="メイリオ" panose="020B0604030504040204" pitchFamily="50" charset="-128"/>
                <a:ea typeface="メイリオ" panose="020B0604030504040204" pitchFamily="50" charset="-128"/>
              </a:rPr>
              <a:t>インフラ環境でデモができる（可能なら</a:t>
            </a:r>
            <a:r>
              <a:rPr lang="en-US" altLang="ja-JP" sz="2200">
                <a:latin typeface="メイリオ" panose="020B0604030504040204" pitchFamily="50" charset="-128"/>
                <a:ea typeface="メイリオ" panose="020B0604030504040204" pitchFamily="50" charset="-128"/>
              </a:rPr>
              <a:t>PowerPoint</a:t>
            </a:r>
            <a:r>
              <a:rPr lang="ja-JP" altLang="en-US" sz="2200">
                <a:latin typeface="メイリオ" panose="020B0604030504040204" pitchFamily="50" charset="-128"/>
                <a:ea typeface="メイリオ" panose="020B0604030504040204" pitchFamily="50" charset="-128"/>
              </a:rPr>
              <a:t>で動画を撮る）</a:t>
            </a:r>
            <a:endParaRPr lang="en-US" altLang="ja-JP" sz="2200">
              <a:latin typeface="メイリオ" panose="020B0604030504040204" pitchFamily="50" charset="-128"/>
              <a:ea typeface="メイリオ" panose="020B0604030504040204" pitchFamily="50" charset="-128"/>
            </a:endParaRPr>
          </a:p>
          <a:p>
            <a:r>
              <a:rPr lang="en-US" altLang="ja-JP" sz="2200" b="1">
                <a:latin typeface="メイリオ" panose="020B0604030504040204" pitchFamily="50" charset="-128"/>
                <a:ea typeface="メイリオ" panose="020B0604030504040204" pitchFamily="50" charset="-128"/>
              </a:rPr>
              <a:t>7</a:t>
            </a:r>
            <a:r>
              <a:rPr lang="ja-JP" altLang="en-US" sz="2200" b="1">
                <a:latin typeface="メイリオ" panose="020B0604030504040204" pitchFamily="50" charset="-128"/>
                <a:ea typeface="メイリオ" panose="020B0604030504040204" pitchFamily="50" charset="-128"/>
              </a:rPr>
              <a:t>日目</a:t>
            </a:r>
            <a:r>
              <a:rPr lang="en-US" altLang="ja-JP" sz="2200" b="1">
                <a:latin typeface="メイリオ" panose="020B0604030504040204" pitchFamily="50" charset="-128"/>
                <a:ea typeface="メイリオ" panose="020B0604030504040204" pitchFamily="50" charset="-128"/>
              </a:rPr>
              <a:t>15:00</a:t>
            </a:r>
            <a:r>
              <a:rPr lang="ja-JP" altLang="en-US" sz="2200" b="1">
                <a:latin typeface="メイリオ" panose="020B0604030504040204" pitchFamily="50" charset="-128"/>
                <a:ea typeface="メイリオ" panose="020B0604030504040204" pitchFamily="50" charset="-128"/>
              </a:rPr>
              <a:t>までにプレゼン資料の初稿を提出</a:t>
            </a:r>
            <a:endParaRPr lang="en-US" altLang="ja-JP" sz="2200" b="1">
              <a:latin typeface="メイリオ" panose="020B0604030504040204" pitchFamily="50" charset="-128"/>
              <a:ea typeface="メイリオ" panose="020B0604030504040204" pitchFamily="50" charset="-128"/>
            </a:endParaRPr>
          </a:p>
          <a:p>
            <a:r>
              <a:rPr lang="en-US" altLang="ja-JP" sz="2200" b="1">
                <a:latin typeface="メイリオ" panose="020B0604030504040204" pitchFamily="50" charset="-128"/>
                <a:ea typeface="メイリオ" panose="020B0604030504040204" pitchFamily="50" charset="-128"/>
              </a:rPr>
              <a:t>8</a:t>
            </a:r>
            <a:r>
              <a:rPr lang="ja-JP" altLang="en-US" sz="2200" b="1">
                <a:latin typeface="メイリオ" panose="020B0604030504040204" pitchFamily="50" charset="-128"/>
                <a:ea typeface="メイリオ" panose="020B0604030504040204" pitchFamily="50" charset="-128"/>
              </a:rPr>
              <a:t>日目は資料作り・デモ作り（もちろん開発継続も</a:t>
            </a:r>
            <a:r>
              <a:rPr lang="en-US" altLang="ja-JP" sz="2200" b="1">
                <a:latin typeface="メイリオ" panose="020B0604030504040204" pitchFamily="50" charset="-128"/>
                <a:ea typeface="メイリオ" panose="020B0604030504040204" pitchFamily="50" charset="-128"/>
              </a:rPr>
              <a:t>OK</a:t>
            </a:r>
            <a:r>
              <a:rPr lang="ja-JP" altLang="en-US" sz="2200" b="1">
                <a:latin typeface="メイリオ" panose="020B0604030504040204" pitchFamily="50" charset="-128"/>
                <a:ea typeface="メイリオ" panose="020B0604030504040204" pitchFamily="50" charset="-128"/>
              </a:rPr>
              <a:t>）</a:t>
            </a:r>
            <a:endParaRPr lang="en-US" altLang="ja-JP" sz="2200" b="1">
              <a:latin typeface="メイリオ" panose="020B0604030504040204" pitchFamily="50" charset="-128"/>
              <a:ea typeface="メイリオ" panose="020B0604030504040204" pitchFamily="50" charset="-128"/>
            </a:endParaRPr>
          </a:p>
          <a:p>
            <a:pPr marL="0" indent="0">
              <a:buNone/>
            </a:pPr>
            <a:endParaRPr lang="en-US" altLang="ja-JP">
              <a:latin typeface="メイリオ" panose="020B0604030504040204" pitchFamily="50" charset="-128"/>
              <a:ea typeface="メイリオ" panose="020B0604030504040204" pitchFamily="50" charset="-128"/>
            </a:endParaRPr>
          </a:p>
          <a:p>
            <a:pPr marL="0" indent="0">
              <a:buNone/>
            </a:pPr>
            <a:r>
              <a:rPr lang="en-US" altLang="ja-JP" sz="2200">
                <a:latin typeface="メイリオ" panose="020B0604030504040204" pitchFamily="50" charset="-128"/>
                <a:ea typeface="メイリオ" panose="020B0604030504040204" pitchFamily="50" charset="-128"/>
              </a:rPr>
              <a:t>6,7,8</a:t>
            </a:r>
            <a:r>
              <a:rPr lang="ja-JP" altLang="en-US" sz="2200">
                <a:latin typeface="メイリオ" panose="020B0604030504040204" pitchFamily="50" charset="-128"/>
                <a:ea typeface="メイリオ" panose="020B0604030504040204" pitchFamily="50" charset="-128"/>
              </a:rPr>
              <a:t>日目</a:t>
            </a:r>
            <a:endParaRPr lang="en-US" altLang="ja-JP" sz="2200">
              <a:latin typeface="メイリオ" panose="020B0604030504040204" pitchFamily="50" charset="-128"/>
              <a:ea typeface="メイリオ" panose="020B0604030504040204" pitchFamily="50" charset="-128"/>
            </a:endParaRPr>
          </a:p>
          <a:p>
            <a:pPr marL="0" indent="0">
              <a:buNone/>
            </a:pPr>
            <a:r>
              <a:rPr lang="en-US" altLang="ja-JP" sz="2200">
                <a:latin typeface="メイリオ" panose="020B0604030504040204" pitchFamily="50" charset="-128"/>
                <a:ea typeface="メイリオ" panose="020B0604030504040204" pitchFamily="50" charset="-128"/>
              </a:rPr>
              <a:t>1000</a:t>
            </a:r>
            <a:r>
              <a:rPr lang="ja-JP" altLang="en-US" sz="2200">
                <a:latin typeface="メイリオ" panose="020B0604030504040204" pitchFamily="50" charset="-128"/>
                <a:ea typeface="メイリオ" panose="020B0604030504040204" pitchFamily="50" charset="-128"/>
              </a:rPr>
              <a:t> 朝会</a:t>
            </a:r>
            <a:endParaRPr lang="en-US" altLang="ja-JP" sz="2200">
              <a:latin typeface="メイリオ" panose="020B0604030504040204" pitchFamily="50" charset="-128"/>
              <a:ea typeface="メイリオ" panose="020B0604030504040204" pitchFamily="50" charset="-128"/>
            </a:endParaRPr>
          </a:p>
          <a:p>
            <a:pPr marL="0" indent="0">
              <a:buNone/>
            </a:pPr>
            <a:r>
              <a:rPr lang="en-US" altLang="ja-JP" sz="2200">
                <a:latin typeface="メイリオ" panose="020B0604030504040204" pitchFamily="50" charset="-128"/>
                <a:ea typeface="メイリオ" panose="020B0604030504040204" pitchFamily="50" charset="-128"/>
              </a:rPr>
              <a:t>1200</a:t>
            </a:r>
            <a:r>
              <a:rPr lang="ja-JP" altLang="en-US" sz="2200">
                <a:latin typeface="メイリオ" panose="020B0604030504040204" pitchFamily="50" charset="-128"/>
                <a:ea typeface="メイリオ" panose="020B0604030504040204" pitchFamily="50" charset="-128"/>
              </a:rPr>
              <a:t> ランチ</a:t>
            </a:r>
            <a:endParaRPr lang="en-US" altLang="ja-JP" sz="2200">
              <a:latin typeface="メイリオ" panose="020B0604030504040204" pitchFamily="50" charset="-128"/>
              <a:ea typeface="メイリオ" panose="020B0604030504040204" pitchFamily="50" charset="-128"/>
            </a:endParaRPr>
          </a:p>
          <a:p>
            <a:pPr marL="0" indent="0">
              <a:buNone/>
            </a:pPr>
            <a:r>
              <a:rPr lang="en-US" altLang="ja-JP" sz="2200">
                <a:latin typeface="メイリオ" panose="020B0604030504040204" pitchFamily="50" charset="-128"/>
                <a:ea typeface="メイリオ" panose="020B0604030504040204" pitchFamily="50" charset="-128"/>
              </a:rPr>
              <a:t>1500</a:t>
            </a:r>
            <a:r>
              <a:rPr lang="ja-JP" altLang="en-US" sz="2200">
                <a:latin typeface="メイリオ" panose="020B0604030504040204" pitchFamily="50" charset="-128"/>
                <a:ea typeface="メイリオ" panose="020B0604030504040204" pitchFamily="50" charset="-128"/>
              </a:rPr>
              <a:t> カフェタイム</a:t>
            </a:r>
            <a:endParaRPr lang="en-US" altLang="ja-JP" sz="2200">
              <a:latin typeface="メイリオ" panose="020B0604030504040204" pitchFamily="50" charset="-128"/>
              <a:ea typeface="メイリオ" panose="020B0604030504040204" pitchFamily="50" charset="-128"/>
            </a:endParaRPr>
          </a:p>
          <a:p>
            <a:pPr marL="0" indent="0">
              <a:buNone/>
            </a:pPr>
            <a:r>
              <a:rPr lang="en-US" altLang="ja-JP" sz="2200">
                <a:latin typeface="メイリオ" panose="020B0604030504040204" pitchFamily="50" charset="-128"/>
                <a:ea typeface="メイリオ" panose="020B0604030504040204" pitchFamily="50" charset="-128"/>
              </a:rPr>
              <a:t>1600</a:t>
            </a:r>
            <a:r>
              <a:rPr lang="ja-JP" altLang="en-US" sz="2200">
                <a:latin typeface="メイリオ" panose="020B0604030504040204" pitchFamily="50" charset="-128"/>
                <a:ea typeface="メイリオ" panose="020B0604030504040204" pitchFamily="50" charset="-128"/>
              </a:rPr>
              <a:t> 夕会</a:t>
            </a:r>
            <a:endParaRPr lang="en-US" altLang="ja-JP" sz="2200">
              <a:latin typeface="メイリオ" panose="020B0604030504040204" pitchFamily="50" charset="-128"/>
              <a:ea typeface="メイリオ" panose="020B0604030504040204" pitchFamily="50" charset="-128"/>
            </a:endParaRPr>
          </a:p>
          <a:p>
            <a:pPr marL="0" indent="0">
              <a:buNone/>
            </a:pPr>
            <a:r>
              <a:rPr lang="en-US" altLang="ja-JP" sz="2200">
                <a:latin typeface="メイリオ" panose="020B0604030504040204" pitchFamily="50" charset="-128"/>
                <a:ea typeface="メイリオ" panose="020B0604030504040204" pitchFamily="50" charset="-128"/>
              </a:rPr>
              <a:t>1900</a:t>
            </a:r>
            <a:r>
              <a:rPr lang="ja-JP" altLang="en-US" sz="2200">
                <a:latin typeface="メイリオ" panose="020B0604030504040204" pitchFamily="50" charset="-128"/>
                <a:ea typeface="メイリオ" panose="020B0604030504040204" pitchFamily="50" charset="-128"/>
              </a:rPr>
              <a:t> 解散</a:t>
            </a:r>
            <a:endParaRPr lang="en-US" altLang="ja-JP">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32470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A149C3-C0AA-43BC-B984-0F0C3F2F7495}"/>
              </a:ext>
            </a:extLst>
          </p:cNvPr>
          <p:cNvSpPr>
            <a:spLocks noGrp="1"/>
          </p:cNvSpPr>
          <p:nvPr>
            <p:ph type="title"/>
          </p:nvPr>
        </p:nvSpPr>
        <p:spPr>
          <a:xfrm>
            <a:off x="838200" y="74089"/>
            <a:ext cx="10515600" cy="1325563"/>
          </a:xfrm>
        </p:spPr>
        <p:txBody>
          <a:bodyPr/>
          <a:lstStyle/>
          <a:p>
            <a:r>
              <a:rPr lang="en-US" altLang="ja-JP"/>
              <a:t>9,</a:t>
            </a:r>
            <a:r>
              <a:rPr lang="ja-JP" altLang="en-US"/>
              <a:t> </a:t>
            </a:r>
            <a:r>
              <a:rPr lang="en-US" altLang="ja-JP"/>
              <a:t>10</a:t>
            </a:r>
            <a:r>
              <a:rPr lang="ja-JP" altLang="en-US"/>
              <a:t>日目 </a:t>
            </a:r>
            <a:endParaRPr kumimoji="1" lang="ja-JP" altLang="en-US"/>
          </a:p>
        </p:txBody>
      </p:sp>
      <p:sp>
        <p:nvSpPr>
          <p:cNvPr id="3" name="コンテンツ プレースホルダー 2">
            <a:extLst>
              <a:ext uri="{FF2B5EF4-FFF2-40B4-BE49-F238E27FC236}">
                <a16:creationId xmlns:a16="http://schemas.microsoft.com/office/drawing/2014/main" id="{0E87E005-D634-43D0-8492-5AFB38791A45}"/>
              </a:ext>
            </a:extLst>
          </p:cNvPr>
          <p:cNvSpPr>
            <a:spLocks noGrp="1"/>
          </p:cNvSpPr>
          <p:nvPr>
            <p:ph idx="1"/>
          </p:nvPr>
        </p:nvSpPr>
        <p:spPr>
          <a:xfrm>
            <a:off x="677333" y="1386865"/>
            <a:ext cx="11193242" cy="4758957"/>
          </a:xfrm>
        </p:spPr>
        <p:txBody>
          <a:bodyPr>
            <a:normAutofit/>
          </a:bodyPr>
          <a:lstStyle/>
          <a:p>
            <a:pPr marL="0" indent="0">
              <a:buNone/>
            </a:pPr>
            <a:r>
              <a:rPr lang="ja-JP" altLang="en-US"/>
              <a:t>成果物</a:t>
            </a:r>
          </a:p>
          <a:p>
            <a:r>
              <a:rPr lang="ja-JP" altLang="en-US"/>
              <a:t>プレゼン資料（メイン担当として対応したタスク）</a:t>
            </a:r>
            <a:endParaRPr lang="en-US" altLang="ja-JP"/>
          </a:p>
          <a:p>
            <a:endParaRPr lang="en-US" altLang="ja-JP"/>
          </a:p>
          <a:p>
            <a:pPr marL="0" indent="0">
              <a:buNone/>
            </a:pPr>
            <a:endParaRPr lang="en-US" altLang="ja-JP"/>
          </a:p>
          <a:p>
            <a:pPr marL="0" indent="0">
              <a:buNone/>
            </a:pPr>
            <a:endParaRPr lang="en-US" altLang="ja-JP"/>
          </a:p>
          <a:p>
            <a:pPr marL="0" indent="0">
              <a:buNone/>
            </a:pPr>
            <a:endParaRPr lang="en-US" altLang="ja-JP" sz="26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51945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84EACFDE-3C06-4B63-8FFD-255D880A04B3}"/>
              </a:ext>
            </a:extLst>
          </p:cNvPr>
          <p:cNvSpPr txBox="1"/>
          <p:nvPr/>
        </p:nvSpPr>
        <p:spPr>
          <a:xfrm>
            <a:off x="2150948" y="2251754"/>
            <a:ext cx="7419028" cy="1800493"/>
          </a:xfrm>
          <a:prstGeom prst="rect">
            <a:avLst/>
          </a:prstGeom>
          <a:noFill/>
        </p:spPr>
        <p:txBody>
          <a:bodyPr wrap="square">
            <a:spAutoFit/>
          </a:bodyPr>
          <a:lstStyle/>
          <a:p>
            <a:pPr algn="ctr"/>
            <a:r>
              <a:rPr lang="ja-JP" altLang="en-US" sz="7500"/>
              <a:t>ルール</a:t>
            </a:r>
            <a:endParaRPr lang="en-US" altLang="ja-JP" sz="7500"/>
          </a:p>
          <a:p>
            <a:pPr algn="ctr"/>
            <a:r>
              <a:rPr lang="ja-JP" altLang="en-US" sz="3600"/>
              <a:t>（行動規範・ヒント）</a:t>
            </a:r>
          </a:p>
        </p:txBody>
      </p:sp>
    </p:spTree>
    <p:extLst>
      <p:ext uri="{BB962C8B-B14F-4D97-AF65-F5344CB8AC3E}">
        <p14:creationId xmlns:p14="http://schemas.microsoft.com/office/powerpoint/2010/main" val="3778335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9DDB5A-BE15-7243-97C3-B26C8BF617F6}"/>
              </a:ext>
            </a:extLst>
          </p:cNvPr>
          <p:cNvSpPr>
            <a:spLocks noGrp="1"/>
          </p:cNvSpPr>
          <p:nvPr>
            <p:ph type="title"/>
          </p:nvPr>
        </p:nvSpPr>
        <p:spPr>
          <a:xfrm>
            <a:off x="845551" y="333207"/>
            <a:ext cx="10197494" cy="1099457"/>
          </a:xfrm>
        </p:spPr>
        <p:txBody>
          <a:bodyPr>
            <a:normAutofit/>
          </a:bodyPr>
          <a:lstStyle/>
          <a:p>
            <a:r>
              <a:rPr lang="ja-JP" altLang="en-US">
                <a:latin typeface="メイリオ" panose="020B0604030504040204" pitchFamily="50" charset="-128"/>
                <a:ea typeface="メイリオ" panose="020B0604030504040204" pitchFamily="50" charset="-128"/>
              </a:rPr>
              <a:t>開発</a:t>
            </a:r>
            <a:r>
              <a:rPr kumimoji="1" lang="ja-JP" altLang="en-US">
                <a:latin typeface="メイリオ" panose="020B0604030504040204" pitchFamily="50" charset="-128"/>
                <a:ea typeface="メイリオ" panose="020B0604030504040204" pitchFamily="50" charset="-128"/>
              </a:rPr>
              <a:t>のルール</a:t>
            </a:r>
          </a:p>
        </p:txBody>
      </p:sp>
      <p:grpSp>
        <p:nvGrpSpPr>
          <p:cNvPr id="5" name="グループ化 4">
            <a:extLst>
              <a:ext uri="{FF2B5EF4-FFF2-40B4-BE49-F238E27FC236}">
                <a16:creationId xmlns:a16="http://schemas.microsoft.com/office/drawing/2014/main" id="{9E18DB25-3694-4090-9185-677BCC38EFA4}"/>
              </a:ext>
            </a:extLst>
          </p:cNvPr>
          <p:cNvGrpSpPr/>
          <p:nvPr/>
        </p:nvGrpSpPr>
        <p:grpSpPr>
          <a:xfrm>
            <a:off x="845551" y="1357318"/>
            <a:ext cx="2169753" cy="2127986"/>
            <a:chOff x="1006916" y="2147984"/>
            <a:chExt cx="1578375" cy="1578375"/>
          </a:xfrm>
        </p:grpSpPr>
        <p:sp>
          <p:nvSpPr>
            <p:cNvPr id="4" name="楕円 3">
              <a:extLst>
                <a:ext uri="{FF2B5EF4-FFF2-40B4-BE49-F238E27FC236}">
                  <a16:creationId xmlns:a16="http://schemas.microsoft.com/office/drawing/2014/main" id="{4C1D7342-5379-485C-B3E9-81AB9FC9AEB4}"/>
                </a:ext>
              </a:extLst>
            </p:cNvPr>
            <p:cNvSpPr/>
            <p:nvPr/>
          </p:nvSpPr>
          <p:spPr>
            <a:xfrm>
              <a:off x="1006916" y="2147984"/>
              <a:ext cx="1578375" cy="1578375"/>
            </a:xfrm>
            <a:prstGeom prst="ellipse">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ja-JP" altLang="en-US"/>
            </a:p>
          </p:txBody>
        </p:sp>
        <p:sp>
          <p:nvSpPr>
            <p:cNvPr id="6" name="正方形/長方形 5" descr="Monitor Scherm Computer · Gratis vectorafbeelding op Pixabay">
              <a:extLst>
                <a:ext uri="{FF2B5EF4-FFF2-40B4-BE49-F238E27FC236}">
                  <a16:creationId xmlns:a16="http://schemas.microsoft.com/office/drawing/2014/main" id="{732BD719-89D1-41E2-A596-AF9ECCD6244C}"/>
                </a:ext>
              </a:extLst>
            </p:cNvPr>
            <p:cNvSpPr/>
            <p:nvPr/>
          </p:nvSpPr>
          <p:spPr>
            <a:xfrm>
              <a:off x="1343291" y="2484359"/>
              <a:ext cx="905625" cy="905625"/>
            </a:xfrm>
            <a:prstGeom prst="rect">
              <a:avLst/>
            </a:prstGeom>
            <a:blipFill>
              <a:blip r:embed="rId2">
                <a:extLst>
                  <a:ext uri="{837473B0-CC2E-450A-ABE3-18F120FF3D39}">
                    <a1611:picAttrSrcUrl xmlns:a1611="http://schemas.microsoft.com/office/drawing/2016/11/main" r:id="rId3"/>
                  </a:ext>
                </a:extLst>
              </a:blip>
              <a:srcRect/>
              <a:stretch>
                <a:fillRect l="-3000" r="-3000"/>
              </a:stretch>
            </a:blipFill>
          </p:spPr>
          <p:style>
            <a:lnRef idx="2">
              <a:schemeClr val="lt1">
                <a:alpha val="0"/>
                <a:hueOff val="0"/>
                <a:satOff val="0"/>
                <a:lumOff val="0"/>
                <a:alphaOff val="0"/>
              </a:schemeClr>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ja-JP" altLang="en-US"/>
            </a:p>
          </p:txBody>
        </p:sp>
      </p:grpSp>
      <p:sp>
        <p:nvSpPr>
          <p:cNvPr id="7" name="フリーフォーム: 図形 6">
            <a:extLst>
              <a:ext uri="{FF2B5EF4-FFF2-40B4-BE49-F238E27FC236}">
                <a16:creationId xmlns:a16="http://schemas.microsoft.com/office/drawing/2014/main" id="{27B86377-4762-4ED3-81AF-3481A6D78CE4}"/>
              </a:ext>
            </a:extLst>
          </p:cNvPr>
          <p:cNvSpPr/>
          <p:nvPr/>
        </p:nvSpPr>
        <p:spPr>
          <a:xfrm>
            <a:off x="247815" y="3957984"/>
            <a:ext cx="3365224" cy="1624599"/>
          </a:xfrm>
          <a:custGeom>
            <a:avLst/>
            <a:gdLst>
              <a:gd name="connsiteX0" fmla="*/ 0 w 3365224"/>
              <a:gd name="connsiteY0" fmla="*/ 0 h 1624599"/>
              <a:gd name="connsiteX1" fmla="*/ 3365224 w 3365224"/>
              <a:gd name="connsiteY1" fmla="*/ 0 h 1624599"/>
              <a:gd name="connsiteX2" fmla="*/ 3365224 w 3365224"/>
              <a:gd name="connsiteY2" fmla="*/ 1624599 h 1624599"/>
              <a:gd name="connsiteX3" fmla="*/ 0 w 3365224"/>
              <a:gd name="connsiteY3" fmla="*/ 1624599 h 1624599"/>
              <a:gd name="connsiteX4" fmla="*/ 0 w 3365224"/>
              <a:gd name="connsiteY4" fmla="*/ 0 h 1624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5224" h="1624599">
                <a:moveTo>
                  <a:pt x="0" y="0"/>
                </a:moveTo>
                <a:lnTo>
                  <a:pt x="3365224" y="0"/>
                </a:lnTo>
                <a:lnTo>
                  <a:pt x="3365224" y="1624599"/>
                </a:lnTo>
                <a:lnTo>
                  <a:pt x="0" y="162459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kumimoji="1" lang="ja-JP" altLang="en-US" sz="1600" kern="1200"/>
              <a:t>言語、フレームワーク</a:t>
            </a:r>
            <a:br>
              <a:rPr kumimoji="1" lang="en-US" altLang="ja-JP" sz="1600" kern="1200"/>
            </a:br>
            <a:r>
              <a:rPr kumimoji="1" lang="ja-JP" altLang="en-US" sz="1600" kern="1200"/>
              <a:t>使用するソフトウェアは</a:t>
            </a:r>
            <a:br>
              <a:rPr kumimoji="1" lang="en-US" altLang="ja-JP" sz="1600" kern="1200"/>
            </a:br>
            <a:r>
              <a:rPr kumimoji="1" lang="ja-JP" sz="1600" kern="1200"/>
              <a:t>自由に</a:t>
            </a:r>
            <a:r>
              <a:rPr kumimoji="1" lang="ja-JP" altLang="en-US" sz="1600" kern="1200"/>
              <a:t>選んで</a:t>
            </a:r>
            <a:br>
              <a:rPr kumimoji="1" lang="en-US" altLang="ja-JP" sz="1600" kern="1200"/>
            </a:br>
            <a:r>
              <a:rPr kumimoji="1" lang="ja-JP" sz="1600" kern="1200"/>
              <a:t>取り組んでください</a:t>
            </a:r>
            <a:br>
              <a:rPr kumimoji="1" lang="en-US" altLang="ja-JP" sz="1600" kern="1200"/>
            </a:br>
            <a:r>
              <a:rPr kumimoji="1" lang="ja-JP" altLang="en-US" sz="1600" kern="1200"/>
              <a:t>（</a:t>
            </a:r>
            <a:r>
              <a:rPr kumimoji="1" lang="ja-JP" sz="1600" kern="1200"/>
              <a:t>指定はありません</a:t>
            </a:r>
            <a:r>
              <a:rPr kumimoji="1" lang="ja-JP" altLang="en-US" sz="1600" kern="1200"/>
              <a:t>）</a:t>
            </a:r>
            <a:endParaRPr lang="en-US" sz="1600" kern="1200"/>
          </a:p>
        </p:txBody>
      </p:sp>
      <p:grpSp>
        <p:nvGrpSpPr>
          <p:cNvPr id="3" name="グループ化 2">
            <a:extLst>
              <a:ext uri="{FF2B5EF4-FFF2-40B4-BE49-F238E27FC236}">
                <a16:creationId xmlns:a16="http://schemas.microsoft.com/office/drawing/2014/main" id="{13516EE3-C998-408A-8A82-39B6543A43F6}"/>
              </a:ext>
            </a:extLst>
          </p:cNvPr>
          <p:cNvGrpSpPr/>
          <p:nvPr/>
        </p:nvGrpSpPr>
        <p:grpSpPr>
          <a:xfrm>
            <a:off x="4850257" y="1307532"/>
            <a:ext cx="2169753" cy="2017302"/>
            <a:chOff x="5306812" y="2147984"/>
            <a:chExt cx="1578375" cy="1578375"/>
          </a:xfrm>
        </p:grpSpPr>
        <p:sp>
          <p:nvSpPr>
            <p:cNvPr id="8" name="楕円 7">
              <a:extLst>
                <a:ext uri="{FF2B5EF4-FFF2-40B4-BE49-F238E27FC236}">
                  <a16:creationId xmlns:a16="http://schemas.microsoft.com/office/drawing/2014/main" id="{7536165D-531F-4DC2-A8DC-BC5D992F2344}"/>
                </a:ext>
              </a:extLst>
            </p:cNvPr>
            <p:cNvSpPr/>
            <p:nvPr/>
          </p:nvSpPr>
          <p:spPr>
            <a:xfrm>
              <a:off x="5306812" y="2147984"/>
              <a:ext cx="1578375" cy="1578375"/>
            </a:xfrm>
            <a:prstGeom prst="ellipse">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ja-JP" altLang="en-US"/>
            </a:p>
          </p:txBody>
        </p:sp>
        <p:sp>
          <p:nvSpPr>
            <p:cNvPr id="9" name="正方形/長方形 8" descr="Lightbulb">
              <a:extLst>
                <a:ext uri="{FF2B5EF4-FFF2-40B4-BE49-F238E27FC236}">
                  <a16:creationId xmlns:a16="http://schemas.microsoft.com/office/drawing/2014/main" id="{C7003FD2-70A2-4C27-9E71-0FFEF56BF9D6}"/>
                </a:ext>
              </a:extLst>
            </p:cNvPr>
            <p:cNvSpPr/>
            <p:nvPr/>
          </p:nvSpPr>
          <p:spPr>
            <a:xfrm>
              <a:off x="5625320" y="2484359"/>
              <a:ext cx="905625" cy="905625"/>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ja-JP" altLang="en-US"/>
            </a:p>
          </p:txBody>
        </p:sp>
      </p:grpSp>
      <p:sp>
        <p:nvSpPr>
          <p:cNvPr id="10" name="フリーフォーム: 図形 9">
            <a:extLst>
              <a:ext uri="{FF2B5EF4-FFF2-40B4-BE49-F238E27FC236}">
                <a16:creationId xmlns:a16="http://schemas.microsoft.com/office/drawing/2014/main" id="{1B64BC1C-8984-49C3-8CA5-9CEF32CBD8A4}"/>
              </a:ext>
            </a:extLst>
          </p:cNvPr>
          <p:cNvSpPr/>
          <p:nvPr/>
        </p:nvSpPr>
        <p:spPr>
          <a:xfrm>
            <a:off x="4539675" y="3924530"/>
            <a:ext cx="2826653" cy="1624599"/>
          </a:xfrm>
          <a:custGeom>
            <a:avLst/>
            <a:gdLst>
              <a:gd name="connsiteX0" fmla="*/ 0 w 2587500"/>
              <a:gd name="connsiteY0" fmla="*/ 0 h 1624599"/>
              <a:gd name="connsiteX1" fmla="*/ 2587500 w 2587500"/>
              <a:gd name="connsiteY1" fmla="*/ 0 h 1624599"/>
              <a:gd name="connsiteX2" fmla="*/ 2587500 w 2587500"/>
              <a:gd name="connsiteY2" fmla="*/ 1624599 h 1624599"/>
              <a:gd name="connsiteX3" fmla="*/ 0 w 2587500"/>
              <a:gd name="connsiteY3" fmla="*/ 1624599 h 1624599"/>
              <a:gd name="connsiteX4" fmla="*/ 0 w 2587500"/>
              <a:gd name="connsiteY4" fmla="*/ 0 h 1624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7500" h="1624599">
                <a:moveTo>
                  <a:pt x="0" y="0"/>
                </a:moveTo>
                <a:lnTo>
                  <a:pt x="2587500" y="0"/>
                </a:lnTo>
                <a:lnTo>
                  <a:pt x="2587500" y="1624599"/>
                </a:lnTo>
                <a:lnTo>
                  <a:pt x="0" y="162459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kumimoji="1" lang="ja-JP" altLang="en-US" sz="1600" kern="1200"/>
              <a:t>メンターは</a:t>
            </a:r>
            <a:r>
              <a:rPr kumimoji="1" lang="ja-JP" sz="1600" kern="1200"/>
              <a:t>質問</a:t>
            </a:r>
            <a:r>
              <a:rPr kumimoji="1" lang="ja-JP" altLang="en-US" sz="1600" kern="1200"/>
              <a:t>を</a:t>
            </a:r>
            <a:br>
              <a:rPr kumimoji="1" lang="en-US" altLang="ja-JP" sz="1600"/>
            </a:br>
            <a:r>
              <a:rPr kumimoji="1" lang="ja-JP" sz="1600" kern="1200"/>
              <a:t>常時受け付けます</a:t>
            </a:r>
            <a:r>
              <a:rPr kumimoji="1" lang="ja-JP" altLang="en-US" sz="1600" kern="1200"/>
              <a:t>！</a:t>
            </a:r>
            <a:endParaRPr kumimoji="1" lang="en-US" altLang="ja-JP" sz="1600" kern="1200"/>
          </a:p>
          <a:p>
            <a:pPr marL="0" lvl="0" indent="0" algn="ctr" defTabSz="711200">
              <a:lnSpc>
                <a:spcPct val="100000"/>
              </a:lnSpc>
              <a:spcBef>
                <a:spcPct val="0"/>
              </a:spcBef>
              <a:spcAft>
                <a:spcPct val="35000"/>
              </a:spcAft>
              <a:buNone/>
              <a:defRPr cap="all"/>
            </a:pPr>
            <a:r>
              <a:rPr kumimoji="1" lang="ja-JP" altLang="en-US" sz="1600" kern="1200"/>
              <a:t>ただ</a:t>
            </a:r>
            <a:r>
              <a:rPr kumimoji="1" lang="ja-JP" sz="1600" kern="1200"/>
              <a:t>お答え</a:t>
            </a:r>
            <a:r>
              <a:rPr kumimoji="1" lang="ja-JP" altLang="en-US" sz="1600" kern="1200"/>
              <a:t>できるのは</a:t>
            </a:r>
            <a:br>
              <a:rPr kumimoji="1" lang="en-US" altLang="ja-JP" sz="1600" kern="1200"/>
            </a:br>
            <a:r>
              <a:rPr kumimoji="1" lang="ja-JP" altLang="en-US" sz="1600" kern="1200"/>
              <a:t>ヒントのみ！</a:t>
            </a:r>
            <a:endParaRPr kumimoji="1" lang="en-US" altLang="ja-JP" sz="1600" kern="1200"/>
          </a:p>
          <a:p>
            <a:pPr algn="ctr" defTabSz="711200">
              <a:spcBef>
                <a:spcPct val="0"/>
              </a:spcBef>
              <a:spcAft>
                <a:spcPct val="35000"/>
              </a:spcAft>
              <a:defRPr cap="all"/>
            </a:pPr>
            <a:r>
              <a:rPr kumimoji="1" lang="ja-JP" altLang="en-US" sz="1600"/>
              <a:t>最終</a:t>
            </a:r>
            <a:r>
              <a:rPr kumimoji="1" lang="ja-JP" altLang="en-US" sz="1600" kern="1200"/>
              <a:t>レビューで</a:t>
            </a:r>
            <a:r>
              <a:rPr kumimoji="1" lang="en-US" altLang="ja-JP" sz="1600" kern="1200"/>
              <a:t>NG</a:t>
            </a:r>
            <a:r>
              <a:rPr kumimoji="1" lang="ja-JP" altLang="en-US" sz="1600" kern="1200"/>
              <a:t>を</a:t>
            </a:r>
            <a:br>
              <a:rPr kumimoji="1" lang="en-US" altLang="ja-JP" sz="1600" kern="1200"/>
            </a:br>
            <a:r>
              <a:rPr kumimoji="1" lang="ja-JP" altLang="en-US" sz="1600" kern="1200"/>
              <a:t>もらわないように</a:t>
            </a:r>
            <a:br>
              <a:rPr kumimoji="1" lang="en-US" altLang="ja-JP" sz="1600" kern="1200"/>
            </a:br>
            <a:r>
              <a:rPr kumimoji="1" lang="ja-JP" altLang="en-US" sz="1600" kern="1200"/>
              <a:t>途中でメンターに相談をしてください！</a:t>
            </a:r>
            <a:endParaRPr lang="en-US" altLang="ja-JP" sz="1600" kern="1200"/>
          </a:p>
          <a:p>
            <a:pPr marL="0" lvl="0" indent="0" algn="ctr" defTabSz="711200">
              <a:lnSpc>
                <a:spcPct val="100000"/>
              </a:lnSpc>
              <a:spcBef>
                <a:spcPct val="0"/>
              </a:spcBef>
              <a:spcAft>
                <a:spcPct val="35000"/>
              </a:spcAft>
              <a:buNone/>
              <a:defRPr cap="all"/>
            </a:pPr>
            <a:endParaRPr lang="en-US" sz="1600" kern="1200"/>
          </a:p>
        </p:txBody>
      </p:sp>
      <p:pic>
        <p:nvPicPr>
          <p:cNvPr id="16" name="図 15">
            <a:extLst>
              <a:ext uri="{FF2B5EF4-FFF2-40B4-BE49-F238E27FC236}">
                <a16:creationId xmlns:a16="http://schemas.microsoft.com/office/drawing/2014/main" id="{31E47B5E-4AE0-42D2-9F88-BE1A8194451A}"/>
              </a:ext>
            </a:extLst>
          </p:cNvPr>
          <p:cNvPicPr>
            <a:picLocks noChangeAspect="1"/>
          </p:cNvPicPr>
          <p:nvPr/>
        </p:nvPicPr>
        <p:blipFill>
          <a:blip r:embed="rId6"/>
          <a:stretch>
            <a:fillRect/>
          </a:stretch>
        </p:blipFill>
        <p:spPr>
          <a:xfrm>
            <a:off x="8381004" y="959543"/>
            <a:ext cx="2969611" cy="2644810"/>
          </a:xfrm>
          <a:prstGeom prst="rect">
            <a:avLst/>
          </a:prstGeom>
        </p:spPr>
      </p:pic>
      <p:sp>
        <p:nvSpPr>
          <p:cNvPr id="11" name="フリーフォーム: 図形 10">
            <a:extLst>
              <a:ext uri="{FF2B5EF4-FFF2-40B4-BE49-F238E27FC236}">
                <a16:creationId xmlns:a16="http://schemas.microsoft.com/office/drawing/2014/main" id="{930F494C-7554-4B95-A5AF-AE7F40FF0526}"/>
              </a:ext>
            </a:extLst>
          </p:cNvPr>
          <p:cNvSpPr/>
          <p:nvPr/>
        </p:nvSpPr>
        <p:spPr>
          <a:xfrm>
            <a:off x="8251903" y="3916902"/>
            <a:ext cx="3223493" cy="2306809"/>
          </a:xfrm>
          <a:custGeom>
            <a:avLst/>
            <a:gdLst>
              <a:gd name="connsiteX0" fmla="*/ 0 w 2587500"/>
              <a:gd name="connsiteY0" fmla="*/ 0 h 1624599"/>
              <a:gd name="connsiteX1" fmla="*/ 2587500 w 2587500"/>
              <a:gd name="connsiteY1" fmla="*/ 0 h 1624599"/>
              <a:gd name="connsiteX2" fmla="*/ 2587500 w 2587500"/>
              <a:gd name="connsiteY2" fmla="*/ 1624599 h 1624599"/>
              <a:gd name="connsiteX3" fmla="*/ 0 w 2587500"/>
              <a:gd name="connsiteY3" fmla="*/ 1624599 h 1624599"/>
              <a:gd name="connsiteX4" fmla="*/ 0 w 2587500"/>
              <a:gd name="connsiteY4" fmla="*/ 0 h 1624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7500" h="1624599">
                <a:moveTo>
                  <a:pt x="0" y="0"/>
                </a:moveTo>
                <a:lnTo>
                  <a:pt x="2587500" y="0"/>
                </a:lnTo>
                <a:lnTo>
                  <a:pt x="2587500" y="1624599"/>
                </a:lnTo>
                <a:lnTo>
                  <a:pt x="0" y="162459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algn="ctr" defTabSz="711200">
              <a:spcBef>
                <a:spcPct val="0"/>
              </a:spcBef>
              <a:spcAft>
                <a:spcPct val="35000"/>
              </a:spcAft>
              <a:defRPr cap="all"/>
            </a:pPr>
            <a:r>
              <a:rPr kumimoji="1" lang="en-US" altLang="ja-JP" sz="1600" kern="1200"/>
              <a:t>1</a:t>
            </a:r>
            <a:r>
              <a:rPr kumimoji="1" lang="ja-JP" altLang="en-US" sz="1600" kern="1200"/>
              <a:t>人</a:t>
            </a:r>
            <a:r>
              <a:rPr kumimoji="1" lang="en-US" altLang="ja-JP" sz="1600" kern="1200"/>
              <a:t>1</a:t>
            </a:r>
            <a:r>
              <a:rPr kumimoji="1" lang="ja-JP" altLang="en-US" sz="1600" kern="1200"/>
              <a:t>つ以上のタスクを</a:t>
            </a:r>
            <a:br>
              <a:rPr kumimoji="1" lang="en-US" altLang="ja-JP" sz="1600"/>
            </a:br>
            <a:r>
              <a:rPr kumimoji="1" lang="ja-JP" altLang="en-US" sz="1600"/>
              <a:t>メインで</a:t>
            </a:r>
            <a:r>
              <a:rPr kumimoji="1" lang="ja-JP" altLang="en-US" sz="1600" kern="1200"/>
              <a:t>担当してください。</a:t>
            </a:r>
            <a:endParaRPr kumimoji="1" lang="en-US" altLang="ja-JP" sz="1600" kern="1200"/>
          </a:p>
          <a:p>
            <a:pPr marL="0" lvl="0" indent="0" algn="ctr" defTabSz="711200">
              <a:lnSpc>
                <a:spcPct val="100000"/>
              </a:lnSpc>
              <a:spcBef>
                <a:spcPct val="0"/>
              </a:spcBef>
              <a:spcAft>
                <a:spcPct val="35000"/>
              </a:spcAft>
              <a:buNone/>
              <a:defRPr cap="all"/>
            </a:pPr>
            <a:r>
              <a:rPr kumimoji="1" lang="ja-JP" altLang="en-US" sz="1600" kern="1200"/>
              <a:t>（逆に</a:t>
            </a:r>
            <a:r>
              <a:rPr kumimoji="1" lang="en-US" altLang="ja-JP" sz="1600" kern="1200"/>
              <a:t>1</a:t>
            </a:r>
            <a:r>
              <a:rPr kumimoji="1" lang="ja-JP" altLang="en-US" sz="1600" kern="1200"/>
              <a:t>人で全部開発しないで</a:t>
            </a:r>
            <a:r>
              <a:rPr kumimoji="1" lang="ja-JP" altLang="en-US" sz="1600"/>
              <a:t>ー）</a:t>
            </a:r>
            <a:endParaRPr kumimoji="1" lang="en-US" altLang="ja-JP" sz="1600" kern="1200"/>
          </a:p>
          <a:p>
            <a:pPr marL="0" lvl="0" indent="0" algn="ctr" defTabSz="711200">
              <a:lnSpc>
                <a:spcPct val="100000"/>
              </a:lnSpc>
              <a:spcBef>
                <a:spcPct val="0"/>
              </a:spcBef>
              <a:spcAft>
                <a:spcPct val="35000"/>
              </a:spcAft>
              <a:buNone/>
              <a:defRPr cap="all"/>
            </a:pPr>
            <a:r>
              <a:rPr kumimoji="1" lang="ja-JP" altLang="en-US" sz="1600" kern="1200"/>
              <a:t>全員で協力して作ることが</a:t>
            </a:r>
            <a:br>
              <a:rPr kumimoji="1" lang="en-US" altLang="ja-JP" sz="1600"/>
            </a:br>
            <a:r>
              <a:rPr kumimoji="1" lang="ja-JP" altLang="en-US" sz="1600"/>
              <a:t>目的です！</a:t>
            </a:r>
            <a:endParaRPr kumimoji="1" lang="en-US" altLang="ja-JP" sz="1600"/>
          </a:p>
          <a:p>
            <a:pPr marL="0" lvl="0" indent="0" algn="ctr" defTabSz="711200">
              <a:lnSpc>
                <a:spcPct val="100000"/>
              </a:lnSpc>
              <a:spcBef>
                <a:spcPct val="0"/>
              </a:spcBef>
              <a:spcAft>
                <a:spcPct val="35000"/>
              </a:spcAft>
              <a:buNone/>
              <a:defRPr cap="all"/>
            </a:pPr>
            <a:r>
              <a:rPr kumimoji="1" lang="ja-JP" altLang="en-US" sz="1600" kern="1200"/>
              <a:t>技術仕様はチーム内で</a:t>
            </a:r>
            <a:br>
              <a:rPr kumimoji="1" lang="en-US" altLang="ja-JP" sz="1600" kern="1200"/>
            </a:br>
            <a:r>
              <a:rPr kumimoji="1" lang="ja-JP" altLang="en-US" sz="1600" kern="1200"/>
              <a:t>相談しましょう！</a:t>
            </a:r>
            <a:endParaRPr kumimoji="1" lang="en-US" altLang="ja-JP" sz="1600" kern="1200"/>
          </a:p>
          <a:p>
            <a:pPr marL="0" lvl="0" indent="0" algn="ctr" defTabSz="711200">
              <a:lnSpc>
                <a:spcPct val="100000"/>
              </a:lnSpc>
              <a:spcBef>
                <a:spcPct val="0"/>
              </a:spcBef>
              <a:spcAft>
                <a:spcPct val="35000"/>
              </a:spcAft>
              <a:buNone/>
              <a:defRPr cap="all"/>
            </a:pPr>
            <a:r>
              <a:rPr kumimoji="1" lang="ja-JP" altLang="en-US" sz="1600"/>
              <a:t>チームレビューを</a:t>
            </a:r>
            <a:br>
              <a:rPr kumimoji="1" lang="en-US" altLang="ja-JP" sz="1600"/>
            </a:br>
            <a:r>
              <a:rPr kumimoji="1" lang="ja-JP" altLang="en-US" sz="1600"/>
              <a:t>実施してください。</a:t>
            </a:r>
            <a:endParaRPr kumimoji="1" lang="en-US" altLang="ja-JP" sz="1600" kern="1200"/>
          </a:p>
        </p:txBody>
      </p:sp>
    </p:spTree>
    <p:extLst>
      <p:ext uri="{BB962C8B-B14F-4D97-AF65-F5344CB8AC3E}">
        <p14:creationId xmlns:p14="http://schemas.microsoft.com/office/powerpoint/2010/main" val="1388399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EE8C98-0325-4E0F-826C-5B131E9CE6E7}"/>
              </a:ext>
            </a:extLst>
          </p:cNvPr>
          <p:cNvSpPr>
            <a:spLocks noGrp="1"/>
          </p:cNvSpPr>
          <p:nvPr>
            <p:ph type="title"/>
          </p:nvPr>
        </p:nvSpPr>
        <p:spPr>
          <a:xfrm>
            <a:off x="508358" y="198403"/>
            <a:ext cx="11033996" cy="626361"/>
          </a:xfrm>
        </p:spPr>
        <p:txBody>
          <a:bodyPr>
            <a:normAutofit fontScale="90000"/>
          </a:bodyPr>
          <a:lstStyle/>
          <a:p>
            <a:r>
              <a:rPr kumimoji="1" lang="ja-JP" altLang="en-US">
                <a:latin typeface="メイリオ" panose="020B0604030504040204" pitchFamily="50" charset="-128"/>
                <a:ea typeface="メイリオ" panose="020B0604030504040204" pitchFamily="50" charset="-128"/>
              </a:rPr>
              <a:t>進捗報告：毎日、朝会・夕会で実施</a:t>
            </a:r>
          </a:p>
        </p:txBody>
      </p:sp>
      <p:sp>
        <p:nvSpPr>
          <p:cNvPr id="3" name="コンテンツ プレースホルダー 2">
            <a:extLst>
              <a:ext uri="{FF2B5EF4-FFF2-40B4-BE49-F238E27FC236}">
                <a16:creationId xmlns:a16="http://schemas.microsoft.com/office/drawing/2014/main" id="{B365CEF2-462C-4EF6-9065-B5DB6EADA4E6}"/>
              </a:ext>
            </a:extLst>
          </p:cNvPr>
          <p:cNvSpPr>
            <a:spLocks noGrp="1"/>
          </p:cNvSpPr>
          <p:nvPr>
            <p:ph idx="1"/>
          </p:nvPr>
        </p:nvSpPr>
        <p:spPr>
          <a:xfrm>
            <a:off x="663633" y="976695"/>
            <a:ext cx="10515600" cy="5363719"/>
          </a:xfrm>
        </p:spPr>
        <p:txBody>
          <a:bodyPr vert="horz" lIns="91440" tIns="45720" rIns="91440" bIns="45720" rtlCol="0" anchor="t">
            <a:normAutofit fontScale="55000" lnSpcReduction="20000"/>
          </a:bodyPr>
          <a:lstStyle/>
          <a:p>
            <a:pPr marL="0" indent="0">
              <a:buNone/>
            </a:pPr>
            <a:r>
              <a:rPr kumimoji="1" lang="ja-JP" altLang="en-US" sz="2900" b="1"/>
              <a:t>基本設計</a:t>
            </a:r>
            <a:endParaRPr kumimoji="1" lang="en-US" altLang="ja-JP" sz="2900" b="1"/>
          </a:p>
          <a:p>
            <a:pPr marL="0" indent="0">
              <a:buNone/>
            </a:pPr>
            <a:r>
              <a:rPr kumimoji="1" lang="ja-JP" altLang="en-US" sz="2800"/>
              <a:t>・技術要素一覧</a:t>
            </a:r>
            <a:endParaRPr kumimoji="1" lang="en-US" altLang="ja-JP" sz="2800"/>
          </a:p>
          <a:p>
            <a:pPr marL="0" indent="0">
              <a:buNone/>
            </a:pPr>
            <a:r>
              <a:rPr lang="ja-JP" altLang="en-US">
                <a:ea typeface="游ゴシック"/>
              </a:rPr>
              <a:t>・</a:t>
            </a:r>
            <a:r>
              <a:rPr lang="en-US" altLang="ja-JP">
                <a:ea typeface="游ゴシック"/>
              </a:rPr>
              <a:t>DB</a:t>
            </a:r>
            <a:r>
              <a:rPr lang="ja-JP" altLang="en-US">
                <a:ea typeface="游ゴシック"/>
              </a:rPr>
              <a:t>設計</a:t>
            </a:r>
            <a:endParaRPr lang="en-US" altLang="ja-JP">
              <a:ea typeface="游ゴシック"/>
            </a:endParaRPr>
          </a:p>
          <a:p>
            <a:pPr marL="0" indent="0">
              <a:buNone/>
            </a:pPr>
            <a:r>
              <a:rPr lang="ja-JP" altLang="en-US">
                <a:ea typeface="游ゴシック"/>
              </a:rPr>
              <a:t>・</a:t>
            </a:r>
            <a:r>
              <a:rPr lang="en-US" altLang="ja-JP">
                <a:ea typeface="游ゴシック"/>
              </a:rPr>
              <a:t>URL</a:t>
            </a:r>
            <a:r>
              <a:rPr lang="ja-JP" altLang="en-US">
                <a:ea typeface="游ゴシック"/>
              </a:rPr>
              <a:t>一覧</a:t>
            </a:r>
            <a:endParaRPr kumimoji="1" lang="en-US" altLang="ja-JP" sz="2800">
              <a:ea typeface="游ゴシック"/>
            </a:endParaRPr>
          </a:p>
          <a:p>
            <a:pPr marL="0" indent="0">
              <a:buNone/>
            </a:pPr>
            <a:r>
              <a:rPr lang="ja-JP" altLang="en-US"/>
              <a:t>・システム構成図</a:t>
            </a:r>
            <a:endParaRPr lang="en-US" altLang="ja-JP"/>
          </a:p>
          <a:p>
            <a:pPr marL="0" indent="0">
              <a:buNone/>
            </a:pPr>
            <a:r>
              <a:rPr kumimoji="1" lang="ja-JP" altLang="en-US" sz="2900" b="1"/>
              <a:t>機能開発</a:t>
            </a:r>
            <a:endParaRPr kumimoji="1" lang="en-US" altLang="ja-JP" sz="2900" b="1"/>
          </a:p>
          <a:p>
            <a:pPr marL="0" indent="0">
              <a:buNone/>
            </a:pPr>
            <a:r>
              <a:rPr lang="ja-JP" altLang="en-US"/>
              <a:t>・プロンプト複数同時実行</a:t>
            </a:r>
            <a:endParaRPr lang="en-US" altLang="ja-JP"/>
          </a:p>
          <a:p>
            <a:pPr marL="0" indent="0">
              <a:buNone/>
            </a:pPr>
            <a:r>
              <a:rPr lang="ja-JP" altLang="en-US">
                <a:ea typeface="游ゴシック"/>
              </a:rPr>
              <a:t>・履歴</a:t>
            </a:r>
            <a:endParaRPr lang="en-US" altLang="ja-JP">
              <a:ea typeface="游ゴシック"/>
            </a:endParaRPr>
          </a:p>
          <a:p>
            <a:pPr marL="0" indent="0">
              <a:buNone/>
            </a:pPr>
            <a:r>
              <a:rPr lang="ja-JP" altLang="en-US">
                <a:ea typeface="游ゴシック"/>
              </a:rPr>
              <a:t>・トークン集計</a:t>
            </a:r>
            <a:endParaRPr kumimoji="1" lang="en-US" altLang="ja-JP" sz="2800"/>
          </a:p>
          <a:p>
            <a:pPr marL="0" indent="0">
              <a:buNone/>
            </a:pPr>
            <a:r>
              <a:rPr kumimoji="1" lang="ja-JP" altLang="en-US" sz="2900" b="1"/>
              <a:t>安定性</a:t>
            </a:r>
            <a:endParaRPr kumimoji="1" lang="en-US" altLang="ja-JP" sz="2900" b="1"/>
          </a:p>
          <a:p>
            <a:pPr marL="0" indent="0">
              <a:buNone/>
            </a:pPr>
            <a:r>
              <a:rPr lang="ja-JP" altLang="en-US">
                <a:ea typeface="游ゴシック"/>
              </a:rPr>
              <a:t>・</a:t>
            </a:r>
            <a:r>
              <a:rPr lang="en-US" altLang="ja-JP">
                <a:ea typeface="游ゴシック"/>
              </a:rPr>
              <a:t>[</a:t>
            </a:r>
            <a:r>
              <a:rPr lang="ja-JP" altLang="en-US">
                <a:ea typeface="游ゴシック"/>
              </a:rPr>
              <a:t>冗長性</a:t>
            </a:r>
            <a:r>
              <a:rPr lang="en-US" altLang="ja-JP">
                <a:ea typeface="游ゴシック"/>
              </a:rPr>
              <a:t>] </a:t>
            </a:r>
            <a:r>
              <a:rPr lang="ja-JP" altLang="en-US">
                <a:ea typeface="游ゴシック"/>
              </a:rPr>
              <a:t>サーバ構成上の冗長性が保たれている。（ダウン時の障害時間を最小化できる。）</a:t>
            </a:r>
            <a:endParaRPr lang="ja-JP" altLang="en-US">
              <a:ea typeface="游ゴシック"/>
              <a:cs typeface="Calibri"/>
            </a:endParaRPr>
          </a:p>
          <a:p>
            <a:pPr marL="0" indent="0">
              <a:buNone/>
            </a:pPr>
            <a:r>
              <a:rPr lang="ja-JP" altLang="en-US">
                <a:solidFill>
                  <a:schemeClr val="accent1"/>
                </a:solidFill>
                <a:ea typeface="游ゴシック"/>
              </a:rPr>
              <a:t>・</a:t>
            </a:r>
            <a:r>
              <a:rPr lang="en-US" altLang="ja-JP">
                <a:solidFill>
                  <a:schemeClr val="accent1"/>
                </a:solidFill>
                <a:ea typeface="游ゴシック"/>
              </a:rPr>
              <a:t>[</a:t>
            </a:r>
            <a:r>
              <a:rPr lang="ja-JP" altLang="en-US">
                <a:solidFill>
                  <a:schemeClr val="accent1"/>
                </a:solidFill>
                <a:ea typeface="游ゴシック"/>
              </a:rPr>
              <a:t>監視</a:t>
            </a:r>
            <a:r>
              <a:rPr lang="en-US" altLang="ja-JP">
                <a:solidFill>
                  <a:schemeClr val="accent1"/>
                </a:solidFill>
                <a:ea typeface="游ゴシック"/>
              </a:rPr>
              <a:t>] </a:t>
            </a:r>
            <a:r>
              <a:rPr lang="ja-JP" altLang="en-US">
                <a:solidFill>
                  <a:schemeClr val="accent1"/>
                </a:solidFill>
                <a:ea typeface="游ゴシック"/>
              </a:rPr>
              <a:t>ツールで各サーバの </a:t>
            </a:r>
            <a:r>
              <a:rPr lang="en-US" altLang="ja-JP">
                <a:solidFill>
                  <a:schemeClr val="accent1"/>
                </a:solidFill>
                <a:ea typeface="游ゴシック"/>
              </a:rPr>
              <a:t>CPU</a:t>
            </a:r>
            <a:r>
              <a:rPr lang="ja-JP" altLang="en-US">
                <a:solidFill>
                  <a:schemeClr val="accent1"/>
                </a:solidFill>
                <a:ea typeface="游ゴシック"/>
              </a:rPr>
              <a:t>、ディスク、</a:t>
            </a:r>
            <a:r>
              <a:rPr lang="en-US" altLang="ja-JP">
                <a:solidFill>
                  <a:schemeClr val="accent1"/>
                </a:solidFill>
                <a:ea typeface="游ゴシック"/>
              </a:rPr>
              <a:t>Port</a:t>
            </a:r>
            <a:r>
              <a:rPr lang="ja-JP" altLang="en-US">
                <a:solidFill>
                  <a:schemeClr val="accent1"/>
                </a:solidFill>
                <a:ea typeface="游ゴシック"/>
              </a:rPr>
              <a:t> が監視され、問題がある場合は</a:t>
            </a:r>
            <a:r>
              <a:rPr lang="en-US" altLang="ja-JP">
                <a:solidFill>
                  <a:schemeClr val="accent1"/>
                </a:solidFill>
                <a:ea typeface="游ゴシック"/>
              </a:rPr>
              <a:t>Slack</a:t>
            </a:r>
            <a:r>
              <a:rPr lang="ja-JP" altLang="en-US">
                <a:solidFill>
                  <a:schemeClr val="accent1"/>
                </a:solidFill>
                <a:ea typeface="游ゴシック"/>
              </a:rPr>
              <a:t>に通知される。</a:t>
            </a:r>
            <a:endParaRPr kumimoji="1" lang="en-US" altLang="ja-JP" sz="2800">
              <a:solidFill>
                <a:schemeClr val="accent1"/>
              </a:solidFill>
            </a:endParaRPr>
          </a:p>
          <a:p>
            <a:pPr marL="0" indent="0">
              <a:buNone/>
            </a:pPr>
            <a:r>
              <a:rPr kumimoji="1" lang="ja-JP" altLang="en-US" sz="2900" b="1"/>
              <a:t>保守性</a:t>
            </a:r>
            <a:endParaRPr kumimoji="1" lang="en-US" altLang="ja-JP" sz="2900" b="1"/>
          </a:p>
          <a:p>
            <a:pPr marL="0" indent="0">
              <a:buNone/>
            </a:pPr>
            <a:r>
              <a:rPr kumimoji="1" lang="ja-JP" altLang="en-US" sz="2800">
                <a:solidFill>
                  <a:schemeClr val="accent1"/>
                </a:solidFill>
                <a:ea typeface="游ゴシック"/>
              </a:rPr>
              <a:t>・</a:t>
            </a:r>
            <a:r>
              <a:rPr kumimoji="1" lang="en-US" altLang="ja-JP" sz="2800">
                <a:solidFill>
                  <a:schemeClr val="accent1"/>
                </a:solidFill>
                <a:ea typeface="游ゴシック"/>
              </a:rPr>
              <a:t>[</a:t>
            </a:r>
            <a:r>
              <a:rPr kumimoji="1" lang="ja-JP" altLang="en-US" sz="2800">
                <a:solidFill>
                  <a:schemeClr val="accent1"/>
                </a:solidFill>
                <a:ea typeface="游ゴシック"/>
              </a:rPr>
              <a:t>リリース</a:t>
            </a:r>
            <a:r>
              <a:rPr kumimoji="1" lang="en-US" altLang="ja-JP" sz="2800">
                <a:solidFill>
                  <a:schemeClr val="accent1"/>
                </a:solidFill>
                <a:ea typeface="游ゴシック"/>
              </a:rPr>
              <a:t>] </a:t>
            </a:r>
            <a:r>
              <a:rPr kumimoji="1" lang="ja-JP" altLang="en-US" sz="2800">
                <a:solidFill>
                  <a:schemeClr val="accent1"/>
                </a:solidFill>
                <a:ea typeface="游ゴシック"/>
              </a:rPr>
              <a:t>最新ソースコードのリリースを</a:t>
            </a:r>
            <a:r>
              <a:rPr kumimoji="1" lang="en-US" altLang="ja-JP" sz="2800">
                <a:solidFill>
                  <a:schemeClr val="accent1"/>
                </a:solidFill>
                <a:ea typeface="游ゴシック"/>
              </a:rPr>
              <a:t>1</a:t>
            </a:r>
            <a:r>
              <a:rPr kumimoji="1" lang="ja-JP" altLang="en-US" sz="2800">
                <a:solidFill>
                  <a:schemeClr val="accent1"/>
                </a:solidFill>
                <a:ea typeface="游ゴシック"/>
              </a:rPr>
              <a:t>ボタン（</a:t>
            </a:r>
            <a:r>
              <a:rPr kumimoji="1" lang="en-US" altLang="ja-JP" sz="2800">
                <a:solidFill>
                  <a:schemeClr val="accent1"/>
                </a:solidFill>
                <a:ea typeface="游ゴシック"/>
              </a:rPr>
              <a:t>1</a:t>
            </a:r>
            <a:r>
              <a:rPr kumimoji="1" lang="ja-JP" altLang="en-US" sz="2800">
                <a:solidFill>
                  <a:schemeClr val="accent1"/>
                </a:solidFill>
                <a:ea typeface="游ゴシック"/>
              </a:rPr>
              <a:t>コマンド）で実行できる。</a:t>
            </a:r>
            <a:endParaRPr kumimoji="1" lang="en-US" altLang="ja-JP" sz="2800">
              <a:solidFill>
                <a:schemeClr val="accent1"/>
              </a:solidFill>
              <a:ea typeface="游ゴシック"/>
            </a:endParaRPr>
          </a:p>
          <a:p>
            <a:pPr marL="0" indent="0">
              <a:buNone/>
            </a:pPr>
            <a:r>
              <a:rPr kumimoji="1" lang="ja-JP" altLang="en-US" sz="2800">
                <a:solidFill>
                  <a:schemeClr val="accent1"/>
                </a:solidFill>
                <a:ea typeface="游ゴシック"/>
              </a:rPr>
              <a:t>・</a:t>
            </a:r>
            <a:r>
              <a:rPr kumimoji="1" lang="en-US" altLang="ja-JP" sz="2800">
                <a:solidFill>
                  <a:schemeClr val="accent1"/>
                </a:solidFill>
                <a:ea typeface="游ゴシック"/>
              </a:rPr>
              <a:t>[</a:t>
            </a:r>
            <a:r>
              <a:rPr kumimoji="1" lang="ja-JP" altLang="en-US" sz="2800">
                <a:solidFill>
                  <a:schemeClr val="accent1"/>
                </a:solidFill>
                <a:ea typeface="游ゴシック"/>
              </a:rPr>
              <a:t>構成管理</a:t>
            </a:r>
            <a:r>
              <a:rPr kumimoji="1" lang="en-US" altLang="ja-JP" sz="2800">
                <a:solidFill>
                  <a:schemeClr val="accent1"/>
                </a:solidFill>
                <a:ea typeface="游ゴシック"/>
              </a:rPr>
              <a:t>] </a:t>
            </a:r>
            <a:r>
              <a:rPr kumimoji="1" lang="ja-JP" altLang="en-US" sz="2800">
                <a:solidFill>
                  <a:schemeClr val="accent1"/>
                </a:solidFill>
                <a:ea typeface="游ゴシック"/>
              </a:rPr>
              <a:t>構成管理ツールでアプリケーションを</a:t>
            </a:r>
            <a:r>
              <a:rPr kumimoji="1" lang="en-US" altLang="ja-JP" sz="2800">
                <a:solidFill>
                  <a:schemeClr val="accent1"/>
                </a:solidFill>
                <a:ea typeface="游ゴシック"/>
              </a:rPr>
              <a:t>1</a:t>
            </a:r>
            <a:r>
              <a:rPr kumimoji="1" lang="ja-JP" altLang="en-US" sz="2800">
                <a:solidFill>
                  <a:schemeClr val="accent1"/>
                </a:solidFill>
                <a:ea typeface="游ゴシック"/>
              </a:rPr>
              <a:t>ボタン（</a:t>
            </a:r>
            <a:r>
              <a:rPr kumimoji="1" lang="en-US" altLang="ja-JP" sz="2800">
                <a:solidFill>
                  <a:schemeClr val="accent1"/>
                </a:solidFill>
                <a:ea typeface="游ゴシック"/>
              </a:rPr>
              <a:t>1</a:t>
            </a:r>
            <a:r>
              <a:rPr lang="ja-JP" altLang="en-US">
                <a:solidFill>
                  <a:schemeClr val="accent1"/>
                </a:solidFill>
                <a:ea typeface="游ゴシック"/>
              </a:rPr>
              <a:t>コマンド）で構築できる。</a:t>
            </a:r>
            <a:endParaRPr kumimoji="1" lang="en-US" altLang="ja-JP" sz="2800">
              <a:solidFill>
                <a:schemeClr val="accent1"/>
              </a:solidFill>
            </a:endParaRPr>
          </a:p>
          <a:p>
            <a:pPr marL="0" indent="0">
              <a:buNone/>
            </a:pPr>
            <a:r>
              <a:rPr lang="ja-JP" altLang="en-US" sz="2900" b="1"/>
              <a:t>セキュリティ</a:t>
            </a:r>
            <a:endParaRPr kumimoji="1" lang="en-US" altLang="ja-JP" sz="2900" b="1"/>
          </a:p>
          <a:p>
            <a:pPr marL="0" indent="0">
              <a:buNone/>
            </a:pPr>
            <a:r>
              <a:rPr lang="ja-JP" altLang="en-US">
                <a:solidFill>
                  <a:schemeClr val="accent1"/>
                </a:solidFill>
                <a:ea typeface="游ゴシック"/>
              </a:rPr>
              <a:t>・</a:t>
            </a:r>
            <a:r>
              <a:rPr lang="en-US" altLang="ja-JP">
                <a:solidFill>
                  <a:schemeClr val="accent1"/>
                </a:solidFill>
                <a:ea typeface="游ゴシック"/>
              </a:rPr>
              <a:t>[VM</a:t>
            </a:r>
            <a:r>
              <a:rPr lang="ja-JP" altLang="en-US">
                <a:solidFill>
                  <a:schemeClr val="accent1"/>
                </a:solidFill>
                <a:ea typeface="游ゴシック"/>
              </a:rPr>
              <a:t>セキュリティ</a:t>
            </a:r>
            <a:r>
              <a:rPr lang="en-US" altLang="ja-JP">
                <a:solidFill>
                  <a:schemeClr val="accent1"/>
                </a:solidFill>
                <a:ea typeface="游ゴシック"/>
              </a:rPr>
              <a:t>] </a:t>
            </a:r>
            <a:r>
              <a:rPr lang="ja-JP" altLang="en-US">
                <a:solidFill>
                  <a:schemeClr val="accent1"/>
                </a:solidFill>
                <a:ea typeface="游ゴシック"/>
              </a:rPr>
              <a:t>各</a:t>
            </a:r>
            <a:r>
              <a:rPr lang="en-US" altLang="ja-JP">
                <a:solidFill>
                  <a:schemeClr val="accent1"/>
                </a:solidFill>
                <a:ea typeface="游ゴシック"/>
              </a:rPr>
              <a:t>VM</a:t>
            </a:r>
            <a:r>
              <a:rPr lang="ja-JP" altLang="en-US">
                <a:solidFill>
                  <a:schemeClr val="accent1"/>
                </a:solidFill>
                <a:ea typeface="游ゴシック"/>
              </a:rPr>
              <a:t>がセキュリティ的に安全な状態になっている。（セキュリティグループ）</a:t>
            </a:r>
            <a:endParaRPr lang="ja-JP" altLang="en-US">
              <a:solidFill>
                <a:schemeClr val="accent1"/>
              </a:solidFill>
              <a:ea typeface="游ゴシック"/>
              <a:cs typeface="Calibri"/>
            </a:endParaRPr>
          </a:p>
          <a:p>
            <a:pPr marL="0" indent="0">
              <a:buNone/>
            </a:pPr>
            <a:r>
              <a:rPr lang="ja-JP" altLang="en-US">
                <a:solidFill>
                  <a:schemeClr val="accent1"/>
                </a:solidFill>
                <a:ea typeface="游ゴシック"/>
              </a:rPr>
              <a:t>・</a:t>
            </a:r>
            <a:r>
              <a:rPr lang="en-US" altLang="ja-JP">
                <a:solidFill>
                  <a:schemeClr val="accent1"/>
                </a:solidFill>
                <a:ea typeface="游ゴシック"/>
              </a:rPr>
              <a:t>[</a:t>
            </a:r>
            <a:r>
              <a:rPr lang="ja-JP" altLang="en-US">
                <a:solidFill>
                  <a:schemeClr val="accent1"/>
                </a:solidFill>
                <a:ea typeface="游ゴシック"/>
              </a:rPr>
              <a:t>診断</a:t>
            </a:r>
            <a:r>
              <a:rPr lang="en-US" altLang="ja-JP">
                <a:solidFill>
                  <a:schemeClr val="accent1"/>
                </a:solidFill>
                <a:ea typeface="游ゴシック"/>
              </a:rPr>
              <a:t>]</a:t>
            </a:r>
            <a:r>
              <a:rPr lang="ja-JP" altLang="en-US">
                <a:solidFill>
                  <a:schemeClr val="accent1"/>
                </a:solidFill>
                <a:ea typeface="游ゴシック"/>
              </a:rPr>
              <a:t> アプリケーションにセキュリティの問題がないことが保証されている。</a:t>
            </a:r>
            <a:endParaRPr lang="en-US" altLang="ja-JP">
              <a:solidFill>
                <a:schemeClr val="accent1"/>
              </a:solidFill>
              <a:ea typeface="游ゴシック"/>
            </a:endParaRPr>
          </a:p>
        </p:txBody>
      </p:sp>
      <p:sp>
        <p:nvSpPr>
          <p:cNvPr id="4" name="吹き出し: 角を丸めた四角形 3">
            <a:extLst>
              <a:ext uri="{FF2B5EF4-FFF2-40B4-BE49-F238E27FC236}">
                <a16:creationId xmlns:a16="http://schemas.microsoft.com/office/drawing/2014/main" id="{9CC69610-D550-E2D8-D781-724E02A9F9E0}"/>
              </a:ext>
            </a:extLst>
          </p:cNvPr>
          <p:cNvSpPr/>
          <p:nvPr/>
        </p:nvSpPr>
        <p:spPr>
          <a:xfrm>
            <a:off x="6297968" y="1258120"/>
            <a:ext cx="4572754" cy="1497095"/>
          </a:xfrm>
          <a:prstGeom prst="wedgeRoundRectCallout">
            <a:avLst>
              <a:gd name="adj1" fmla="val -46484"/>
              <a:gd name="adj2" fmla="val -79812"/>
              <a:gd name="adj3" fmla="val 16667"/>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p>
            <a:pPr algn="ctr"/>
            <a:r>
              <a:rPr kumimoji="1" lang="ja-JP" altLang="en-US"/>
              <a:t>進捗報告</a:t>
            </a:r>
            <a:endParaRPr kumimoji="1" lang="en-US" altLang="ja-JP"/>
          </a:p>
          <a:p>
            <a:pPr algn="ctr"/>
            <a:r>
              <a:rPr kumimoji="1" lang="en-US" altLang="ja-JP">
                <a:ea typeface="游ゴシック"/>
              </a:rPr>
              <a:t>=</a:t>
            </a:r>
            <a:r>
              <a:rPr kumimoji="1" lang="ja-JP" altLang="en-US">
                <a:ea typeface="游ゴシック"/>
              </a:rPr>
              <a:t>ビジネス上の</a:t>
            </a:r>
            <a:endParaRPr kumimoji="1" lang="en-US" altLang="ja-JP">
              <a:ea typeface="游ゴシック"/>
            </a:endParaRPr>
          </a:p>
          <a:p>
            <a:pPr algn="ctr"/>
            <a:r>
              <a:rPr kumimoji="1" lang="ja-JP" altLang="en-US">
                <a:ea typeface="游ゴシック"/>
              </a:rPr>
              <a:t>コミュニケーションの基本中の基本</a:t>
            </a:r>
            <a:endParaRPr kumimoji="1" lang="en-US" altLang="ja-JP"/>
          </a:p>
          <a:p>
            <a:pPr algn="ctr"/>
            <a:r>
              <a:rPr kumimoji="1" lang="ja-JP" altLang="en-US"/>
              <a:t>（面接の練習）</a:t>
            </a:r>
          </a:p>
        </p:txBody>
      </p:sp>
    </p:spTree>
    <p:extLst>
      <p:ext uri="{BB962C8B-B14F-4D97-AF65-F5344CB8AC3E}">
        <p14:creationId xmlns:p14="http://schemas.microsoft.com/office/powerpoint/2010/main" val="765996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A149C3-C0AA-43BC-B984-0F0C3F2F7495}"/>
              </a:ext>
            </a:extLst>
          </p:cNvPr>
          <p:cNvSpPr>
            <a:spLocks noGrp="1"/>
          </p:cNvSpPr>
          <p:nvPr>
            <p:ph type="title"/>
          </p:nvPr>
        </p:nvSpPr>
        <p:spPr>
          <a:xfrm>
            <a:off x="734998" y="-65954"/>
            <a:ext cx="10515600" cy="1325563"/>
          </a:xfrm>
        </p:spPr>
        <p:txBody>
          <a:bodyPr/>
          <a:lstStyle/>
          <a:p>
            <a:pPr marL="0" indent="0">
              <a:buNone/>
            </a:pPr>
            <a:r>
              <a:rPr lang="ja-JP" altLang="en-US">
                <a:latin typeface="メイリオ" panose="020B0604030504040204" pitchFamily="50" charset="-128"/>
                <a:ea typeface="メイリオ" panose="020B0604030504040204" pitchFamily="50" charset="-128"/>
              </a:rPr>
              <a:t>成果物一覧</a:t>
            </a:r>
          </a:p>
        </p:txBody>
      </p:sp>
      <p:sp>
        <p:nvSpPr>
          <p:cNvPr id="3" name="コンテンツ プレースホルダー 2">
            <a:extLst>
              <a:ext uri="{FF2B5EF4-FFF2-40B4-BE49-F238E27FC236}">
                <a16:creationId xmlns:a16="http://schemas.microsoft.com/office/drawing/2014/main" id="{0E87E005-D634-43D0-8492-5AFB38791A45}"/>
              </a:ext>
            </a:extLst>
          </p:cNvPr>
          <p:cNvSpPr>
            <a:spLocks noGrp="1"/>
          </p:cNvSpPr>
          <p:nvPr>
            <p:ph idx="1"/>
          </p:nvPr>
        </p:nvSpPr>
        <p:spPr>
          <a:xfrm>
            <a:off x="734998" y="1049521"/>
            <a:ext cx="10207544" cy="4758957"/>
          </a:xfrm>
        </p:spPr>
        <p:txBody>
          <a:bodyPr>
            <a:normAutofit/>
          </a:bodyPr>
          <a:lstStyle/>
          <a:p>
            <a:r>
              <a:rPr lang="ja-JP" altLang="en-US" sz="2200"/>
              <a:t>設計ドキュメント（会社指定の </a:t>
            </a:r>
            <a:r>
              <a:rPr lang="en-US" altLang="ja-JP" sz="2200" b="1"/>
              <a:t>MS</a:t>
            </a:r>
            <a:r>
              <a:rPr lang="ja-JP" altLang="en-US" sz="2200" b="1"/>
              <a:t> </a:t>
            </a:r>
            <a:r>
              <a:rPr lang="en-US" altLang="ja-JP" sz="2200" b="1"/>
              <a:t>Office</a:t>
            </a:r>
            <a:r>
              <a:rPr lang="ja-JP" altLang="en-US" sz="2200" b="1"/>
              <a:t> </a:t>
            </a:r>
            <a:r>
              <a:rPr lang="ja-JP" altLang="en-US" sz="2200"/>
              <a:t>を使ってください）</a:t>
            </a:r>
          </a:p>
          <a:p>
            <a:pPr lvl="1"/>
            <a:r>
              <a:rPr lang="ja-JP" altLang="en-US" sz="1800"/>
              <a:t>技術要素一覧</a:t>
            </a:r>
            <a:r>
              <a:rPr lang="en-US" altLang="ja-JP" sz="1800"/>
              <a:t>Excel</a:t>
            </a:r>
            <a:r>
              <a:rPr lang="ja-JP" altLang="en-US" sz="1800"/>
              <a:t>（言語、フレームワーク、</a:t>
            </a:r>
            <a:r>
              <a:rPr lang="en-US" altLang="ja-JP" sz="1800"/>
              <a:t>DB</a:t>
            </a:r>
            <a:r>
              <a:rPr lang="ja-JP" altLang="en-US" sz="1800"/>
              <a:t>など。比較候補、選定理由）</a:t>
            </a:r>
            <a:endParaRPr lang="en-US" altLang="ja-JP" sz="1800"/>
          </a:p>
          <a:p>
            <a:pPr lvl="1"/>
            <a:r>
              <a:rPr lang="ja-JP" altLang="en-US" sz="1800"/>
              <a:t>システム構成図（フォーマットフリー）（</a:t>
            </a:r>
            <a:r>
              <a:rPr lang="en-US" altLang="ja-JP" sz="1800"/>
              <a:t>IP</a:t>
            </a:r>
            <a:r>
              <a:rPr lang="ja-JP" altLang="en-US" sz="1800"/>
              <a:t>、</a:t>
            </a:r>
            <a:r>
              <a:rPr lang="en-US" altLang="ja-JP" sz="1800"/>
              <a:t>Port</a:t>
            </a:r>
            <a:r>
              <a:rPr lang="ja-JP" altLang="en-US" sz="1800"/>
              <a:t>を記載）</a:t>
            </a:r>
          </a:p>
          <a:p>
            <a:pPr lvl="1"/>
            <a:r>
              <a:rPr lang="en-US" altLang="ja-JP" sz="1800"/>
              <a:t>DB</a:t>
            </a:r>
            <a:r>
              <a:rPr lang="ja-JP" altLang="en-US" sz="1800"/>
              <a:t>設計書</a:t>
            </a:r>
            <a:r>
              <a:rPr lang="en-US" altLang="ja-JP" sz="1800"/>
              <a:t>Excel</a:t>
            </a:r>
          </a:p>
          <a:p>
            <a:pPr lvl="1"/>
            <a:r>
              <a:rPr lang="en-US" altLang="ja-JP" sz="1800"/>
              <a:t>URL</a:t>
            </a:r>
            <a:r>
              <a:rPr lang="ja-JP" altLang="en-US" sz="1800"/>
              <a:t>一覧</a:t>
            </a:r>
            <a:r>
              <a:rPr lang="en-US" altLang="ja-JP" sz="1800"/>
              <a:t>Excel</a:t>
            </a:r>
            <a:r>
              <a:rPr lang="ja-JP" altLang="en-US" sz="1800"/>
              <a:t>（機能名、</a:t>
            </a:r>
            <a:r>
              <a:rPr lang="en-US" altLang="ja-JP" sz="1800"/>
              <a:t>URL</a:t>
            </a:r>
            <a:r>
              <a:rPr lang="ja-JP" altLang="en-US" sz="1800"/>
              <a:t>、</a:t>
            </a:r>
            <a:r>
              <a:rPr lang="en-US" altLang="ja-JP" sz="1800"/>
              <a:t>GET</a:t>
            </a:r>
            <a:r>
              <a:rPr lang="ja-JP" altLang="en-US" sz="1800"/>
              <a:t>、</a:t>
            </a:r>
            <a:r>
              <a:rPr lang="en-US" altLang="ja-JP" sz="1800"/>
              <a:t>POST</a:t>
            </a:r>
            <a:r>
              <a:rPr lang="ja-JP" altLang="en-US" sz="1800"/>
              <a:t>パラメータ）</a:t>
            </a:r>
            <a:endParaRPr lang="en-US" altLang="ja-JP" sz="1800"/>
          </a:p>
          <a:p>
            <a:pPr lvl="1"/>
            <a:r>
              <a:rPr lang="ja-JP" altLang="en-US" sz="1800"/>
              <a:t>ローカル環境構築手順書（</a:t>
            </a:r>
            <a:r>
              <a:rPr lang="en-US" altLang="ja-JP" sz="1800"/>
              <a:t>README</a:t>
            </a:r>
            <a:r>
              <a:rPr lang="ja-JP" altLang="en-US" sz="1800"/>
              <a:t>）（他の人が簡単に再現できれば合格）</a:t>
            </a:r>
            <a:endParaRPr lang="en-US" altLang="ja-JP" sz="1800"/>
          </a:p>
          <a:p>
            <a:r>
              <a:rPr lang="ja-JP" altLang="en-US" sz="2200"/>
              <a:t>ソースコード</a:t>
            </a:r>
          </a:p>
          <a:p>
            <a:r>
              <a:rPr lang="ja-JP" altLang="en-US" sz="2200"/>
              <a:t>運用ドキュメント（</a:t>
            </a:r>
            <a:r>
              <a:rPr lang="en-US" altLang="ja-JP" sz="2200"/>
              <a:t>※</a:t>
            </a:r>
            <a:r>
              <a:rPr lang="ja-JP" altLang="en-US" sz="2200"/>
              <a:t>除外）</a:t>
            </a:r>
            <a:endParaRPr lang="en-US" altLang="ja-JP" sz="2200"/>
          </a:p>
          <a:p>
            <a:pPr lvl="1"/>
            <a:r>
              <a:rPr lang="ja-JP" altLang="en-US" sz="1800"/>
              <a:t>リリース手順書</a:t>
            </a:r>
          </a:p>
          <a:p>
            <a:pPr lvl="1"/>
            <a:r>
              <a:rPr lang="ja-JP" altLang="en-US" sz="1800"/>
              <a:t>セキュリティチェック報告書（プラットフォーム、アプリケーション）</a:t>
            </a:r>
          </a:p>
          <a:p>
            <a:pPr lvl="1"/>
            <a:r>
              <a:rPr lang="ja-JP" altLang="en-US" sz="1800"/>
              <a:t>パフォーマンステスト結果報告書</a:t>
            </a:r>
          </a:p>
          <a:p>
            <a:r>
              <a:rPr lang="ja-JP" altLang="en-US" sz="2200"/>
              <a:t>発表スライド資料（個別に</a:t>
            </a:r>
            <a:r>
              <a:rPr lang="en-US" altLang="ja-JP" sz="2200"/>
              <a:t>1</a:t>
            </a:r>
            <a:r>
              <a:rPr lang="ja-JP" altLang="en-US" sz="2200"/>
              <a:t>人</a:t>
            </a:r>
            <a:r>
              <a:rPr lang="en-US" altLang="ja-JP" sz="2200"/>
              <a:t>15</a:t>
            </a:r>
            <a:r>
              <a:rPr lang="ja-JP" altLang="en-US" sz="2200"/>
              <a:t>分、デモ含む）</a:t>
            </a:r>
            <a:endParaRPr kumimoji="1" lang="en-US" altLang="ja-JP" sz="2200"/>
          </a:p>
          <a:p>
            <a:endParaRPr kumimoji="1" lang="ja-JP" altLang="en-US" sz="2200"/>
          </a:p>
        </p:txBody>
      </p:sp>
    </p:spTree>
    <p:extLst>
      <p:ext uri="{BB962C8B-B14F-4D97-AF65-F5344CB8AC3E}">
        <p14:creationId xmlns:p14="http://schemas.microsoft.com/office/powerpoint/2010/main" val="2858581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BADA12-FDFC-6EE9-A393-D857CA0DAAA8}"/>
              </a:ext>
            </a:extLst>
          </p:cNvPr>
          <p:cNvSpPr>
            <a:spLocks noGrp="1"/>
          </p:cNvSpPr>
          <p:nvPr>
            <p:ph type="title"/>
          </p:nvPr>
        </p:nvSpPr>
        <p:spPr>
          <a:xfrm>
            <a:off x="726688" y="52891"/>
            <a:ext cx="10515600" cy="1325563"/>
          </a:xfrm>
        </p:spPr>
        <p:txBody>
          <a:bodyPr/>
          <a:lstStyle/>
          <a:p>
            <a:r>
              <a:rPr lang="ja-JP" altLang="en-US"/>
              <a:t>成果物の合格基準</a:t>
            </a:r>
            <a:endParaRPr kumimoji="1" lang="ja-JP" altLang="en-US"/>
          </a:p>
        </p:txBody>
      </p:sp>
      <p:sp>
        <p:nvSpPr>
          <p:cNvPr id="3" name="コンテンツ プレースホルダー 2">
            <a:extLst>
              <a:ext uri="{FF2B5EF4-FFF2-40B4-BE49-F238E27FC236}">
                <a16:creationId xmlns:a16="http://schemas.microsoft.com/office/drawing/2014/main" id="{83E77ED8-ACD8-AB87-AB94-6D22A3EDE4E3}"/>
              </a:ext>
            </a:extLst>
          </p:cNvPr>
          <p:cNvSpPr>
            <a:spLocks noGrp="1"/>
          </p:cNvSpPr>
          <p:nvPr>
            <p:ph idx="1"/>
          </p:nvPr>
        </p:nvSpPr>
        <p:spPr>
          <a:xfrm>
            <a:off x="726688" y="1214193"/>
            <a:ext cx="9949949" cy="5003328"/>
          </a:xfrm>
        </p:spPr>
        <p:txBody>
          <a:bodyPr vert="horz" lIns="91440" tIns="45720" rIns="91440" bIns="45720" rtlCol="0" anchor="t">
            <a:noAutofit/>
          </a:bodyPr>
          <a:lstStyle/>
          <a:p>
            <a:r>
              <a:rPr kumimoji="1" lang="ja-JP" altLang="en-US" sz="1800"/>
              <a:t>技術要素一覧</a:t>
            </a:r>
            <a:endParaRPr lang="en-US" altLang="ja-JP" sz="1800"/>
          </a:p>
          <a:p>
            <a:pPr lvl="1"/>
            <a:r>
              <a:rPr lang="en-US" altLang="ja-JP" sz="1600">
                <a:ea typeface="游ゴシック"/>
              </a:rPr>
              <a:t>Excel</a:t>
            </a:r>
            <a:r>
              <a:rPr lang="ja-JP" altLang="en-US" sz="1600">
                <a:ea typeface="游ゴシック"/>
              </a:rPr>
              <a:t>で表にします。言語、フレームワーク、</a:t>
            </a:r>
            <a:r>
              <a:rPr lang="en-US" altLang="ja-JP" sz="1600">
                <a:ea typeface="游ゴシック"/>
              </a:rPr>
              <a:t>DB</a:t>
            </a:r>
            <a:r>
              <a:rPr lang="ja-JP" altLang="en-US" sz="1600">
                <a:ea typeface="游ゴシック"/>
              </a:rPr>
              <a:t>、</a:t>
            </a:r>
            <a:r>
              <a:rPr lang="en-US" altLang="ja-JP" sz="1600">
                <a:ea typeface="游ゴシック"/>
              </a:rPr>
              <a:t>OS</a:t>
            </a:r>
            <a:r>
              <a:rPr lang="ja-JP" altLang="en-US" sz="1600">
                <a:ea typeface="游ゴシック"/>
              </a:rPr>
              <a:t>、など使用する技術要素を全部書きます。</a:t>
            </a:r>
            <a:endParaRPr kumimoji="1" lang="en-US" altLang="ja-JP" sz="1800">
              <a:ea typeface="游ゴシック"/>
            </a:endParaRPr>
          </a:p>
          <a:p>
            <a:pPr lvl="1"/>
            <a:r>
              <a:rPr lang="ja-JP" altLang="en-US" sz="1600"/>
              <a:t>項目名、比較した他の選択肢、選択理由、バージョンを記載。</a:t>
            </a:r>
            <a:endParaRPr lang="en-US" altLang="ja-JP" sz="1600"/>
          </a:p>
          <a:p>
            <a:pPr lvl="1"/>
            <a:r>
              <a:rPr lang="ja-JP" altLang="en-US" sz="1600"/>
              <a:t>後から見て、なぜこれが選ばれたのか、誰が見てもわかる状態を目指す。</a:t>
            </a:r>
            <a:endParaRPr lang="en-US" altLang="ja-JP" sz="1600"/>
          </a:p>
          <a:p>
            <a:r>
              <a:rPr lang="en-US" altLang="ja-JP" sz="1800">
                <a:ea typeface="游ゴシック"/>
              </a:rPr>
              <a:t>URL</a:t>
            </a:r>
            <a:r>
              <a:rPr lang="ja-JP" altLang="en-US" sz="1800">
                <a:ea typeface="游ゴシック"/>
              </a:rPr>
              <a:t>一覧</a:t>
            </a:r>
            <a:endParaRPr lang="en-US" altLang="ja-JP" sz="1800">
              <a:ea typeface="游ゴシック"/>
            </a:endParaRPr>
          </a:p>
          <a:p>
            <a:pPr lvl="1"/>
            <a:r>
              <a:rPr lang="en-US" altLang="ja-JP" sz="1600">
                <a:ea typeface="游ゴシック"/>
              </a:rPr>
              <a:t>Excel</a:t>
            </a:r>
            <a:r>
              <a:rPr lang="ja-JP" altLang="en-US" sz="1600">
                <a:ea typeface="游ゴシック"/>
              </a:rPr>
              <a:t>で表にする。</a:t>
            </a:r>
            <a:endParaRPr lang="en-US" altLang="ja-JP" sz="1600">
              <a:ea typeface="游ゴシック"/>
            </a:endParaRPr>
          </a:p>
          <a:p>
            <a:pPr lvl="1"/>
            <a:r>
              <a:rPr lang="ja-JP" altLang="en-US" sz="1600">
                <a:ea typeface="游ゴシック"/>
              </a:rPr>
              <a:t>機能名、</a:t>
            </a:r>
            <a:r>
              <a:rPr lang="en-US" altLang="ja-JP" sz="1600">
                <a:ea typeface="游ゴシック"/>
              </a:rPr>
              <a:t>URL</a:t>
            </a:r>
            <a:r>
              <a:rPr lang="ja-JP" altLang="en-US" sz="1600">
                <a:ea typeface="游ゴシック"/>
              </a:rPr>
              <a:t>、パラメータ（</a:t>
            </a:r>
            <a:r>
              <a:rPr lang="en-US" altLang="ja-JP" sz="1600">
                <a:ea typeface="游ゴシック"/>
              </a:rPr>
              <a:t>GET</a:t>
            </a:r>
            <a:r>
              <a:rPr lang="ja-JP" altLang="en-US" sz="1600">
                <a:ea typeface="游ゴシック"/>
              </a:rPr>
              <a:t>、</a:t>
            </a:r>
            <a:r>
              <a:rPr lang="en-US" altLang="ja-JP" sz="1600">
                <a:ea typeface="游ゴシック"/>
              </a:rPr>
              <a:t>POST</a:t>
            </a:r>
            <a:r>
              <a:rPr lang="ja-JP" altLang="en-US" sz="1600">
                <a:ea typeface="游ゴシック"/>
              </a:rPr>
              <a:t>）</a:t>
            </a:r>
            <a:endParaRPr lang="en-US" altLang="ja-JP" sz="1600">
              <a:ea typeface="游ゴシック"/>
              <a:cs typeface="Calibri"/>
            </a:endParaRPr>
          </a:p>
          <a:p>
            <a:r>
              <a:rPr lang="en-US" altLang="ja-JP" sz="1800">
                <a:ea typeface="游ゴシック"/>
              </a:rPr>
              <a:t>DB</a:t>
            </a:r>
            <a:r>
              <a:rPr lang="ja-JP" altLang="en-US" sz="1800">
                <a:ea typeface="游ゴシック"/>
              </a:rPr>
              <a:t>設計書</a:t>
            </a:r>
            <a:endParaRPr lang="en-US" altLang="ja-JP" sz="1800">
              <a:ea typeface="游ゴシック"/>
            </a:endParaRPr>
          </a:p>
          <a:p>
            <a:pPr lvl="1"/>
            <a:r>
              <a:rPr lang="en-US" altLang="ja-JP" sz="1600">
                <a:ea typeface="游ゴシック"/>
              </a:rPr>
              <a:t>RDB</a:t>
            </a:r>
            <a:r>
              <a:rPr lang="ja-JP" altLang="en-US" sz="1600">
                <a:ea typeface="游ゴシック"/>
              </a:rPr>
              <a:t>に関しては</a:t>
            </a:r>
            <a:r>
              <a:rPr lang="en-US" altLang="ja-JP" sz="1600">
                <a:ea typeface="游ゴシック"/>
              </a:rPr>
              <a:t>Excel</a:t>
            </a:r>
            <a:r>
              <a:rPr lang="ja-JP" altLang="en-US" sz="1600">
                <a:ea typeface="游ゴシック"/>
              </a:rPr>
              <a:t>フォーマット通りに記載してください。</a:t>
            </a:r>
            <a:endParaRPr lang="en-US" altLang="ja-JP" sz="1600">
              <a:ea typeface="游ゴシック"/>
            </a:endParaRPr>
          </a:p>
          <a:p>
            <a:pPr lvl="1"/>
            <a:r>
              <a:rPr lang="en-US" altLang="ja-JP" sz="1600">
                <a:ea typeface="游ゴシック"/>
              </a:rPr>
              <a:t>LLM</a:t>
            </a:r>
            <a:r>
              <a:rPr lang="ja-JP" altLang="en-US" sz="1600">
                <a:ea typeface="游ゴシック"/>
              </a:rPr>
              <a:t>のレビュー、メンターのレビュー必須</a:t>
            </a:r>
            <a:endParaRPr lang="en-US" altLang="ja-JP" sz="1600">
              <a:ea typeface="游ゴシック"/>
            </a:endParaRPr>
          </a:p>
          <a:p>
            <a:r>
              <a:rPr lang="ja-JP" altLang="en-US" sz="1800">
                <a:ea typeface="游ゴシック"/>
                <a:cs typeface="Calibri"/>
              </a:rPr>
              <a:t>システム構成図</a:t>
            </a:r>
            <a:endParaRPr lang="en-US" sz="1800">
              <a:ea typeface="游ゴシック"/>
              <a:cs typeface="Calibri"/>
            </a:endParaRPr>
          </a:p>
          <a:p>
            <a:pPr lvl="1"/>
            <a:r>
              <a:rPr lang="en-US" altLang="ja-JP" sz="1600">
                <a:ea typeface="游ゴシック"/>
                <a:cs typeface="Calibri"/>
              </a:rPr>
              <a:t>LLM</a:t>
            </a:r>
            <a:r>
              <a:rPr lang="ja-JP" altLang="en-US" sz="1600">
                <a:ea typeface="游ゴシック"/>
                <a:cs typeface="Calibri"/>
              </a:rPr>
              <a:t>で</a:t>
            </a:r>
            <a:r>
              <a:rPr lang="en-US" altLang="ja-JP" sz="1600">
                <a:ea typeface="游ゴシック"/>
                <a:cs typeface="Calibri"/>
              </a:rPr>
              <a:t>Mermaid</a:t>
            </a:r>
            <a:r>
              <a:rPr lang="ja-JP" altLang="en-US" sz="1600">
                <a:ea typeface="游ゴシック"/>
                <a:cs typeface="Calibri"/>
              </a:rPr>
              <a:t>などで書いてもらいます</a:t>
            </a:r>
            <a:endParaRPr lang="en-US" sz="1600">
              <a:ea typeface="游ゴシック"/>
              <a:cs typeface="Calibri"/>
            </a:endParaRPr>
          </a:p>
          <a:p>
            <a:pPr lvl="1"/>
            <a:r>
              <a:rPr lang="ja-JP" altLang="en-US" sz="1600">
                <a:ea typeface="游ゴシック"/>
                <a:cs typeface="Calibri"/>
              </a:rPr>
              <a:t>サーバの役割、グローバル</a:t>
            </a:r>
            <a:r>
              <a:rPr lang="en-US" sz="1600">
                <a:ea typeface="游ゴシック"/>
                <a:cs typeface="Calibri"/>
              </a:rPr>
              <a:t>IP</a:t>
            </a:r>
            <a:r>
              <a:rPr lang="ja-JP" altLang="en-US" sz="1600">
                <a:ea typeface="游ゴシック"/>
                <a:cs typeface="Calibri"/>
              </a:rPr>
              <a:t>、内部</a:t>
            </a:r>
            <a:r>
              <a:rPr lang="en-US" sz="1600">
                <a:ea typeface="游ゴシック"/>
                <a:cs typeface="Calibri"/>
              </a:rPr>
              <a:t>IP</a:t>
            </a:r>
            <a:r>
              <a:rPr lang="ja-JP" altLang="en-US" sz="1600">
                <a:ea typeface="游ゴシック"/>
                <a:cs typeface="Calibri"/>
              </a:rPr>
              <a:t>、オープンする</a:t>
            </a:r>
            <a:r>
              <a:rPr lang="en-US" sz="1600">
                <a:ea typeface="游ゴシック"/>
                <a:cs typeface="Calibri"/>
              </a:rPr>
              <a:t>Port</a:t>
            </a:r>
          </a:p>
          <a:p>
            <a:pPr lvl="1"/>
            <a:r>
              <a:rPr lang="en-US" altLang="ja-JP" sz="1600">
                <a:ea typeface="游ゴシック"/>
                <a:cs typeface="Calibri"/>
              </a:rPr>
              <a:t>Google</a:t>
            </a:r>
            <a:r>
              <a:rPr lang="ja-JP" altLang="en-US" sz="1600">
                <a:ea typeface="游ゴシック"/>
                <a:cs typeface="Calibri"/>
              </a:rPr>
              <a:t>で画像検索すると例が出てきます。</a:t>
            </a:r>
            <a:endParaRPr lang="en-US" altLang="ja-JP" sz="1600">
              <a:ea typeface="游ゴシック"/>
              <a:cs typeface="Calibri"/>
            </a:endParaRPr>
          </a:p>
          <a:p>
            <a:pPr marL="457200" lvl="1" indent="0">
              <a:buNone/>
            </a:pPr>
            <a:endParaRPr lang="en-US" sz="1600">
              <a:ea typeface="游ゴシック"/>
              <a:cs typeface="Calibri"/>
            </a:endParaRPr>
          </a:p>
        </p:txBody>
      </p:sp>
    </p:spTree>
    <p:extLst>
      <p:ext uri="{BB962C8B-B14F-4D97-AF65-F5344CB8AC3E}">
        <p14:creationId xmlns:p14="http://schemas.microsoft.com/office/powerpoint/2010/main" val="25550674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CC0132-5B13-4243-A33C-41F79BD8E8B8}"/>
              </a:ext>
            </a:extLst>
          </p:cNvPr>
          <p:cNvSpPr>
            <a:spLocks noGrp="1"/>
          </p:cNvSpPr>
          <p:nvPr>
            <p:ph type="title"/>
          </p:nvPr>
        </p:nvSpPr>
        <p:spPr>
          <a:xfrm>
            <a:off x="838200" y="2661"/>
            <a:ext cx="10515600" cy="992422"/>
          </a:xfrm>
        </p:spPr>
        <p:txBody>
          <a:bodyPr/>
          <a:lstStyle/>
          <a:p>
            <a:r>
              <a:rPr kumimoji="1" lang="ja-JP" altLang="en-US"/>
              <a:t>チームとして成果を出すための行動規範</a:t>
            </a:r>
          </a:p>
        </p:txBody>
      </p:sp>
      <p:sp>
        <p:nvSpPr>
          <p:cNvPr id="3" name="コンテンツ プレースホルダー 2">
            <a:extLst>
              <a:ext uri="{FF2B5EF4-FFF2-40B4-BE49-F238E27FC236}">
                <a16:creationId xmlns:a16="http://schemas.microsoft.com/office/drawing/2014/main" id="{4EA89905-0C99-47BD-AFC5-9DC7892AB6D9}"/>
              </a:ext>
            </a:extLst>
          </p:cNvPr>
          <p:cNvSpPr>
            <a:spLocks noGrp="1"/>
          </p:cNvSpPr>
          <p:nvPr>
            <p:ph idx="1"/>
          </p:nvPr>
        </p:nvSpPr>
        <p:spPr>
          <a:xfrm>
            <a:off x="838200" y="905435"/>
            <a:ext cx="10837128" cy="5782236"/>
          </a:xfrm>
        </p:spPr>
        <p:txBody>
          <a:bodyPr>
            <a:normAutofit fontScale="62500" lnSpcReduction="20000"/>
          </a:bodyPr>
          <a:lstStyle/>
          <a:p>
            <a:pPr>
              <a:lnSpc>
                <a:spcPts val="2000"/>
              </a:lnSpc>
            </a:pPr>
            <a:r>
              <a:rPr lang="ja-JP" altLang="en-US"/>
              <a:t>積極的なチーム貢献</a:t>
            </a:r>
            <a:endParaRPr lang="en-US" altLang="ja-JP"/>
          </a:p>
          <a:p>
            <a:pPr lvl="1">
              <a:lnSpc>
                <a:spcPts val="2000"/>
              </a:lnSpc>
            </a:pPr>
            <a:r>
              <a:rPr lang="ja-JP" altLang="en-US"/>
              <a:t>タスクを思いついたら</a:t>
            </a:r>
            <a:r>
              <a:rPr lang="en-US" altLang="ja-JP"/>
              <a:t>Slack</a:t>
            </a:r>
            <a:r>
              <a:rPr lang="ja-JP" altLang="en-US"/>
              <a:t>等で共有</a:t>
            </a:r>
            <a:endParaRPr lang="en-US" altLang="ja-JP"/>
          </a:p>
          <a:p>
            <a:pPr lvl="1">
              <a:lnSpc>
                <a:spcPts val="2000"/>
              </a:lnSpc>
            </a:pPr>
            <a:r>
              <a:rPr lang="ja-JP" altLang="en-US"/>
              <a:t> </a:t>
            </a:r>
            <a:r>
              <a:rPr lang="en-US" altLang="ja-JP"/>
              <a:t>MTG</a:t>
            </a:r>
            <a:r>
              <a:rPr lang="ja-JP" altLang="en-US"/>
              <a:t>等でチーム全体に共有。やるかやらないかはチームで判断。ひとりで勝手に走らない。</a:t>
            </a:r>
            <a:endParaRPr lang="en-US" altLang="ja-JP"/>
          </a:p>
          <a:p>
            <a:pPr lvl="1">
              <a:lnSpc>
                <a:spcPts val="2000"/>
              </a:lnSpc>
            </a:pPr>
            <a:r>
              <a:rPr lang="ja-JP" altLang="en-US"/>
              <a:t>はじめは「設計ドキュメント」作成タスクから</a:t>
            </a:r>
            <a:endParaRPr lang="en-US" altLang="ja-JP"/>
          </a:p>
          <a:p>
            <a:pPr lvl="2">
              <a:lnSpc>
                <a:spcPts val="2000"/>
              </a:lnSpc>
            </a:pPr>
            <a:r>
              <a:rPr lang="en-US" altLang="ja-JP"/>
              <a:t>1</a:t>
            </a:r>
            <a:r>
              <a:rPr lang="ja-JP" altLang="en-US"/>
              <a:t>人</a:t>
            </a:r>
            <a:r>
              <a:rPr lang="en-US" altLang="ja-JP"/>
              <a:t>1</a:t>
            </a:r>
            <a:r>
              <a:rPr lang="ja-JP" altLang="en-US"/>
              <a:t>つ以上を担当。自分で調べて素案</a:t>
            </a:r>
            <a:r>
              <a:rPr kumimoji="1" lang="ja-JP" altLang="en-US"/>
              <a:t>を１つ立てる</a:t>
            </a:r>
            <a:br>
              <a:rPr kumimoji="1" lang="en-US" altLang="ja-JP"/>
            </a:br>
            <a:r>
              <a:rPr kumimoji="1" lang="ja-JP" altLang="en-US"/>
              <a:t>⇒ チーム内に方針を中間報告。可能であれば比較できる案を複数出して説明する</a:t>
            </a:r>
            <a:br>
              <a:rPr kumimoji="1" lang="en-US" altLang="ja-JP"/>
            </a:br>
            <a:r>
              <a:rPr kumimoji="1" lang="ja-JP" altLang="en-US"/>
              <a:t>⇒ ある程度固まってから実装着手</a:t>
            </a:r>
            <a:endParaRPr kumimoji="1" lang="en-US" altLang="ja-JP"/>
          </a:p>
          <a:p>
            <a:pPr lvl="2">
              <a:lnSpc>
                <a:spcPts val="2000"/>
              </a:lnSpc>
            </a:pPr>
            <a:r>
              <a:rPr lang="ja-JP" altLang="en-US"/>
              <a:t>勝手に個人で決めて実装開始されたらみんなが後で困る</a:t>
            </a:r>
            <a:endParaRPr kumimoji="1" lang="en-US" altLang="ja-JP"/>
          </a:p>
          <a:p>
            <a:pPr>
              <a:lnSpc>
                <a:spcPts val="2000"/>
              </a:lnSpc>
            </a:pPr>
            <a:r>
              <a:rPr kumimoji="1" lang="ja-JP" altLang="en-US"/>
              <a:t>チーム内レビュー徹底</a:t>
            </a:r>
            <a:endParaRPr kumimoji="1" lang="en-US" altLang="ja-JP"/>
          </a:p>
          <a:p>
            <a:pPr lvl="1">
              <a:lnSpc>
                <a:spcPts val="2000"/>
              </a:lnSpc>
            </a:pPr>
            <a:r>
              <a:rPr kumimoji="1" lang="ja-JP" altLang="en-US"/>
              <a:t>作業結果の構築コマンドや動作確認方法を</a:t>
            </a:r>
            <a:r>
              <a:rPr lang="en-US" altLang="ja-JP"/>
              <a:t>README</a:t>
            </a:r>
            <a:r>
              <a:rPr lang="ja-JP" altLang="en-US"/>
              <a:t>など</a:t>
            </a:r>
            <a:r>
              <a:rPr kumimoji="1" lang="ja-JP" altLang="en-US"/>
              <a:t>で共有する</a:t>
            </a:r>
            <a:r>
              <a:rPr lang="ja-JP" altLang="en-US"/>
              <a:t>。</a:t>
            </a:r>
            <a:endParaRPr lang="en-US" altLang="ja-JP"/>
          </a:p>
          <a:p>
            <a:pPr lvl="1">
              <a:lnSpc>
                <a:spcPts val="2000"/>
              </a:lnSpc>
            </a:pPr>
            <a:r>
              <a:rPr lang="ja-JP" altLang="en-US"/>
              <a:t>チーム内の最低</a:t>
            </a:r>
            <a:r>
              <a:rPr lang="en-US" altLang="ja-JP"/>
              <a:t>1</a:t>
            </a:r>
            <a:r>
              <a:rPr lang="ja-JP" altLang="en-US"/>
              <a:t>名が</a:t>
            </a:r>
            <a:r>
              <a:rPr kumimoji="1" lang="ja-JP" altLang="en-US"/>
              <a:t>作業内容をレビューし確認する。</a:t>
            </a:r>
            <a:br>
              <a:rPr kumimoji="1" lang="en-US" altLang="ja-JP"/>
            </a:br>
            <a:r>
              <a:rPr kumimoji="1" lang="ja-JP" altLang="en-US"/>
              <a:t>（完了の定義：エビデンスを他のメンバーがあとから確認できる）</a:t>
            </a:r>
            <a:endParaRPr kumimoji="1" lang="en-US" altLang="ja-JP"/>
          </a:p>
          <a:p>
            <a:pPr>
              <a:lnSpc>
                <a:spcPts val="2000"/>
              </a:lnSpc>
            </a:pPr>
            <a:r>
              <a:rPr lang="ja-JP" altLang="en-US"/>
              <a:t>メンター相談</a:t>
            </a:r>
            <a:endParaRPr lang="en-US" altLang="ja-JP"/>
          </a:p>
          <a:p>
            <a:pPr lvl="1">
              <a:lnSpc>
                <a:spcPts val="2000"/>
              </a:lnSpc>
            </a:pPr>
            <a:r>
              <a:rPr lang="ja-JP" altLang="en-US"/>
              <a:t>技術面、ビジネス面ともに仕様の詳細は発注者が握っているので、積極的に質問する。</a:t>
            </a:r>
            <a:endParaRPr lang="en-US" altLang="ja-JP"/>
          </a:p>
          <a:p>
            <a:pPr lvl="1">
              <a:lnSpc>
                <a:spcPts val="2000"/>
              </a:lnSpc>
            </a:pPr>
            <a:r>
              <a:rPr kumimoji="1" lang="ja-JP" altLang="en-US"/>
              <a:t>「わかりません。教えてください」という受け身の態度より、「こう考えたんだけど、どうでしょうか」という</a:t>
            </a:r>
            <a:br>
              <a:rPr kumimoji="1" lang="en-US" altLang="ja-JP"/>
            </a:br>
            <a:r>
              <a:rPr kumimoji="1" lang="ja-JP" altLang="en-US"/>
              <a:t>発信型のコミュニケーションをとってほしい。</a:t>
            </a:r>
            <a:endParaRPr kumimoji="1" lang="en-US" altLang="ja-JP"/>
          </a:p>
          <a:p>
            <a:pPr>
              <a:lnSpc>
                <a:spcPts val="2000"/>
              </a:lnSpc>
            </a:pPr>
            <a:r>
              <a:rPr lang="ja-JP" altLang="en-US"/>
              <a:t>仕事の成果物は全て自分の実績</a:t>
            </a:r>
            <a:endParaRPr lang="en-US" altLang="ja-JP"/>
          </a:p>
          <a:p>
            <a:pPr lvl="1">
              <a:lnSpc>
                <a:spcPts val="2000"/>
              </a:lnSpc>
            </a:pPr>
            <a:r>
              <a:rPr lang="ja-JP" altLang="en-US"/>
              <a:t>「上から言われたからやります」以上の意味・価値は自分で見出す。</a:t>
            </a:r>
            <a:endParaRPr kumimoji="1" lang="en-US" altLang="ja-JP"/>
          </a:p>
        </p:txBody>
      </p:sp>
    </p:spTree>
    <p:extLst>
      <p:ext uri="{BB962C8B-B14F-4D97-AF65-F5344CB8AC3E}">
        <p14:creationId xmlns:p14="http://schemas.microsoft.com/office/powerpoint/2010/main" val="517805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4BEAAB-320E-4BD3-BA4F-C1956D0D5E61}"/>
              </a:ext>
            </a:extLst>
          </p:cNvPr>
          <p:cNvSpPr>
            <a:spLocks noGrp="1"/>
          </p:cNvSpPr>
          <p:nvPr>
            <p:ph type="title"/>
          </p:nvPr>
        </p:nvSpPr>
        <p:spPr>
          <a:xfrm>
            <a:off x="648630" y="1"/>
            <a:ext cx="10515600" cy="1003610"/>
          </a:xfrm>
        </p:spPr>
        <p:txBody>
          <a:bodyPr/>
          <a:lstStyle/>
          <a:p>
            <a:r>
              <a:rPr kumimoji="1" lang="ja-JP" altLang="en-US"/>
              <a:t>開発全般のヒント</a:t>
            </a:r>
          </a:p>
        </p:txBody>
      </p:sp>
      <p:sp>
        <p:nvSpPr>
          <p:cNvPr id="3" name="コンテンツ プレースホルダー 2">
            <a:extLst>
              <a:ext uri="{FF2B5EF4-FFF2-40B4-BE49-F238E27FC236}">
                <a16:creationId xmlns:a16="http://schemas.microsoft.com/office/drawing/2014/main" id="{F8296834-D8AE-4FAD-865D-DC14D1E52C8A}"/>
              </a:ext>
            </a:extLst>
          </p:cNvPr>
          <p:cNvSpPr>
            <a:spLocks noGrp="1"/>
          </p:cNvSpPr>
          <p:nvPr>
            <p:ph idx="1"/>
          </p:nvPr>
        </p:nvSpPr>
        <p:spPr>
          <a:xfrm>
            <a:off x="910116" y="762458"/>
            <a:ext cx="10371767" cy="5952106"/>
          </a:xfrm>
        </p:spPr>
        <p:txBody>
          <a:bodyPr vert="horz" lIns="91440" tIns="45720" rIns="91440" bIns="45720" rtlCol="0" anchor="t">
            <a:noAutofit/>
          </a:bodyPr>
          <a:lstStyle/>
          <a:p>
            <a:r>
              <a:rPr kumimoji="1" lang="ja-JP" altLang="en-US" sz="1600" b="1">
                <a:latin typeface="+mn-ea"/>
              </a:rPr>
              <a:t>チームの役割分担</a:t>
            </a:r>
            <a:endParaRPr kumimoji="1" lang="en-US" altLang="ja-JP" sz="1600" b="1">
              <a:latin typeface="+mn-ea"/>
            </a:endParaRPr>
          </a:p>
          <a:p>
            <a:pPr lvl="1"/>
            <a:r>
              <a:rPr kumimoji="1" lang="ja-JP" altLang="en-US" sz="1200">
                <a:latin typeface="游ゴシック"/>
                <a:ea typeface="游ゴシック"/>
              </a:rPr>
              <a:t>実質</a:t>
            </a:r>
            <a:r>
              <a:rPr kumimoji="1" lang="en-US" altLang="ja-JP" sz="1200">
                <a:latin typeface="游ゴシック"/>
                <a:ea typeface="游ゴシック"/>
              </a:rPr>
              <a:t>7</a:t>
            </a:r>
            <a:r>
              <a:rPr kumimoji="1" lang="ja-JP" altLang="en-US" sz="1200">
                <a:latin typeface="游ゴシック"/>
                <a:ea typeface="游ゴシック"/>
              </a:rPr>
              <a:t>日しかありません。</a:t>
            </a:r>
            <a:endParaRPr kumimoji="1" lang="en-US" altLang="ja-JP" sz="1200">
              <a:latin typeface="游ゴシック"/>
              <a:ea typeface="游ゴシック"/>
            </a:endParaRPr>
          </a:p>
          <a:p>
            <a:pPr lvl="1"/>
            <a:r>
              <a:rPr kumimoji="1" lang="ja-JP" altLang="en-US" sz="1200">
                <a:latin typeface="游ゴシック"/>
                <a:ea typeface="游ゴシック"/>
              </a:rPr>
              <a:t>調査</a:t>
            </a:r>
            <a:r>
              <a:rPr kumimoji="1" lang="en-US" altLang="ja-JP" sz="1200">
                <a:latin typeface="游ゴシック"/>
                <a:ea typeface="游ゴシック"/>
              </a:rPr>
              <a:t>/</a:t>
            </a:r>
            <a:r>
              <a:rPr kumimoji="1" lang="ja-JP" altLang="en-US" sz="1200">
                <a:latin typeface="游ゴシック"/>
                <a:ea typeface="游ゴシック"/>
              </a:rPr>
              <a:t>設計 → 実装</a:t>
            </a:r>
            <a:r>
              <a:rPr kumimoji="1" lang="en-US" altLang="ja-JP" sz="1200">
                <a:latin typeface="游ゴシック"/>
                <a:ea typeface="游ゴシック"/>
              </a:rPr>
              <a:t>/</a:t>
            </a:r>
            <a:r>
              <a:rPr kumimoji="1" lang="ja-JP" altLang="en-US" sz="1200">
                <a:latin typeface="游ゴシック"/>
                <a:ea typeface="游ゴシック"/>
              </a:rPr>
              <a:t>単体テスト → 結合テスト</a:t>
            </a:r>
            <a:r>
              <a:rPr kumimoji="1" lang="en-US" altLang="ja-JP" sz="1200">
                <a:latin typeface="游ゴシック"/>
                <a:ea typeface="游ゴシック"/>
              </a:rPr>
              <a:t>/</a:t>
            </a:r>
            <a:r>
              <a:rPr kumimoji="1" lang="ja-JP" altLang="en-US" sz="1200">
                <a:latin typeface="游ゴシック"/>
                <a:ea typeface="游ゴシック"/>
              </a:rPr>
              <a:t>リリース前準備</a:t>
            </a:r>
            <a:endParaRPr kumimoji="1" lang="en-US" altLang="ja-JP" sz="1200">
              <a:latin typeface="游ゴシック"/>
              <a:ea typeface="游ゴシック"/>
            </a:endParaRPr>
          </a:p>
          <a:p>
            <a:pPr lvl="2"/>
            <a:r>
              <a:rPr kumimoji="1" lang="ja-JP" altLang="en-US" sz="1100">
                <a:latin typeface="+mn-ea"/>
              </a:rPr>
              <a:t>それぞれが同じぐらい時間がかかる </a:t>
            </a:r>
            <a:endParaRPr kumimoji="1" lang="en-US" altLang="ja-JP" sz="1100">
              <a:latin typeface="+mn-ea"/>
            </a:endParaRPr>
          </a:p>
          <a:p>
            <a:pPr lvl="2"/>
            <a:r>
              <a:rPr kumimoji="1" lang="en-US" altLang="ja-JP" sz="1100">
                <a:latin typeface="游ゴシック"/>
                <a:ea typeface="游ゴシック"/>
              </a:rPr>
              <a:t>2</a:t>
            </a:r>
            <a:r>
              <a:rPr kumimoji="1" lang="ja-JP" altLang="en-US" sz="1100">
                <a:latin typeface="游ゴシック"/>
                <a:ea typeface="游ゴシック"/>
              </a:rPr>
              <a:t>日 設計、</a:t>
            </a:r>
            <a:r>
              <a:rPr lang="en-US" altLang="ja-JP" sz="1100">
                <a:latin typeface="游ゴシック"/>
                <a:ea typeface="游ゴシック"/>
              </a:rPr>
              <a:t>2</a:t>
            </a:r>
            <a:r>
              <a:rPr kumimoji="1" lang="ja-JP" altLang="en-US" sz="1100">
                <a:latin typeface="游ゴシック"/>
                <a:ea typeface="游ゴシック"/>
              </a:rPr>
              <a:t>日 実装、</a:t>
            </a:r>
            <a:r>
              <a:rPr lang="en-US" altLang="ja-JP" sz="1100">
                <a:latin typeface="游ゴシック"/>
                <a:ea typeface="游ゴシック"/>
              </a:rPr>
              <a:t>3</a:t>
            </a:r>
            <a:r>
              <a:rPr kumimoji="1" lang="ja-JP" altLang="en-US" sz="1100">
                <a:latin typeface="游ゴシック"/>
                <a:ea typeface="游ゴシック"/>
              </a:rPr>
              <a:t>日 結合試験</a:t>
            </a:r>
            <a:endParaRPr kumimoji="1" lang="en-US" altLang="ja-JP" sz="1100">
              <a:latin typeface="+mn-ea"/>
            </a:endParaRPr>
          </a:p>
          <a:p>
            <a:pPr lvl="1"/>
            <a:r>
              <a:rPr kumimoji="1" lang="ja-JP" altLang="en-US" sz="1200">
                <a:latin typeface="+mn-ea"/>
              </a:rPr>
              <a:t>分担の戦略</a:t>
            </a:r>
            <a:endParaRPr kumimoji="1" lang="en-US" altLang="ja-JP" sz="1200">
              <a:latin typeface="+mn-ea"/>
            </a:endParaRPr>
          </a:p>
          <a:p>
            <a:pPr lvl="2"/>
            <a:r>
              <a:rPr lang="ja-JP" altLang="en-US" sz="1100">
                <a:latin typeface="游ゴシック"/>
                <a:ea typeface="游ゴシック"/>
              </a:rPr>
              <a:t>最低限</a:t>
            </a:r>
            <a:r>
              <a:rPr lang="en-US" altLang="ja-JP" sz="1100">
                <a:latin typeface="游ゴシック"/>
                <a:ea typeface="游ゴシック"/>
              </a:rPr>
              <a:t>1</a:t>
            </a:r>
            <a:r>
              <a:rPr lang="ja-JP" altLang="en-US" sz="1100">
                <a:latin typeface="游ゴシック"/>
                <a:ea typeface="游ゴシック"/>
              </a:rPr>
              <a:t>つのタスクを担い、個人として成果を出せるようにする。</a:t>
            </a:r>
            <a:endParaRPr kumimoji="1" lang="en-US" altLang="ja-JP" sz="1100">
              <a:latin typeface="游ゴシック"/>
              <a:ea typeface="游ゴシック"/>
            </a:endParaRPr>
          </a:p>
          <a:p>
            <a:pPr lvl="2"/>
            <a:r>
              <a:rPr kumimoji="1" lang="ja-JP" altLang="en-US" sz="1100">
                <a:latin typeface="游ゴシック"/>
                <a:ea typeface="游ゴシック"/>
              </a:rPr>
              <a:t>インフラは</a:t>
            </a:r>
            <a:r>
              <a:rPr lang="ja-JP" altLang="en-US" sz="1100">
                <a:latin typeface="游ゴシック"/>
                <a:ea typeface="游ゴシック"/>
              </a:rPr>
              <a:t>初めて触る場合は</a:t>
            </a:r>
            <a:r>
              <a:rPr kumimoji="1" lang="ja-JP" altLang="en-US" sz="1100">
                <a:latin typeface="游ゴシック"/>
                <a:ea typeface="游ゴシック"/>
              </a:rPr>
              <a:t>難しい。</a:t>
            </a:r>
            <a:r>
              <a:rPr lang="ja-JP" altLang="en-US" sz="1100">
                <a:latin typeface="游ゴシック"/>
                <a:ea typeface="游ゴシック"/>
              </a:rPr>
              <a:t>自信がある人が</a:t>
            </a:r>
            <a:r>
              <a:rPr kumimoji="1" lang="ja-JP" altLang="en-US" sz="1100">
                <a:latin typeface="游ゴシック"/>
                <a:ea typeface="游ゴシック"/>
              </a:rPr>
              <a:t>インフラを優先的に担当。インフラ専任</a:t>
            </a:r>
            <a:r>
              <a:rPr lang="ja-JP" altLang="en-US" sz="1100">
                <a:latin typeface="游ゴシック"/>
                <a:ea typeface="游ゴシック"/>
              </a:rPr>
              <a:t>を立てて</a:t>
            </a:r>
            <a:r>
              <a:rPr kumimoji="1" lang="ja-JP" altLang="en-US" sz="1100">
                <a:latin typeface="游ゴシック"/>
                <a:ea typeface="游ゴシック"/>
              </a:rPr>
              <a:t>も全く問題ない。</a:t>
            </a:r>
            <a:endParaRPr lang="ja-JP" altLang="en-US" sz="1100">
              <a:latin typeface="游ゴシック"/>
              <a:ea typeface="游ゴシック"/>
            </a:endParaRPr>
          </a:p>
          <a:p>
            <a:pPr lvl="1"/>
            <a:r>
              <a:rPr lang="en-US" altLang="ja-JP" sz="1400">
                <a:latin typeface="游ゴシック"/>
                <a:ea typeface="游ゴシック"/>
              </a:rPr>
              <a:t>Done is better than perfect.</a:t>
            </a:r>
          </a:p>
          <a:p>
            <a:pPr lvl="2"/>
            <a:r>
              <a:rPr lang="ja-JP" altLang="en-US" sz="1100">
                <a:latin typeface="+mn-ea"/>
              </a:rPr>
              <a:t>とりあえず動くものを用意することが最も重要。</a:t>
            </a:r>
            <a:endParaRPr lang="en-US" altLang="ja-JP" sz="1100">
              <a:latin typeface="+mn-ea"/>
            </a:endParaRPr>
          </a:p>
          <a:p>
            <a:pPr lvl="2"/>
            <a:r>
              <a:rPr kumimoji="1" lang="ja-JP" altLang="en-US" sz="1100">
                <a:latin typeface="+mn-ea"/>
              </a:rPr>
              <a:t>知ってる技術を優先して使う。知らないことは簡単には使いこなせない。</a:t>
            </a:r>
            <a:endParaRPr kumimoji="1" lang="en-US" altLang="ja-JP" sz="1100">
              <a:latin typeface="+mn-ea"/>
            </a:endParaRPr>
          </a:p>
          <a:p>
            <a:pPr lvl="2"/>
            <a:r>
              <a:rPr lang="en-US" altLang="ja-JP" sz="1100">
                <a:latin typeface="游ゴシック"/>
                <a:ea typeface="游ゴシック"/>
              </a:rPr>
              <a:t>5</a:t>
            </a:r>
            <a:r>
              <a:rPr lang="ja-JP" altLang="en-US" sz="1100">
                <a:latin typeface="游ゴシック"/>
                <a:ea typeface="游ゴシック"/>
              </a:rPr>
              <a:t>日目以降の後半戦</a:t>
            </a:r>
            <a:r>
              <a:rPr kumimoji="1" lang="ja-JP" altLang="en-US" sz="1100">
                <a:latin typeface="游ゴシック"/>
                <a:ea typeface="游ゴシック"/>
              </a:rPr>
              <a:t>は「やらないこと」を決めていきましょう。</a:t>
            </a:r>
            <a:endParaRPr kumimoji="1" lang="en-US" altLang="ja-JP" sz="1100">
              <a:latin typeface="+mn-ea"/>
            </a:endParaRPr>
          </a:p>
          <a:p>
            <a:r>
              <a:rPr lang="ja-JP" altLang="en-US" sz="1600" b="1">
                <a:latin typeface="+mn-ea"/>
              </a:rPr>
              <a:t>個人での開発</a:t>
            </a:r>
            <a:endParaRPr lang="en-US" altLang="ja-JP" sz="1600" b="1">
              <a:latin typeface="+mn-ea"/>
            </a:endParaRPr>
          </a:p>
          <a:p>
            <a:pPr lvl="1"/>
            <a:r>
              <a:rPr lang="en-US" altLang="ja-JP" sz="1200">
                <a:latin typeface="游ゴシック"/>
                <a:ea typeface="游ゴシック"/>
              </a:rPr>
              <a:t>LLM</a:t>
            </a:r>
            <a:r>
              <a:rPr lang="ja-JP" altLang="en-US" sz="1200">
                <a:latin typeface="游ゴシック"/>
                <a:ea typeface="游ゴシック"/>
              </a:rPr>
              <a:t>や</a:t>
            </a:r>
            <a:r>
              <a:rPr lang="en-US" altLang="ja-JP" sz="1200">
                <a:latin typeface="游ゴシック"/>
                <a:ea typeface="游ゴシック"/>
              </a:rPr>
              <a:t>Web</a:t>
            </a:r>
            <a:r>
              <a:rPr lang="ja-JP" altLang="en-US" sz="1200">
                <a:latin typeface="游ゴシック"/>
                <a:ea typeface="游ゴシック"/>
              </a:rPr>
              <a:t>検索</a:t>
            </a:r>
            <a:r>
              <a:rPr kumimoji="1" lang="ja-JP" altLang="en-US" sz="1200">
                <a:latin typeface="游ゴシック"/>
                <a:ea typeface="游ゴシック"/>
              </a:rPr>
              <a:t>を駆使する。</a:t>
            </a:r>
            <a:endParaRPr kumimoji="1" lang="en-US" altLang="ja-JP" sz="1200">
              <a:latin typeface="游ゴシック"/>
              <a:ea typeface="游ゴシック"/>
            </a:endParaRPr>
          </a:p>
          <a:p>
            <a:pPr lvl="1"/>
            <a:r>
              <a:rPr lang="en-US" altLang="ja-JP" sz="1200">
                <a:latin typeface="游ゴシック"/>
                <a:ea typeface="游ゴシック"/>
              </a:rPr>
              <a:t>Windows</a:t>
            </a:r>
            <a:r>
              <a:rPr lang="ja-JP" altLang="en-US" sz="1200">
                <a:latin typeface="游ゴシック"/>
                <a:ea typeface="游ゴシック"/>
              </a:rPr>
              <a:t> 開発環境は </a:t>
            </a:r>
            <a:r>
              <a:rPr lang="en-US" altLang="ja-JP" sz="1200">
                <a:latin typeface="游ゴシック"/>
                <a:ea typeface="游ゴシック"/>
              </a:rPr>
              <a:t>WSL</a:t>
            </a:r>
            <a:r>
              <a:rPr lang="ja-JP" altLang="en-US" sz="1200">
                <a:latin typeface="游ゴシック"/>
                <a:ea typeface="游ゴシック"/>
              </a:rPr>
              <a:t> </a:t>
            </a:r>
            <a:r>
              <a:rPr lang="en-US" altLang="ja-JP" sz="1200">
                <a:latin typeface="游ゴシック"/>
                <a:ea typeface="游ゴシック"/>
              </a:rPr>
              <a:t>2</a:t>
            </a:r>
            <a:r>
              <a:rPr lang="ja-JP" altLang="en-US" sz="1200">
                <a:latin typeface="游ゴシック"/>
                <a:ea typeface="游ゴシック"/>
              </a:rPr>
              <a:t> </a:t>
            </a:r>
            <a:r>
              <a:rPr lang="en-US" altLang="ja-JP" sz="1200">
                <a:latin typeface="游ゴシック"/>
                <a:ea typeface="游ゴシック"/>
              </a:rPr>
              <a:t>Ubuntu</a:t>
            </a:r>
            <a:r>
              <a:rPr lang="ja-JP" altLang="en-US" sz="1200">
                <a:latin typeface="游ゴシック"/>
                <a:ea typeface="游ゴシック"/>
              </a:rPr>
              <a:t> を使ってみてください。（みんな普段は</a:t>
            </a:r>
            <a:r>
              <a:rPr lang="en-US" altLang="ja-JP" sz="1200">
                <a:latin typeface="游ゴシック"/>
                <a:ea typeface="游ゴシック"/>
              </a:rPr>
              <a:t>Mac</a:t>
            </a:r>
            <a:r>
              <a:rPr lang="ja-JP" altLang="en-US" sz="1200">
                <a:latin typeface="游ゴシック"/>
                <a:ea typeface="游ゴシック"/>
              </a:rPr>
              <a:t>使いが多いので。。）</a:t>
            </a:r>
            <a:endParaRPr lang="en-US" altLang="ja-JP" sz="1200">
              <a:latin typeface="游ゴシック"/>
              <a:ea typeface="游ゴシック"/>
            </a:endParaRPr>
          </a:p>
          <a:p>
            <a:pPr lvl="1"/>
            <a:r>
              <a:rPr lang="ja-JP" altLang="en-US" sz="1500">
                <a:latin typeface="游ゴシック"/>
                <a:ea typeface="游ゴシック"/>
              </a:rPr>
              <a:t>禁句</a:t>
            </a:r>
          </a:p>
          <a:p>
            <a:pPr lvl="2"/>
            <a:r>
              <a:rPr kumimoji="1" lang="ja-JP" altLang="en-US" sz="1100">
                <a:latin typeface="+mn-ea"/>
              </a:rPr>
              <a:t>「知識がないので。。」 → 知識がないことに挑戦するのが仕事の本分です。</a:t>
            </a:r>
            <a:endParaRPr lang="en-US" altLang="ja-JP" sz="1200">
              <a:latin typeface="游ゴシック"/>
              <a:ea typeface="游ゴシック"/>
            </a:endParaRPr>
          </a:p>
          <a:p>
            <a:r>
              <a:rPr kumimoji="1" lang="ja-JP" altLang="en-US" sz="1600" b="1">
                <a:latin typeface="+mn-ea"/>
              </a:rPr>
              <a:t>インフラ構築</a:t>
            </a:r>
            <a:endParaRPr kumimoji="1" lang="en-US" altLang="ja-JP" sz="1600" b="1">
              <a:latin typeface="+mn-ea"/>
            </a:endParaRPr>
          </a:p>
          <a:p>
            <a:pPr lvl="1"/>
            <a:r>
              <a:rPr kumimoji="1" lang="ja-JP" altLang="en-US" sz="1200">
                <a:latin typeface="游ゴシック"/>
                <a:ea typeface="游ゴシック"/>
              </a:rPr>
              <a:t>若干ハードルが高いので、メンター側からガイドラインを提示します。</a:t>
            </a:r>
            <a:endParaRPr kumimoji="1" lang="en-US" altLang="ja-JP" sz="1200">
              <a:latin typeface="游ゴシック"/>
              <a:ea typeface="游ゴシック"/>
            </a:endParaRPr>
          </a:p>
          <a:p>
            <a:pPr lvl="1"/>
            <a:r>
              <a:rPr lang="ja-JP" altLang="en-US" sz="1200">
                <a:latin typeface="游ゴシック"/>
                <a:ea typeface="游ゴシック"/>
              </a:rPr>
              <a:t>予算上限があるので、同一要素の上限</a:t>
            </a:r>
            <a:r>
              <a:rPr lang="en-US" altLang="ja-JP" sz="1200">
                <a:latin typeface="游ゴシック"/>
                <a:ea typeface="游ゴシック"/>
              </a:rPr>
              <a:t>3</a:t>
            </a:r>
            <a:r>
              <a:rPr lang="ja-JP" altLang="en-US" sz="1200">
                <a:latin typeface="游ゴシック"/>
                <a:ea typeface="游ゴシック"/>
              </a:rPr>
              <a:t>台。その日にすぐ使わないインフラは停止（または削除）してください。</a:t>
            </a:r>
          </a:p>
          <a:p>
            <a:pPr lvl="1"/>
            <a:r>
              <a:rPr lang="ja-JP" altLang="en-US" sz="1200">
                <a:latin typeface="游ゴシック"/>
                <a:ea typeface="游ゴシック"/>
              </a:rPr>
              <a:t>過去インフラをちゃんと構築できたチームは60％ぐらいです。全体が動くことを優先する。細かいところでハマり過ぎない</a:t>
            </a:r>
            <a:endParaRPr lang="en-US" altLang="ja-JP" sz="1200">
              <a:latin typeface="游ゴシック"/>
              <a:ea typeface="游ゴシック"/>
            </a:endParaRPr>
          </a:p>
          <a:p>
            <a:r>
              <a:rPr lang="en-US" altLang="ja-JP" sz="1600" b="1">
                <a:latin typeface="游ゴシック"/>
                <a:ea typeface="游ゴシック"/>
              </a:rPr>
              <a:t>3</a:t>
            </a:r>
            <a:r>
              <a:rPr lang="ja-JP" altLang="en-US" sz="1600" b="1">
                <a:latin typeface="游ゴシック"/>
                <a:ea typeface="游ゴシック"/>
              </a:rPr>
              <a:t>日目夕会までに決めて報告してほしいこと</a:t>
            </a:r>
            <a:endParaRPr lang="en-US" altLang="ja-JP" sz="1600" b="1">
              <a:latin typeface="游ゴシック"/>
              <a:ea typeface="游ゴシック"/>
            </a:endParaRPr>
          </a:p>
          <a:p>
            <a:pPr lvl="1"/>
            <a:r>
              <a:rPr lang="ja-JP" altLang="en-US" sz="1200">
                <a:latin typeface="游ゴシック"/>
                <a:ea typeface="游ゴシック"/>
              </a:rPr>
              <a:t>各人の担当範囲（最低</a:t>
            </a:r>
            <a:r>
              <a:rPr lang="en-US" altLang="ja-JP" sz="1200">
                <a:latin typeface="游ゴシック"/>
                <a:ea typeface="游ゴシック"/>
              </a:rPr>
              <a:t>1</a:t>
            </a:r>
            <a:r>
              <a:rPr lang="ja-JP" altLang="en-US" sz="1200">
                <a:latin typeface="游ゴシック"/>
                <a:ea typeface="游ゴシック"/>
              </a:rPr>
              <a:t>つのタスク）</a:t>
            </a:r>
            <a:endParaRPr lang="en-US" altLang="ja-JP" sz="1200">
              <a:latin typeface="游ゴシック"/>
              <a:ea typeface="游ゴシック"/>
            </a:endParaRPr>
          </a:p>
          <a:p>
            <a:pPr lvl="1"/>
            <a:r>
              <a:rPr lang="ja-JP" altLang="en-US" sz="1200">
                <a:latin typeface="+mn-ea"/>
              </a:rPr>
              <a:t>チームリード（期待値：朝会、夕会の司会をやってほしい。途中のタスク状況の整理をし、報告できるようになる）</a:t>
            </a:r>
            <a:endParaRPr lang="en-US" altLang="ja-JP" sz="1200">
              <a:latin typeface="+mn-ea"/>
            </a:endParaRPr>
          </a:p>
          <a:p>
            <a:endParaRPr lang="ja-JP" altLang="en-US" sz="1600">
              <a:latin typeface="游ゴシック"/>
              <a:ea typeface="游ゴシック"/>
            </a:endParaRPr>
          </a:p>
        </p:txBody>
      </p:sp>
    </p:spTree>
    <p:extLst>
      <p:ext uri="{BB962C8B-B14F-4D97-AF65-F5344CB8AC3E}">
        <p14:creationId xmlns:p14="http://schemas.microsoft.com/office/powerpoint/2010/main" val="1103011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17ADF4-0DEA-6B38-E8B8-F390B03D5228}"/>
              </a:ext>
            </a:extLst>
          </p:cNvPr>
          <p:cNvSpPr>
            <a:spLocks noGrp="1"/>
          </p:cNvSpPr>
          <p:nvPr>
            <p:ph type="title"/>
          </p:nvPr>
        </p:nvSpPr>
        <p:spPr/>
        <p:txBody>
          <a:bodyPr/>
          <a:lstStyle/>
          <a:p>
            <a:r>
              <a:rPr lang="ja-JP" altLang="en-US"/>
              <a:t>リード</a:t>
            </a:r>
            <a:r>
              <a:rPr kumimoji="1" lang="ja-JP" altLang="en-US"/>
              <a:t>の決め方のヒント</a:t>
            </a:r>
          </a:p>
        </p:txBody>
      </p:sp>
      <p:sp>
        <p:nvSpPr>
          <p:cNvPr id="3" name="コンテンツ プレースホルダー 2">
            <a:extLst>
              <a:ext uri="{FF2B5EF4-FFF2-40B4-BE49-F238E27FC236}">
                <a16:creationId xmlns:a16="http://schemas.microsoft.com/office/drawing/2014/main" id="{C95031B4-DEA1-75DD-AAE9-FBA189D71172}"/>
              </a:ext>
            </a:extLst>
          </p:cNvPr>
          <p:cNvSpPr>
            <a:spLocks noGrp="1"/>
          </p:cNvSpPr>
          <p:nvPr>
            <p:ph idx="1"/>
          </p:nvPr>
        </p:nvSpPr>
        <p:spPr/>
        <p:txBody>
          <a:bodyPr>
            <a:normAutofit fontScale="77500" lnSpcReduction="20000"/>
          </a:bodyPr>
          <a:lstStyle/>
          <a:p>
            <a:pPr marL="0" indent="0">
              <a:buNone/>
            </a:pPr>
            <a:r>
              <a:rPr kumimoji="1" lang="ja-JP" altLang="en-US" b="1"/>
              <a:t>リードの役割 ① </a:t>
            </a:r>
            <a:r>
              <a:rPr kumimoji="1" lang="en-US" altLang="ja-JP" b="1"/>
              <a:t>MTG</a:t>
            </a:r>
            <a:r>
              <a:rPr kumimoji="1" lang="ja-JP" altLang="en-US" b="1"/>
              <a:t>の司会 ② 進捗状況と成果物のチェック</a:t>
            </a:r>
            <a:endParaRPr kumimoji="1" lang="en-US" altLang="ja-JP" b="1"/>
          </a:p>
          <a:p>
            <a:pPr marL="514350" indent="-514350">
              <a:buFont typeface="+mj-lt"/>
              <a:buAutoNum type="arabicPeriod"/>
            </a:pPr>
            <a:endParaRPr kumimoji="1" lang="en-US" altLang="ja-JP"/>
          </a:p>
          <a:p>
            <a:pPr marL="0" indent="0">
              <a:buNone/>
            </a:pPr>
            <a:r>
              <a:rPr kumimoji="1" lang="ja-JP" altLang="en-US"/>
              <a:t>基準</a:t>
            </a:r>
            <a:endParaRPr kumimoji="1" lang="en-US" altLang="ja-JP"/>
          </a:p>
          <a:p>
            <a:pPr marL="514350" indent="-514350">
              <a:buFont typeface="+mj-lt"/>
              <a:buAutoNum type="arabicPeriod"/>
            </a:pPr>
            <a:r>
              <a:rPr kumimoji="1" lang="ja-JP" altLang="en-US"/>
              <a:t>過去にリーダーを経験したことがある人</a:t>
            </a:r>
            <a:br>
              <a:rPr kumimoji="1" lang="en-US" altLang="ja-JP"/>
            </a:br>
            <a:r>
              <a:rPr kumimoji="1" lang="ja-JP" altLang="en-US"/>
              <a:t>（システム開発</a:t>
            </a:r>
            <a:r>
              <a:rPr lang="ja-JP" altLang="en-US"/>
              <a:t>のリーダー</a:t>
            </a:r>
            <a:r>
              <a:rPr kumimoji="1" lang="ja-JP" altLang="en-US"/>
              <a:t>、またはそれ以外でも</a:t>
            </a:r>
            <a:r>
              <a:rPr kumimoji="1" lang="en-US" altLang="ja-JP"/>
              <a:t>OK</a:t>
            </a:r>
            <a:r>
              <a:rPr kumimoji="1" lang="ja-JP" altLang="en-US"/>
              <a:t>）</a:t>
            </a:r>
          </a:p>
          <a:p>
            <a:pPr marL="514350" indent="-514350">
              <a:buFont typeface="+mj-lt"/>
              <a:buAutoNum type="arabicPeriod"/>
            </a:pPr>
            <a:r>
              <a:rPr kumimoji="1" lang="en-US" altLang="ja-JP"/>
              <a:t>DB</a:t>
            </a:r>
            <a:r>
              <a:rPr kumimoji="1" lang="ja-JP" altLang="en-US"/>
              <a:t>の理解・経験がある人</a:t>
            </a:r>
            <a:endParaRPr lang="en-US" altLang="ja-JP"/>
          </a:p>
          <a:p>
            <a:pPr marL="514350" indent="-514350">
              <a:buFont typeface="+mj-lt"/>
              <a:buAutoNum type="arabicPeriod"/>
            </a:pPr>
            <a:r>
              <a:rPr kumimoji="1" lang="en-US" altLang="ja-JP"/>
              <a:t>AWS</a:t>
            </a:r>
            <a:r>
              <a:rPr kumimoji="1" lang="ja-JP" altLang="en-US"/>
              <a:t>の理解・経験がある人</a:t>
            </a:r>
          </a:p>
          <a:p>
            <a:pPr marL="514350" indent="-514350">
              <a:buFont typeface="+mj-lt"/>
              <a:buAutoNum type="arabicPeriod"/>
            </a:pPr>
            <a:r>
              <a:rPr kumimoji="1" lang="en-US" altLang="ja-JP"/>
              <a:t>Web</a:t>
            </a:r>
            <a:r>
              <a:rPr kumimoji="1" lang="ja-JP" altLang="en-US"/>
              <a:t>アプリケーションフレームワークによる開発経験がある人</a:t>
            </a:r>
          </a:p>
          <a:p>
            <a:pPr marL="514350" indent="-514350">
              <a:buFont typeface="+mj-lt"/>
              <a:buAutoNum type="arabicPeriod"/>
            </a:pPr>
            <a:r>
              <a:rPr kumimoji="1" lang="en-US" altLang="ja-JP"/>
              <a:t>OpenAI</a:t>
            </a:r>
            <a:r>
              <a:rPr kumimoji="1" lang="ja-JP" altLang="en-US"/>
              <a:t>等</a:t>
            </a:r>
            <a:r>
              <a:rPr kumimoji="1" lang="en-US" altLang="ja-JP"/>
              <a:t>LLM</a:t>
            </a:r>
            <a:r>
              <a:rPr kumimoji="1" lang="ja-JP" altLang="en-US"/>
              <a:t>の</a:t>
            </a:r>
            <a:r>
              <a:rPr kumimoji="1" lang="en-US" altLang="ja-JP"/>
              <a:t>API</a:t>
            </a:r>
            <a:r>
              <a:rPr kumimoji="1" lang="ja-JP" altLang="en-US"/>
              <a:t>を活用した開発経験がある人</a:t>
            </a:r>
            <a:endParaRPr kumimoji="1" lang="en-US" altLang="ja-JP"/>
          </a:p>
          <a:p>
            <a:endParaRPr kumimoji="1" lang="ja-JP" altLang="en-US"/>
          </a:p>
          <a:p>
            <a:pPr marL="0" indent="0">
              <a:buNone/>
            </a:pPr>
            <a:r>
              <a:rPr kumimoji="1" lang="ja-JP" altLang="en-US"/>
              <a:t>これら項目を</a:t>
            </a:r>
            <a:r>
              <a:rPr lang="ja-JP" altLang="en-US"/>
              <a:t>自己申告</a:t>
            </a:r>
            <a:r>
              <a:rPr kumimoji="1" lang="ja-JP" altLang="en-US"/>
              <a:t>をしてスキル表を作成する。（</a:t>
            </a:r>
            <a:r>
              <a:rPr lang="en-US" altLang="ja-JP"/>
              <a:t>A,B,C,D</a:t>
            </a:r>
            <a:r>
              <a:rPr lang="ja-JP" altLang="en-US"/>
              <a:t>評価</a:t>
            </a:r>
            <a:r>
              <a:rPr kumimoji="1" lang="ja-JP" altLang="en-US"/>
              <a:t>）</a:t>
            </a:r>
            <a:endParaRPr kumimoji="1" lang="en-US" altLang="ja-JP"/>
          </a:p>
          <a:p>
            <a:pPr marL="0" indent="0">
              <a:buNone/>
            </a:pPr>
            <a:r>
              <a:rPr lang="ja-JP" altLang="en-US"/>
              <a:t>表を見ながらチームで</a:t>
            </a:r>
            <a:r>
              <a:rPr kumimoji="1" lang="ja-JP" altLang="en-US"/>
              <a:t>相談のうえで決定してください。</a:t>
            </a:r>
          </a:p>
          <a:p>
            <a:endParaRPr kumimoji="1" lang="ja-JP" altLang="en-US"/>
          </a:p>
          <a:p>
            <a:endParaRPr kumimoji="1" lang="ja-JP" altLang="en-US"/>
          </a:p>
        </p:txBody>
      </p:sp>
    </p:spTree>
    <p:extLst>
      <p:ext uri="{BB962C8B-B14F-4D97-AF65-F5344CB8AC3E}">
        <p14:creationId xmlns:p14="http://schemas.microsoft.com/office/powerpoint/2010/main" val="879129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8EA74-9EE8-28A4-8E5F-DD0B872ED26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5DDFE82-F714-985E-16AE-C49532DF67F2}"/>
              </a:ext>
            </a:extLst>
          </p:cNvPr>
          <p:cNvSpPr>
            <a:spLocks noGrp="1"/>
          </p:cNvSpPr>
          <p:nvPr>
            <p:ph type="title"/>
          </p:nvPr>
        </p:nvSpPr>
        <p:spPr/>
        <p:txBody>
          <a:bodyPr/>
          <a:lstStyle/>
          <a:p>
            <a:r>
              <a:rPr kumimoji="1" lang="ja-JP" altLang="en-US"/>
              <a:t>べからず集</a:t>
            </a:r>
          </a:p>
        </p:txBody>
      </p:sp>
      <p:sp>
        <p:nvSpPr>
          <p:cNvPr id="3" name="コンテンツ プレースホルダー 2">
            <a:extLst>
              <a:ext uri="{FF2B5EF4-FFF2-40B4-BE49-F238E27FC236}">
                <a16:creationId xmlns:a16="http://schemas.microsoft.com/office/drawing/2014/main" id="{A5789E25-6BA7-2EE0-5116-DEA35506EF04}"/>
              </a:ext>
            </a:extLst>
          </p:cNvPr>
          <p:cNvSpPr>
            <a:spLocks noGrp="1"/>
          </p:cNvSpPr>
          <p:nvPr>
            <p:ph idx="1"/>
          </p:nvPr>
        </p:nvSpPr>
        <p:spPr>
          <a:xfrm>
            <a:off x="838200" y="1483743"/>
            <a:ext cx="11050814" cy="4693220"/>
          </a:xfrm>
        </p:spPr>
        <p:txBody>
          <a:bodyPr vert="horz" lIns="91440" tIns="45720" rIns="91440" bIns="45720" rtlCol="0" anchor="t">
            <a:normAutofit lnSpcReduction="10000"/>
          </a:bodyPr>
          <a:lstStyle/>
          <a:p>
            <a:r>
              <a:rPr kumimoji="1" lang="en-US" altLang="ja-JP" sz="3900">
                <a:ea typeface="游ゴシック"/>
              </a:rPr>
              <a:t>LLM</a:t>
            </a:r>
            <a:r>
              <a:rPr kumimoji="1" lang="ja-JP" altLang="en-US" sz="3900">
                <a:ea typeface="游ゴシック"/>
              </a:rPr>
              <a:t>の言いなりになる</a:t>
            </a:r>
            <a:endParaRPr kumimoji="1" lang="en-US" altLang="ja-JP" sz="3900">
              <a:ea typeface="游ゴシック"/>
            </a:endParaRPr>
          </a:p>
          <a:p>
            <a:pPr marL="457200" lvl="1" indent="0">
              <a:buNone/>
            </a:pPr>
            <a:r>
              <a:rPr lang="ja-JP" altLang="en-US" sz="2200">
                <a:ea typeface="游ゴシック"/>
              </a:rPr>
              <a:t>「</a:t>
            </a:r>
            <a:r>
              <a:rPr lang="en-US" altLang="ja-JP" sz="2200">
                <a:ea typeface="游ゴシック"/>
              </a:rPr>
              <a:t>LLM</a:t>
            </a:r>
            <a:r>
              <a:rPr lang="ja-JP" altLang="en-US" sz="2200">
                <a:ea typeface="游ゴシック"/>
              </a:rPr>
              <a:t>が出したコードそのままなので理由がわかりません」は、やばい</a:t>
            </a:r>
            <a:endParaRPr lang="en-US" altLang="ja-JP" sz="2200">
              <a:ea typeface="游ゴシック"/>
            </a:endParaRPr>
          </a:p>
          <a:p>
            <a:pPr marL="457200" lvl="1" indent="0">
              <a:buNone/>
            </a:pPr>
            <a:r>
              <a:rPr lang="ja-JP" altLang="en-US" sz="2200"/>
              <a:t>→ 開発成果物に責任をもってほしい</a:t>
            </a:r>
            <a:endParaRPr lang="en-US" altLang="ja-JP" sz="2200"/>
          </a:p>
          <a:p>
            <a:pPr marL="457200" lvl="1" indent="0">
              <a:buNone/>
            </a:pPr>
            <a:r>
              <a:rPr lang="ja-JP" altLang="en-US" sz="2200"/>
              <a:t>（実際のサービスのバグ・インシデントは、会社全体が責任を負う）</a:t>
            </a:r>
            <a:endParaRPr lang="en-US" altLang="ja-JP" sz="2200"/>
          </a:p>
          <a:p>
            <a:r>
              <a:rPr kumimoji="1" lang="ja-JP" altLang="en-US" sz="3900">
                <a:ea typeface="游ゴシック"/>
              </a:rPr>
              <a:t>あったらいいな</a:t>
            </a:r>
            <a:r>
              <a:rPr kumimoji="1" lang="ja-JP" altLang="en-US" sz="3200">
                <a:ea typeface="游ゴシック"/>
              </a:rPr>
              <a:t>（</a:t>
            </a:r>
            <a:r>
              <a:rPr kumimoji="1" lang="en-US" altLang="ja-JP" sz="3200">
                <a:ea typeface="游ゴシック"/>
              </a:rPr>
              <a:t>Nice</a:t>
            </a:r>
            <a:r>
              <a:rPr kumimoji="1" lang="ja-JP" altLang="en-US" sz="3200">
                <a:ea typeface="游ゴシック"/>
              </a:rPr>
              <a:t> </a:t>
            </a:r>
            <a:r>
              <a:rPr kumimoji="1" lang="en-US" altLang="ja-JP" sz="3200">
                <a:ea typeface="游ゴシック"/>
              </a:rPr>
              <a:t>To</a:t>
            </a:r>
            <a:r>
              <a:rPr kumimoji="1" lang="ja-JP" altLang="en-US" sz="3200">
                <a:ea typeface="游ゴシック"/>
              </a:rPr>
              <a:t> </a:t>
            </a:r>
            <a:r>
              <a:rPr kumimoji="1" lang="en-US" altLang="ja-JP" sz="3200">
                <a:ea typeface="游ゴシック"/>
              </a:rPr>
              <a:t>Have</a:t>
            </a:r>
            <a:r>
              <a:rPr kumimoji="1" lang="ja-JP" altLang="en-US" sz="3200">
                <a:ea typeface="游ゴシック"/>
              </a:rPr>
              <a:t>）</a:t>
            </a:r>
            <a:r>
              <a:rPr kumimoji="1" lang="ja-JP" altLang="en-US" sz="3900">
                <a:ea typeface="游ゴシック"/>
              </a:rPr>
              <a:t>を作りすぎる</a:t>
            </a:r>
            <a:endParaRPr kumimoji="1" lang="en-US" altLang="ja-JP" sz="3900">
              <a:ea typeface="游ゴシック"/>
            </a:endParaRPr>
          </a:p>
          <a:p>
            <a:pPr marL="457200" lvl="1" indent="0">
              <a:buNone/>
            </a:pPr>
            <a:r>
              <a:rPr lang="ja-JP" altLang="en-US" sz="2200">
                <a:ea typeface="游ゴシック"/>
              </a:rPr>
              <a:t>アイディアが拡散してしまい、スケジュール内で完了しないと</a:t>
            </a:r>
            <a:br>
              <a:rPr lang="en-US" altLang="ja-JP" sz="2200"/>
            </a:br>
            <a:r>
              <a:rPr lang="ja-JP" altLang="en-US" sz="2200">
                <a:ea typeface="游ゴシック"/>
              </a:rPr>
              <a:t>何もしていないのと変わりません</a:t>
            </a:r>
            <a:endParaRPr lang="en-US" altLang="ja-JP" sz="2200">
              <a:ea typeface="游ゴシック"/>
            </a:endParaRPr>
          </a:p>
          <a:p>
            <a:pPr marL="457200" lvl="1" indent="0">
              <a:buNone/>
            </a:pPr>
            <a:r>
              <a:rPr lang="ja-JP" altLang="en-US" sz="2200">
                <a:ea typeface="游ゴシック"/>
              </a:rPr>
              <a:t>→ 単なる提案と</a:t>
            </a:r>
            <a:r>
              <a:rPr lang="en-US" altLang="ja-JP" sz="2200">
                <a:ea typeface="游ゴシック"/>
              </a:rPr>
              <a:t>MUST</a:t>
            </a:r>
            <a:r>
              <a:rPr lang="ja-JP" altLang="en-US" sz="2200">
                <a:ea typeface="游ゴシック"/>
              </a:rPr>
              <a:t>要件の優先度をしっかり分けてチームで合意する</a:t>
            </a:r>
            <a:endParaRPr lang="en-US" altLang="ja-JP" sz="2200">
              <a:ea typeface="游ゴシック"/>
            </a:endParaRPr>
          </a:p>
          <a:p>
            <a:r>
              <a:rPr lang="en-US" altLang="ja-JP" sz="3900">
                <a:ea typeface="游ゴシック"/>
              </a:rPr>
              <a:t>Slack</a:t>
            </a:r>
            <a:r>
              <a:rPr lang="ja-JP" altLang="en-US" sz="3900">
                <a:ea typeface="游ゴシック"/>
              </a:rPr>
              <a:t>連絡時に</a:t>
            </a:r>
            <a:r>
              <a:rPr lang="en-US" altLang="ja-JP" sz="3900">
                <a:ea typeface="游ゴシック"/>
              </a:rPr>
              <a:t>@</a:t>
            </a:r>
            <a:r>
              <a:rPr lang="ja-JP" altLang="en-US" sz="3900">
                <a:ea typeface="游ゴシック"/>
              </a:rPr>
              <a:t>メンションしない</a:t>
            </a:r>
            <a:endParaRPr lang="en-US" altLang="ja-JP" sz="3900">
              <a:ea typeface="游ゴシック"/>
            </a:endParaRPr>
          </a:p>
          <a:p>
            <a:pPr marL="457200" lvl="1" indent="0">
              <a:buNone/>
            </a:pPr>
            <a:r>
              <a:rPr lang="ja-JP" altLang="en-US" sz="2200">
                <a:ea typeface="游ゴシック"/>
              </a:rPr>
              <a:t>特に会社の人間は他の業務と並行して対応しているので、</a:t>
            </a:r>
            <a:br>
              <a:rPr lang="en-US" altLang="ja-JP" sz="2200"/>
            </a:br>
            <a:r>
              <a:rPr lang="ja-JP" altLang="en-US" sz="2200">
                <a:ea typeface="游ゴシック"/>
              </a:rPr>
              <a:t>メンションしない場合はほぼ気がつかれません</a:t>
            </a:r>
            <a:br>
              <a:rPr lang="en-US" altLang="ja-JP" sz="2200"/>
            </a:br>
            <a:r>
              <a:rPr lang="ja-JP" altLang="en-US" sz="2200">
                <a:ea typeface="游ゴシック"/>
              </a:rPr>
              <a:t>→ 必ず明示的にメンションしてください（レスがないときは1時間後に追加PUSH）</a:t>
            </a:r>
            <a:endParaRPr lang="ja-JP" altLang="en-US" sz="2200">
              <a:ea typeface="游ゴシック"/>
              <a:cs typeface="Calibri"/>
            </a:endParaRPr>
          </a:p>
        </p:txBody>
      </p:sp>
    </p:spTree>
    <p:extLst>
      <p:ext uri="{BB962C8B-B14F-4D97-AF65-F5344CB8AC3E}">
        <p14:creationId xmlns:p14="http://schemas.microsoft.com/office/powerpoint/2010/main" val="2390514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288515-5D47-0E2B-5C07-33B3C209912A}"/>
              </a:ext>
            </a:extLst>
          </p:cNvPr>
          <p:cNvSpPr>
            <a:spLocks noGrp="1"/>
          </p:cNvSpPr>
          <p:nvPr>
            <p:ph type="title"/>
          </p:nvPr>
        </p:nvSpPr>
        <p:spPr/>
        <p:txBody>
          <a:bodyPr/>
          <a:lstStyle/>
          <a:p>
            <a:r>
              <a:rPr kumimoji="1" lang="en-US" altLang="ja-JP"/>
              <a:t>MTG</a:t>
            </a:r>
            <a:r>
              <a:rPr kumimoji="1" lang="ja-JP" altLang="en-US"/>
              <a:t>用</a:t>
            </a:r>
            <a:r>
              <a:rPr kumimoji="1" lang="en-US" altLang="ja-JP"/>
              <a:t>Zoom</a:t>
            </a:r>
            <a:endParaRPr kumimoji="1" lang="ja-JP" altLang="en-US"/>
          </a:p>
        </p:txBody>
      </p:sp>
      <p:sp>
        <p:nvSpPr>
          <p:cNvPr id="3" name="コンテンツ プレースホルダー 2">
            <a:extLst>
              <a:ext uri="{FF2B5EF4-FFF2-40B4-BE49-F238E27FC236}">
                <a16:creationId xmlns:a16="http://schemas.microsoft.com/office/drawing/2014/main" id="{141B1F38-4476-0FBE-0BE5-107BAFA198A4}"/>
              </a:ext>
            </a:extLst>
          </p:cNvPr>
          <p:cNvSpPr>
            <a:spLocks noGrp="1"/>
          </p:cNvSpPr>
          <p:nvPr>
            <p:ph idx="1"/>
          </p:nvPr>
        </p:nvSpPr>
        <p:spPr>
          <a:xfrm>
            <a:off x="838199" y="1825625"/>
            <a:ext cx="11040035" cy="4351338"/>
          </a:xfrm>
        </p:spPr>
        <p:txBody>
          <a:bodyPr>
            <a:normAutofit/>
          </a:bodyPr>
          <a:lstStyle/>
          <a:p>
            <a:pPr marL="0" indent="0">
              <a:buNone/>
            </a:pPr>
            <a:r>
              <a:rPr lang="en-US" altLang="ja-JP" sz="2000">
                <a:solidFill>
                  <a:srgbClr val="000000"/>
                </a:solidFill>
                <a:latin typeface="SF Pro"/>
              </a:rPr>
              <a:t>https://gmo-jp.zoom.us/j/84817112471?pwd=v27jHYd6XwwEkceAZZa253dtkAlI41.1</a:t>
            </a:r>
          </a:p>
          <a:p>
            <a:pPr marL="0" indent="0">
              <a:buNone/>
            </a:pPr>
            <a:endParaRPr lang="en-US" altLang="ja-JP" sz="2000">
              <a:solidFill>
                <a:srgbClr val="000000"/>
              </a:solidFill>
              <a:latin typeface="SF Pro"/>
            </a:endParaRPr>
          </a:p>
          <a:p>
            <a:pPr marL="0" indent="0">
              <a:buNone/>
            </a:pPr>
            <a:r>
              <a:rPr lang="ja-JP" altLang="en-US" sz="2000">
                <a:solidFill>
                  <a:srgbClr val="000000"/>
                </a:solidFill>
                <a:latin typeface="SF Pro"/>
              </a:rPr>
              <a:t>ミーティング </a:t>
            </a:r>
            <a:r>
              <a:rPr lang="en-US" altLang="ja-JP" sz="2000">
                <a:solidFill>
                  <a:srgbClr val="000000"/>
                </a:solidFill>
                <a:latin typeface="SF Pro"/>
              </a:rPr>
              <a:t>ID: 848 1711 2471</a:t>
            </a:r>
          </a:p>
          <a:p>
            <a:pPr marL="0" indent="0">
              <a:buNone/>
            </a:pPr>
            <a:r>
              <a:rPr lang="ja-JP" altLang="en-US" sz="2000">
                <a:solidFill>
                  <a:srgbClr val="000000"/>
                </a:solidFill>
                <a:latin typeface="SF Pro"/>
              </a:rPr>
              <a:t>パスコード</a:t>
            </a:r>
            <a:r>
              <a:rPr lang="en-US" altLang="ja-JP" sz="2000">
                <a:solidFill>
                  <a:srgbClr val="000000"/>
                </a:solidFill>
                <a:latin typeface="SF Pro"/>
              </a:rPr>
              <a:t>: 888777</a:t>
            </a:r>
          </a:p>
        </p:txBody>
      </p:sp>
    </p:spTree>
    <p:extLst>
      <p:ext uri="{BB962C8B-B14F-4D97-AF65-F5344CB8AC3E}">
        <p14:creationId xmlns:p14="http://schemas.microsoft.com/office/powerpoint/2010/main" val="37474384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791B29-6201-B154-DAF5-E245F587FACE}"/>
              </a:ext>
            </a:extLst>
          </p:cNvPr>
          <p:cNvSpPr>
            <a:spLocks noGrp="1"/>
          </p:cNvSpPr>
          <p:nvPr>
            <p:ph idx="1"/>
          </p:nvPr>
        </p:nvSpPr>
        <p:spPr/>
        <p:txBody>
          <a:bodyPr vert="horz" lIns="91440" tIns="45720" rIns="91440" bIns="45720" rtlCol="0" anchor="t">
            <a:normAutofit/>
          </a:bodyPr>
          <a:lstStyle/>
          <a:p>
            <a:pPr marL="0" indent="0">
              <a:buNone/>
            </a:pPr>
            <a:r>
              <a:rPr lang="ja-JP" altLang="en-US">
                <a:ea typeface="游ゴシック"/>
                <a:cs typeface="Calibri"/>
              </a:rPr>
              <a:t>ここで質問あれば確認</a:t>
            </a:r>
            <a:endParaRPr lang="en-US">
              <a:ea typeface="Calibri" panose="020F0502020204030204"/>
              <a:cs typeface="Calibri" panose="020F0502020204030204"/>
            </a:endParaRPr>
          </a:p>
        </p:txBody>
      </p:sp>
    </p:spTree>
    <p:extLst>
      <p:ext uri="{BB962C8B-B14F-4D97-AF65-F5344CB8AC3E}">
        <p14:creationId xmlns:p14="http://schemas.microsoft.com/office/powerpoint/2010/main" val="8555482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3CB320-891F-E334-C93B-FBAE210BF85F}"/>
              </a:ext>
            </a:extLst>
          </p:cNvPr>
          <p:cNvSpPr>
            <a:spLocks noGrp="1"/>
          </p:cNvSpPr>
          <p:nvPr>
            <p:ph type="title"/>
          </p:nvPr>
        </p:nvSpPr>
        <p:spPr/>
        <p:txBody>
          <a:bodyPr/>
          <a:lstStyle/>
          <a:p>
            <a:r>
              <a:rPr kumimoji="1" lang="ja-JP" altLang="en-US"/>
              <a:t>（改めて）</a:t>
            </a:r>
            <a:r>
              <a:rPr kumimoji="1" lang="en-US" altLang="ja-JP"/>
              <a:t>1</a:t>
            </a:r>
            <a:r>
              <a:rPr kumimoji="1" lang="ja-JP" altLang="en-US"/>
              <a:t>日目にやること</a:t>
            </a:r>
          </a:p>
        </p:txBody>
      </p:sp>
      <p:sp>
        <p:nvSpPr>
          <p:cNvPr id="3" name="コンテンツ プレースホルダー 2">
            <a:extLst>
              <a:ext uri="{FF2B5EF4-FFF2-40B4-BE49-F238E27FC236}">
                <a16:creationId xmlns:a16="http://schemas.microsoft.com/office/drawing/2014/main" id="{8EEC8824-2214-71B5-3AC9-9841DAD742EC}"/>
              </a:ext>
            </a:extLst>
          </p:cNvPr>
          <p:cNvSpPr>
            <a:spLocks noGrp="1"/>
          </p:cNvSpPr>
          <p:nvPr>
            <p:ph idx="1"/>
          </p:nvPr>
        </p:nvSpPr>
        <p:spPr/>
        <p:txBody>
          <a:bodyPr vert="horz" lIns="91440" tIns="45720" rIns="91440" bIns="45720" rtlCol="0" anchor="t">
            <a:normAutofit/>
          </a:bodyPr>
          <a:lstStyle/>
          <a:p>
            <a:r>
              <a:rPr kumimoji="1" lang="ja-JP" altLang="en-US"/>
              <a:t>チームで挨拶</a:t>
            </a:r>
            <a:endParaRPr kumimoji="1" lang="en-US" altLang="ja-JP"/>
          </a:p>
          <a:p>
            <a:r>
              <a:rPr kumimoji="1" lang="ja-JP" altLang="en-US"/>
              <a:t>進捗表確認、役割分担、リーダの相談</a:t>
            </a:r>
            <a:endParaRPr kumimoji="1" lang="en-US" altLang="ja-JP"/>
          </a:p>
          <a:p>
            <a:r>
              <a:rPr lang="en-US" altLang="ja-JP">
                <a:ea typeface="游ゴシック"/>
              </a:rPr>
              <a:t>GitHub</a:t>
            </a:r>
            <a:r>
              <a:rPr lang="ja-JP" altLang="en-US">
                <a:ea typeface="游ゴシック"/>
              </a:rPr>
              <a:t> </a:t>
            </a:r>
            <a:r>
              <a:rPr lang="en-US" altLang="ja-JP">
                <a:ea typeface="游ゴシック"/>
              </a:rPr>
              <a:t>Repogitory</a:t>
            </a:r>
            <a:r>
              <a:rPr lang="ja-JP" altLang="en-US">
                <a:ea typeface="游ゴシック"/>
              </a:rPr>
              <a:t>、プライベート化、メンター共有</a:t>
            </a:r>
            <a:endParaRPr lang="en-US" altLang="ja-JP">
              <a:ea typeface="游ゴシック"/>
            </a:endParaRPr>
          </a:p>
          <a:p>
            <a:r>
              <a:rPr lang="ja-JP" altLang="en-US"/>
              <a:t>「アプリケーションアーキテクチャ」の相談、決定</a:t>
            </a:r>
            <a:endParaRPr kumimoji="1" lang="en-US" altLang="ja-JP"/>
          </a:p>
          <a:p>
            <a:r>
              <a:rPr lang="ja-JP" altLang="en-US">
                <a:ea typeface="游ゴシック"/>
              </a:rPr>
              <a:t>「</a:t>
            </a:r>
            <a:r>
              <a:rPr lang="en-US" altLang="ja-JP">
                <a:ea typeface="游ゴシック"/>
              </a:rPr>
              <a:t>DB</a:t>
            </a:r>
            <a:r>
              <a:rPr lang="ja-JP" altLang="en-US">
                <a:ea typeface="游ゴシック"/>
              </a:rPr>
              <a:t>設計」、「インフラ設計」着手 （→ 素案作成）</a:t>
            </a:r>
            <a:endParaRPr lang="en-US" altLang="ja-JP">
              <a:ea typeface="游ゴシック"/>
            </a:endParaRPr>
          </a:p>
          <a:p>
            <a:r>
              <a:rPr lang="ja-JP" altLang="en-US"/>
              <a:t>夕会</a:t>
            </a:r>
            <a:endParaRPr lang="en-US" altLang="ja-JP"/>
          </a:p>
          <a:p>
            <a:pPr marL="0" indent="0">
              <a:buNone/>
            </a:pPr>
            <a:r>
              <a:rPr lang="ja-JP" altLang="en-US"/>
              <a:t>「アプリケーションアーキテクチャ」の進捗状況説明</a:t>
            </a:r>
            <a:endParaRPr lang="en-US" altLang="ja-JP"/>
          </a:p>
          <a:p>
            <a:pPr marL="0" indent="0">
              <a:buNone/>
            </a:pPr>
            <a:r>
              <a:rPr lang="ja-JP" altLang="en-US">
                <a:ea typeface="游ゴシック"/>
              </a:rPr>
              <a:t>（もし「</a:t>
            </a:r>
            <a:r>
              <a:rPr lang="en-US" altLang="ja-JP">
                <a:ea typeface="游ゴシック"/>
              </a:rPr>
              <a:t>DB</a:t>
            </a:r>
            <a:r>
              <a:rPr lang="ja-JP" altLang="en-US">
                <a:ea typeface="游ゴシック"/>
              </a:rPr>
              <a:t>設計」、「インフラ設計」など進捗あれば説明）</a:t>
            </a:r>
            <a:endParaRPr lang="ja-JP" altLang="en-US">
              <a:ea typeface="游ゴシック"/>
              <a:cs typeface="Calibri"/>
            </a:endParaRPr>
          </a:p>
          <a:p>
            <a:endParaRPr lang="ja-JP" altLang="en-US">
              <a:ea typeface="游ゴシック"/>
              <a:cs typeface="Calibri"/>
            </a:endParaRPr>
          </a:p>
        </p:txBody>
      </p:sp>
    </p:spTree>
    <p:extLst>
      <p:ext uri="{BB962C8B-B14F-4D97-AF65-F5344CB8AC3E}">
        <p14:creationId xmlns:p14="http://schemas.microsoft.com/office/powerpoint/2010/main" val="33796583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EAB71A-CF86-8C0D-3925-D91564939BA4}"/>
              </a:ext>
            </a:extLst>
          </p:cNvPr>
          <p:cNvSpPr>
            <a:spLocks noGrp="1"/>
          </p:cNvSpPr>
          <p:nvPr>
            <p:ph type="title"/>
          </p:nvPr>
        </p:nvSpPr>
        <p:spPr>
          <a:xfrm>
            <a:off x="838200" y="18255"/>
            <a:ext cx="10515600" cy="1325563"/>
          </a:xfrm>
        </p:spPr>
        <p:txBody>
          <a:bodyPr/>
          <a:lstStyle/>
          <a:p>
            <a:r>
              <a:rPr lang="en-US" altLang="ja-JP"/>
              <a:t>App</a:t>
            </a:r>
            <a:r>
              <a:rPr lang="ja-JP" altLang="en-US"/>
              <a:t> ① 言語とフレームワークの選定</a:t>
            </a:r>
            <a:endParaRPr kumimoji="1" lang="ja-JP" altLang="en-US"/>
          </a:p>
        </p:txBody>
      </p:sp>
      <p:sp>
        <p:nvSpPr>
          <p:cNvPr id="3" name="コンテンツ プレースホルダー 2">
            <a:extLst>
              <a:ext uri="{FF2B5EF4-FFF2-40B4-BE49-F238E27FC236}">
                <a16:creationId xmlns:a16="http://schemas.microsoft.com/office/drawing/2014/main" id="{4224017B-0E3A-AA9D-0DE5-E8055932EA42}"/>
              </a:ext>
            </a:extLst>
          </p:cNvPr>
          <p:cNvSpPr>
            <a:spLocks noGrp="1"/>
          </p:cNvSpPr>
          <p:nvPr>
            <p:ph idx="1"/>
          </p:nvPr>
        </p:nvSpPr>
        <p:spPr>
          <a:xfrm>
            <a:off x="838200" y="1190625"/>
            <a:ext cx="10515600" cy="4986338"/>
          </a:xfrm>
        </p:spPr>
        <p:txBody>
          <a:bodyPr>
            <a:normAutofit fontScale="55000" lnSpcReduction="20000"/>
          </a:bodyPr>
          <a:lstStyle/>
          <a:p>
            <a:pPr marL="0" indent="0">
              <a:buNone/>
            </a:pPr>
            <a:r>
              <a:rPr lang="ja-JP" altLang="en-US" sz="3300"/>
              <a:t>目的：自分たちのチームや作るアプリに合った技術スタックを選ぶ。</a:t>
            </a:r>
          </a:p>
          <a:p>
            <a:pPr marL="0" indent="0">
              <a:buNone/>
            </a:pPr>
            <a:endParaRPr lang="en-US" altLang="ja-JP"/>
          </a:p>
          <a:p>
            <a:pPr marL="0" indent="0">
              <a:buNone/>
            </a:pPr>
            <a:r>
              <a:rPr lang="ja-JP" altLang="en-US"/>
              <a:t>相談すること</a:t>
            </a:r>
          </a:p>
          <a:p>
            <a:r>
              <a:rPr lang="ja-JP" altLang="en-US"/>
              <a:t>メンバーの中で経験がある言語・フレームワーク </a:t>
            </a:r>
            <a:r>
              <a:rPr lang="en-US" altLang="ja-JP"/>
              <a:t>or </a:t>
            </a:r>
            <a:r>
              <a:rPr lang="ja-JP" altLang="en-US"/>
              <a:t>今後使ってみたいと思っていたものを意見交換する</a:t>
            </a:r>
          </a:p>
          <a:p>
            <a:endParaRPr lang="ja-JP" altLang="en-US"/>
          </a:p>
          <a:p>
            <a:r>
              <a:rPr lang="en-US" altLang="ja-JP"/>
              <a:t>Web</a:t>
            </a:r>
            <a:r>
              <a:rPr lang="ja-JP" altLang="en-US"/>
              <a:t>アプリ開発でよく使われる言語とフレームワークを</a:t>
            </a:r>
            <a:r>
              <a:rPr lang="en-US" altLang="ja-JP"/>
              <a:t>3</a:t>
            </a:r>
            <a:r>
              <a:rPr lang="ja-JP" altLang="en-US"/>
              <a:t>つ程度を調べて、特徴を一覧にしてみる</a:t>
            </a:r>
          </a:p>
          <a:p>
            <a:endParaRPr lang="ja-JP" altLang="en-US"/>
          </a:p>
          <a:p>
            <a:r>
              <a:rPr lang="ja-JP" altLang="en-US"/>
              <a:t>候補について、初めて触れる場合、公式チュートリアルとサンプルコードを</a:t>
            </a:r>
            <a:r>
              <a:rPr lang="en-US" altLang="ja-JP"/>
              <a:t>1</a:t>
            </a:r>
            <a:r>
              <a:rPr lang="ja-JP" altLang="en-US"/>
              <a:t>時間だけ触ってみる</a:t>
            </a:r>
            <a:br>
              <a:rPr lang="en-US" altLang="ja-JP"/>
            </a:br>
            <a:r>
              <a:rPr lang="ja-JP" altLang="en-US"/>
              <a:t>（ハードルが高すぎないか感触を得る）</a:t>
            </a:r>
          </a:p>
          <a:p>
            <a:endParaRPr lang="ja-JP" altLang="en-US"/>
          </a:p>
          <a:p>
            <a:r>
              <a:rPr lang="ja-JP" altLang="en-US"/>
              <a:t>学習コスト（ドキュメントの質、チュートリアルの充実度）と機能性（開発スピード、拡張性）を比べたとき、</a:t>
            </a:r>
            <a:br>
              <a:rPr lang="en-US" altLang="ja-JP"/>
            </a:br>
            <a:r>
              <a:rPr lang="ja-JP" altLang="en-US"/>
              <a:t>自分たちにとってベストなバランスがあるものを選ぶ</a:t>
            </a:r>
          </a:p>
          <a:p>
            <a:endParaRPr lang="ja-JP" altLang="en-US"/>
          </a:p>
          <a:p>
            <a:pPr marL="0" indent="0">
              <a:buNone/>
            </a:pPr>
            <a:r>
              <a:rPr lang="ja-JP" altLang="en-US"/>
              <a:t>■アウトプット</a:t>
            </a:r>
          </a:p>
          <a:p>
            <a:r>
              <a:rPr lang="ja-JP" altLang="en-US"/>
              <a:t>技術コンポーネント一覧（名前、特徴）</a:t>
            </a:r>
          </a:p>
          <a:p>
            <a:r>
              <a:rPr lang="ja-JP" altLang="en-US"/>
              <a:t>夕会で説明できる。「今回選んだ言語は○○で、フレームワークは○○です。特徴と選定理由について、○○です。」</a:t>
            </a:r>
          </a:p>
          <a:p>
            <a:endParaRPr lang="ja-JP" altLang="en-US"/>
          </a:p>
          <a:p>
            <a:pPr marL="0" indent="0">
              <a:buNone/>
            </a:pPr>
            <a:endParaRPr lang="ja-JP" altLang="en-US"/>
          </a:p>
        </p:txBody>
      </p:sp>
    </p:spTree>
    <p:extLst>
      <p:ext uri="{BB962C8B-B14F-4D97-AF65-F5344CB8AC3E}">
        <p14:creationId xmlns:p14="http://schemas.microsoft.com/office/powerpoint/2010/main" val="40486414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0A1CA2-5DD8-88F9-270C-EFD26304E4A8}"/>
              </a:ext>
            </a:extLst>
          </p:cNvPr>
          <p:cNvSpPr>
            <a:spLocks noGrp="1"/>
          </p:cNvSpPr>
          <p:nvPr>
            <p:ph type="title"/>
          </p:nvPr>
        </p:nvSpPr>
        <p:spPr>
          <a:xfrm>
            <a:off x="838200" y="69850"/>
            <a:ext cx="10515600" cy="1325563"/>
          </a:xfrm>
        </p:spPr>
        <p:txBody>
          <a:bodyPr/>
          <a:lstStyle/>
          <a:p>
            <a:r>
              <a:rPr lang="en-US" altLang="ja-JP"/>
              <a:t>App</a:t>
            </a:r>
            <a:r>
              <a:rPr lang="ja-JP" altLang="en-US"/>
              <a:t> ② </a:t>
            </a:r>
            <a:r>
              <a:rPr lang="en-US" altLang="ja-JP"/>
              <a:t>Web</a:t>
            </a:r>
            <a:r>
              <a:rPr lang="ja-JP" altLang="en-US"/>
              <a:t>アプリの構成・設計方針</a:t>
            </a:r>
            <a:endParaRPr kumimoji="1" lang="ja-JP" altLang="en-US"/>
          </a:p>
        </p:txBody>
      </p:sp>
      <p:sp>
        <p:nvSpPr>
          <p:cNvPr id="3" name="コンテンツ プレースホルダー 2">
            <a:extLst>
              <a:ext uri="{FF2B5EF4-FFF2-40B4-BE49-F238E27FC236}">
                <a16:creationId xmlns:a16="http://schemas.microsoft.com/office/drawing/2014/main" id="{813A2ED9-C3CB-6651-8E25-F2DD404266D6}"/>
              </a:ext>
            </a:extLst>
          </p:cNvPr>
          <p:cNvSpPr>
            <a:spLocks noGrp="1"/>
          </p:cNvSpPr>
          <p:nvPr>
            <p:ph idx="1"/>
          </p:nvPr>
        </p:nvSpPr>
        <p:spPr>
          <a:xfrm>
            <a:off x="838200" y="1173162"/>
            <a:ext cx="10515600" cy="5160963"/>
          </a:xfrm>
        </p:spPr>
        <p:txBody>
          <a:bodyPr vert="horz" lIns="91440" tIns="45720" rIns="91440" bIns="45720" rtlCol="0" anchor="t">
            <a:normAutofit fontScale="55000" lnSpcReduction="20000"/>
          </a:bodyPr>
          <a:lstStyle/>
          <a:p>
            <a:pPr marL="0" indent="0">
              <a:buNone/>
            </a:pPr>
            <a:r>
              <a:rPr lang="ja-JP" altLang="en-US"/>
              <a:t>目的：設計方針やコンポーネントの分離を意識しながら開発を進められるようにする</a:t>
            </a:r>
          </a:p>
          <a:p>
            <a:pPr marL="0" indent="0">
              <a:buNone/>
            </a:pPr>
            <a:endParaRPr lang="en-US" altLang="ja-JP"/>
          </a:p>
          <a:p>
            <a:pPr marL="0" indent="0">
              <a:buNone/>
            </a:pPr>
            <a:r>
              <a:rPr lang="ja-JP" altLang="en-US"/>
              <a:t>相談すること</a:t>
            </a:r>
          </a:p>
          <a:p>
            <a:r>
              <a:rPr lang="ja-JP" altLang="en-US">
                <a:ea typeface="游ゴシック"/>
              </a:rPr>
              <a:t>バックエンドとフロントエンドは分ける </a:t>
            </a:r>
            <a:r>
              <a:rPr lang="en-US" altLang="ja-JP">
                <a:ea typeface="游ゴシック"/>
              </a:rPr>
              <a:t>or 1</a:t>
            </a:r>
            <a:r>
              <a:rPr lang="ja-JP" altLang="en-US">
                <a:ea typeface="游ゴシック"/>
              </a:rPr>
              <a:t>つのフレームワーク内で完結？</a:t>
            </a:r>
            <a:endParaRPr lang="ja-JP" altLang="en-US">
              <a:ea typeface="游ゴシック"/>
              <a:cs typeface="Calibri"/>
            </a:endParaRPr>
          </a:p>
          <a:p>
            <a:pPr lvl="1"/>
            <a:r>
              <a:rPr lang="ja-JP" altLang="en-US"/>
              <a:t>それぞれのメリットとデメリットは？</a:t>
            </a:r>
          </a:p>
          <a:p>
            <a:r>
              <a:rPr lang="ja-JP" altLang="en-US"/>
              <a:t>ユーザーがデータを入力したとき、それはどのような順序で処理されて保存されますか？</a:t>
            </a:r>
          </a:p>
          <a:p>
            <a:pPr lvl="1"/>
            <a:r>
              <a:rPr lang="ja-JP" altLang="en-US"/>
              <a:t>処理の流れを図で書き出してみる。（シーケンス図、またはデータフロー図）</a:t>
            </a:r>
          </a:p>
          <a:p>
            <a:r>
              <a:rPr lang="ja-JP" altLang="en-US"/>
              <a:t>プログラムアーキテクチャ（フォルダ構成）を決める</a:t>
            </a:r>
            <a:endParaRPr lang="en-US" altLang="ja-JP"/>
          </a:p>
          <a:p>
            <a:pPr lvl="1"/>
            <a:r>
              <a:rPr lang="en-US" altLang="ja-JP">
                <a:ea typeface="游ゴシック"/>
              </a:rPr>
              <a:t>MVC,</a:t>
            </a:r>
            <a:r>
              <a:rPr lang="ja-JP" altLang="en-US">
                <a:ea typeface="游ゴシック"/>
              </a:rPr>
              <a:t> </a:t>
            </a:r>
            <a:r>
              <a:rPr lang="en-US" altLang="ja-JP">
                <a:ea typeface="游ゴシック"/>
              </a:rPr>
              <a:t>SPA</a:t>
            </a:r>
            <a:r>
              <a:rPr lang="ja-JP" altLang="en-US">
                <a:ea typeface="游ゴシック"/>
              </a:rPr>
              <a:t>構成</a:t>
            </a:r>
            <a:r>
              <a:rPr lang="en-US" altLang="ja-JP">
                <a:ea typeface="游ゴシック"/>
              </a:rPr>
              <a:t>, </a:t>
            </a:r>
            <a:r>
              <a:rPr lang="ja-JP" altLang="en-US">
                <a:ea typeface="游ゴシック"/>
              </a:rPr>
              <a:t>クリーンアーキテクチャなどの大方針を調査</a:t>
            </a:r>
            <a:endParaRPr lang="en-US" altLang="ja-JP">
              <a:ea typeface="游ゴシック"/>
            </a:endParaRPr>
          </a:p>
          <a:p>
            <a:pPr lvl="1"/>
            <a:r>
              <a:rPr lang="en-US" altLang="ja-JP">
                <a:ea typeface="游ゴシック"/>
              </a:rPr>
              <a:t>LLM</a:t>
            </a:r>
            <a:r>
              <a:rPr lang="ja-JP" altLang="en-US">
                <a:ea typeface="游ゴシック"/>
              </a:rPr>
              <a:t>にフォルダ構成の例を出してもらう</a:t>
            </a:r>
            <a:endParaRPr lang="ja-JP" altLang="en-US">
              <a:ea typeface="游ゴシック"/>
              <a:cs typeface="Calibri"/>
            </a:endParaRPr>
          </a:p>
          <a:p>
            <a:r>
              <a:rPr lang="en-US" altLang="ja-JP">
                <a:ea typeface="游ゴシック"/>
              </a:rPr>
              <a:t>URL</a:t>
            </a:r>
            <a:r>
              <a:rPr lang="ja-JP" altLang="en-US">
                <a:ea typeface="游ゴシック"/>
              </a:rPr>
              <a:t>とパラメータを定める。</a:t>
            </a:r>
            <a:endParaRPr lang="en-US" altLang="ja-JP">
              <a:ea typeface="游ゴシック"/>
            </a:endParaRPr>
          </a:p>
          <a:p>
            <a:r>
              <a:rPr lang="ja-JP" altLang="en-US">
                <a:ea typeface="游ゴシック"/>
              </a:rPr>
              <a:t>画面モックを</a:t>
            </a:r>
            <a:r>
              <a:rPr lang="en-US" altLang="ja-JP">
                <a:ea typeface="游ゴシック"/>
              </a:rPr>
              <a:t>LLM</a:t>
            </a:r>
            <a:r>
              <a:rPr lang="ja-JP" altLang="en-US">
                <a:ea typeface="游ゴシック"/>
              </a:rPr>
              <a:t>に出してもらう。</a:t>
            </a:r>
            <a:endParaRPr lang="ja-JP" altLang="en-US">
              <a:ea typeface="游ゴシック"/>
              <a:cs typeface="Calibri"/>
            </a:endParaRPr>
          </a:p>
          <a:p>
            <a:pPr marL="0" indent="0">
              <a:buNone/>
            </a:pPr>
            <a:endParaRPr lang="en-US" altLang="ja-JP"/>
          </a:p>
          <a:p>
            <a:pPr marL="0" indent="0">
              <a:buNone/>
            </a:pPr>
            <a:r>
              <a:rPr lang="ja-JP" altLang="en-US"/>
              <a:t>■アプトプット</a:t>
            </a:r>
          </a:p>
          <a:p>
            <a:r>
              <a:rPr lang="ja-JP" altLang="en-US"/>
              <a:t>プログラムアーキテクチャ</a:t>
            </a:r>
          </a:p>
          <a:p>
            <a:r>
              <a:rPr lang="ja-JP" altLang="en-US"/>
              <a:t>データの流れの図</a:t>
            </a:r>
          </a:p>
          <a:p>
            <a:r>
              <a:rPr lang="en-US" altLang="ja-JP">
                <a:ea typeface="游ゴシック"/>
              </a:rPr>
              <a:t>URL</a:t>
            </a:r>
            <a:r>
              <a:rPr lang="ja-JP" altLang="en-US">
                <a:ea typeface="游ゴシック"/>
              </a:rPr>
              <a:t>パラメータ一覧</a:t>
            </a:r>
            <a:endParaRPr lang="ja-JP" altLang="en-US">
              <a:ea typeface="游ゴシック"/>
              <a:cs typeface="Calibri"/>
            </a:endParaRPr>
          </a:p>
          <a:p>
            <a:r>
              <a:rPr lang="ja-JP" altLang="en-US"/>
              <a:t>画面モック</a:t>
            </a:r>
          </a:p>
          <a:p>
            <a:r>
              <a:rPr lang="ja-JP" altLang="en-US">
                <a:ea typeface="游ゴシック"/>
              </a:rPr>
              <a:t>途中でいいので、上記項目を夕会で説明</a:t>
            </a:r>
            <a:endParaRPr lang="ja-JP" altLang="en-US">
              <a:ea typeface="游ゴシック"/>
              <a:cs typeface="Calibri"/>
            </a:endParaRPr>
          </a:p>
        </p:txBody>
      </p:sp>
    </p:spTree>
    <p:extLst>
      <p:ext uri="{BB962C8B-B14F-4D97-AF65-F5344CB8AC3E}">
        <p14:creationId xmlns:p14="http://schemas.microsoft.com/office/powerpoint/2010/main" val="4912497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35FD1F-F439-B533-0750-F185EF1B5386}"/>
              </a:ext>
            </a:extLst>
          </p:cNvPr>
          <p:cNvSpPr>
            <a:spLocks noGrp="1"/>
          </p:cNvSpPr>
          <p:nvPr>
            <p:ph type="title"/>
          </p:nvPr>
        </p:nvSpPr>
        <p:spPr/>
        <p:txBody>
          <a:bodyPr/>
          <a:lstStyle/>
          <a:p>
            <a:r>
              <a:rPr kumimoji="1" lang="ja-JP" altLang="en-US"/>
              <a:t>画面デザインの進め方のヒント</a:t>
            </a:r>
          </a:p>
        </p:txBody>
      </p:sp>
      <p:sp>
        <p:nvSpPr>
          <p:cNvPr id="3" name="コンテンツ プレースホルダー 2">
            <a:extLst>
              <a:ext uri="{FF2B5EF4-FFF2-40B4-BE49-F238E27FC236}">
                <a16:creationId xmlns:a16="http://schemas.microsoft.com/office/drawing/2014/main" id="{F0AF7C9B-421D-618E-0115-B69E89929E86}"/>
              </a:ext>
            </a:extLst>
          </p:cNvPr>
          <p:cNvSpPr>
            <a:spLocks noGrp="1"/>
          </p:cNvSpPr>
          <p:nvPr>
            <p:ph idx="1"/>
          </p:nvPr>
        </p:nvSpPr>
        <p:spPr>
          <a:xfrm>
            <a:off x="515470" y="1816194"/>
            <a:ext cx="11362766" cy="4351338"/>
          </a:xfrm>
        </p:spPr>
        <p:txBody>
          <a:bodyPr vert="horz" lIns="91440" tIns="45720" rIns="91440" bIns="45720" rtlCol="0" anchor="t">
            <a:normAutofit fontScale="70000" lnSpcReduction="20000"/>
          </a:bodyPr>
          <a:lstStyle/>
          <a:p>
            <a:pPr marL="0" indent="0">
              <a:buNone/>
            </a:pPr>
            <a:r>
              <a:rPr kumimoji="1" lang="ja-JP" altLang="en-US" b="1"/>
              <a:t>業務の進め方</a:t>
            </a:r>
            <a:endParaRPr kumimoji="1" lang="en-US" altLang="ja-JP" b="1"/>
          </a:p>
          <a:p>
            <a:pPr marL="0" indent="0">
              <a:buNone/>
            </a:pPr>
            <a:r>
              <a:rPr kumimoji="1" lang="ja-JP" altLang="en-US"/>
              <a:t>資料や現状のプロダクトの画面を基に、今回実装する画面の要素通りに</a:t>
            </a:r>
            <a:endParaRPr kumimoji="1" lang="en-US" altLang="ja-JP"/>
          </a:p>
          <a:p>
            <a:pPr marL="0" indent="0">
              <a:buNone/>
            </a:pPr>
            <a:r>
              <a:rPr kumimoji="1" lang="ja-JP" altLang="en-US"/>
              <a:t>具体的な画面イメージを作ります。</a:t>
            </a:r>
          </a:p>
          <a:p>
            <a:pPr marL="0" indent="0">
              <a:buNone/>
            </a:pPr>
            <a:r>
              <a:rPr kumimoji="1" lang="ja-JP" altLang="en-US"/>
              <a:t>このとき不要な項目など削除するべきところは削除して完成形と同じ状態にします。</a:t>
            </a:r>
          </a:p>
          <a:p>
            <a:pPr marL="0" indent="0">
              <a:buNone/>
            </a:pPr>
            <a:r>
              <a:rPr kumimoji="1" lang="ja-JP" altLang="en-US"/>
              <a:t>専門の画面デザイナーが担当します。社内管理画面系はエンジニアが担当することもあります。</a:t>
            </a:r>
            <a:endParaRPr kumimoji="1" lang="en-US" altLang="ja-JP"/>
          </a:p>
          <a:p>
            <a:pPr marL="0" indent="0">
              <a:buNone/>
            </a:pPr>
            <a:endParaRPr kumimoji="1" lang="en-US" altLang="ja-JP"/>
          </a:p>
          <a:p>
            <a:pPr marL="0" indent="0">
              <a:buNone/>
            </a:pPr>
            <a:r>
              <a:rPr kumimoji="1" lang="ja-JP" altLang="en-US" b="1"/>
              <a:t>ツール</a:t>
            </a:r>
            <a:endParaRPr kumimoji="1" lang="en-US" altLang="ja-JP" b="1"/>
          </a:p>
          <a:p>
            <a:pPr marL="0" indent="0">
              <a:buNone/>
            </a:pPr>
            <a:r>
              <a:rPr kumimoji="1" lang="ja-JP" altLang="en-US">
                <a:ea typeface="游ゴシック"/>
              </a:rPr>
              <a:t>通常</a:t>
            </a:r>
            <a:r>
              <a:rPr kumimoji="1" lang="en-US" altLang="ja-JP">
                <a:ea typeface="游ゴシック"/>
              </a:rPr>
              <a:t>Figma</a:t>
            </a:r>
            <a:r>
              <a:rPr kumimoji="1" lang="ja-JP" altLang="en-US">
                <a:ea typeface="游ゴシック"/>
              </a:rPr>
              <a:t>などのツールで</a:t>
            </a:r>
            <a:r>
              <a:rPr kumimoji="1" lang="en-US" altLang="ja-JP">
                <a:ea typeface="游ゴシック"/>
              </a:rPr>
              <a:t>HTML</a:t>
            </a:r>
            <a:r>
              <a:rPr kumimoji="1" lang="ja-JP" altLang="en-US">
                <a:ea typeface="游ゴシック"/>
              </a:rPr>
              <a:t>や</a:t>
            </a:r>
            <a:r>
              <a:rPr kumimoji="1" lang="en-US" altLang="ja-JP">
                <a:ea typeface="游ゴシック"/>
              </a:rPr>
              <a:t>React</a:t>
            </a:r>
            <a:r>
              <a:rPr kumimoji="1" lang="ja-JP" altLang="en-US">
                <a:ea typeface="游ゴシック"/>
              </a:rPr>
              <a:t>などをデザイン素案（カンプ）を作成します。</a:t>
            </a:r>
            <a:endParaRPr kumimoji="1" lang="en-US" altLang="ja-JP">
              <a:ea typeface="游ゴシック"/>
            </a:endParaRPr>
          </a:p>
          <a:p>
            <a:pPr marL="0" indent="0">
              <a:buNone/>
            </a:pPr>
            <a:r>
              <a:rPr kumimoji="1" lang="ja-JP" altLang="en-US">
                <a:ea typeface="游ゴシック"/>
              </a:rPr>
              <a:t>今回は</a:t>
            </a:r>
            <a:r>
              <a:rPr lang="ja-JP" altLang="en-US">
                <a:ea typeface="游ゴシック"/>
              </a:rPr>
              <a:t>Figma不要で、</a:t>
            </a:r>
            <a:r>
              <a:rPr kumimoji="1" lang="en-US" altLang="ja-JP">
                <a:ea typeface="游ゴシック"/>
              </a:rPr>
              <a:t>LLM</a:t>
            </a:r>
            <a:r>
              <a:rPr kumimoji="1" lang="ja-JP" altLang="en-US">
                <a:ea typeface="游ゴシック"/>
              </a:rPr>
              <a:t>を使って出力する程度で充分です。</a:t>
            </a:r>
            <a:endParaRPr lang="ja-JP" altLang="en-US">
              <a:ea typeface="游ゴシック"/>
              <a:cs typeface="Calibri"/>
            </a:endParaRPr>
          </a:p>
          <a:p>
            <a:pPr marL="0" indent="0">
              <a:buNone/>
            </a:pPr>
            <a:r>
              <a:rPr kumimoji="1" lang="ja-JP" altLang="en-US">
                <a:ea typeface="游ゴシック"/>
              </a:rPr>
              <a:t>スクリーンショットに要件を追記すれば、</a:t>
            </a:r>
            <a:r>
              <a:rPr kumimoji="1" lang="en-US" altLang="ja-JP">
                <a:ea typeface="游ゴシック"/>
              </a:rPr>
              <a:t>HTML</a:t>
            </a:r>
            <a:r>
              <a:rPr kumimoji="1" lang="ja-JP" altLang="en-US">
                <a:ea typeface="游ゴシック"/>
              </a:rPr>
              <a:t>や</a:t>
            </a:r>
            <a:r>
              <a:rPr kumimoji="1" lang="en-US" altLang="ja-JP">
                <a:ea typeface="游ゴシック"/>
              </a:rPr>
              <a:t>React</a:t>
            </a:r>
            <a:r>
              <a:rPr kumimoji="1" lang="ja-JP" altLang="en-US">
                <a:ea typeface="游ゴシック"/>
              </a:rPr>
              <a:t>などのコードを簡単に生成できます。</a:t>
            </a:r>
            <a:endParaRPr kumimoji="1" lang="en-US" altLang="ja-JP">
              <a:ea typeface="游ゴシック"/>
            </a:endParaRPr>
          </a:p>
          <a:p>
            <a:pPr marL="0" indent="0">
              <a:buNone/>
            </a:pPr>
            <a:r>
              <a:rPr kumimoji="1" lang="ja-JP" altLang="en-US"/>
              <a:t>（例）</a:t>
            </a:r>
          </a:p>
          <a:p>
            <a:pPr marL="0" indent="0">
              <a:buNone/>
            </a:pPr>
            <a:r>
              <a:rPr kumimoji="1" lang="ja-JP" altLang="en-US">
                <a:ea typeface="游ゴシック"/>
              </a:rPr>
              <a:t>「あなたは</a:t>
            </a:r>
            <a:r>
              <a:rPr kumimoji="1" lang="en-US" altLang="ja-JP">
                <a:ea typeface="游ゴシック"/>
              </a:rPr>
              <a:t>Web</a:t>
            </a:r>
            <a:r>
              <a:rPr kumimoji="1" lang="ja-JP" altLang="en-US">
                <a:ea typeface="游ゴシック"/>
              </a:rPr>
              <a:t>デザイナーでコーディングが得意です。この画像をもとに</a:t>
            </a:r>
            <a:r>
              <a:rPr kumimoji="1" lang="en-US" altLang="ja-JP">
                <a:ea typeface="游ゴシック"/>
              </a:rPr>
              <a:t>HTML</a:t>
            </a:r>
            <a:r>
              <a:rPr kumimoji="1" lang="ja-JP" altLang="en-US">
                <a:ea typeface="游ゴシック"/>
              </a:rPr>
              <a:t>に起こせますか」</a:t>
            </a:r>
            <a:endParaRPr lang="ja-JP" altLang="en-US">
              <a:ea typeface="游ゴシック"/>
              <a:cs typeface="Calibri"/>
            </a:endParaRPr>
          </a:p>
          <a:p>
            <a:pPr marL="0" indent="0">
              <a:buNone/>
            </a:pPr>
            <a:endParaRPr kumimoji="1" lang="ja-JP" altLang="en-US"/>
          </a:p>
          <a:p>
            <a:pPr marL="0" indent="0">
              <a:buNone/>
            </a:pPr>
            <a:endParaRPr kumimoji="1" lang="ja-JP" altLang="en-US"/>
          </a:p>
        </p:txBody>
      </p:sp>
    </p:spTree>
    <p:extLst>
      <p:ext uri="{BB962C8B-B14F-4D97-AF65-F5344CB8AC3E}">
        <p14:creationId xmlns:p14="http://schemas.microsoft.com/office/powerpoint/2010/main" val="40893609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D9091E-EFF5-3FA7-2722-41D1A645527E}"/>
              </a:ext>
            </a:extLst>
          </p:cNvPr>
          <p:cNvSpPr>
            <a:spLocks noGrp="1"/>
          </p:cNvSpPr>
          <p:nvPr>
            <p:ph type="title"/>
          </p:nvPr>
        </p:nvSpPr>
        <p:spPr/>
        <p:txBody>
          <a:bodyPr/>
          <a:lstStyle/>
          <a:p>
            <a:r>
              <a:rPr kumimoji="1" lang="en-US" altLang="ja-JP"/>
              <a:t>DB</a:t>
            </a:r>
            <a:r>
              <a:rPr kumimoji="1" lang="ja-JP" altLang="en-US"/>
              <a:t>設計の進め方</a:t>
            </a:r>
          </a:p>
        </p:txBody>
      </p:sp>
      <p:sp>
        <p:nvSpPr>
          <p:cNvPr id="3" name="コンテンツ プレースホルダー 2">
            <a:extLst>
              <a:ext uri="{FF2B5EF4-FFF2-40B4-BE49-F238E27FC236}">
                <a16:creationId xmlns:a16="http://schemas.microsoft.com/office/drawing/2014/main" id="{D78CA50C-0A5B-C231-57F3-8DABEB3E74B6}"/>
              </a:ext>
            </a:extLst>
          </p:cNvPr>
          <p:cNvSpPr>
            <a:spLocks noGrp="1"/>
          </p:cNvSpPr>
          <p:nvPr>
            <p:ph idx="1"/>
          </p:nvPr>
        </p:nvSpPr>
        <p:spPr/>
        <p:txBody>
          <a:bodyPr>
            <a:normAutofit/>
          </a:bodyPr>
          <a:lstStyle/>
          <a:p>
            <a:pPr marL="0" indent="0">
              <a:buNone/>
            </a:pPr>
            <a:r>
              <a:rPr kumimoji="1" lang="ja-JP" altLang="en-US"/>
              <a:t>画面上にある項目を基に要素を一覧化します。</a:t>
            </a:r>
            <a:endParaRPr kumimoji="1" lang="en-US" altLang="ja-JP"/>
          </a:p>
          <a:p>
            <a:pPr marL="0" indent="0">
              <a:buNone/>
            </a:pPr>
            <a:endParaRPr lang="en-US" altLang="ja-JP"/>
          </a:p>
          <a:p>
            <a:pPr marL="0" indent="0">
              <a:buNone/>
            </a:pPr>
            <a:r>
              <a:rPr kumimoji="1" lang="en-US" altLang="ja-JP"/>
              <a:t>DB</a:t>
            </a:r>
            <a:r>
              <a:rPr kumimoji="1" lang="ja-JP" altLang="en-US"/>
              <a:t>の講義を</a:t>
            </a:r>
            <a:r>
              <a:rPr kumimoji="1" lang="en-US" altLang="ja-JP"/>
              <a:t>2</a:t>
            </a:r>
            <a:r>
              <a:rPr kumimoji="1" lang="ja-JP" altLang="en-US"/>
              <a:t>日目に設定します。</a:t>
            </a:r>
            <a:endParaRPr kumimoji="1" lang="en-US" altLang="ja-JP"/>
          </a:p>
          <a:p>
            <a:pPr marL="0" indent="0">
              <a:buNone/>
            </a:pPr>
            <a:r>
              <a:rPr kumimoji="1" lang="ja-JP" altLang="en-US"/>
              <a:t>（先行して設計を検討してもらえると学びが深くなります）</a:t>
            </a:r>
          </a:p>
          <a:p>
            <a:pPr marL="0" indent="0">
              <a:buNone/>
            </a:pPr>
            <a:endParaRPr kumimoji="1" lang="en-US" altLang="ja-JP"/>
          </a:p>
          <a:p>
            <a:pPr marL="0" indent="0">
              <a:buNone/>
            </a:pPr>
            <a:r>
              <a:rPr lang="en-US" altLang="ja-JP"/>
              <a:t>※</a:t>
            </a:r>
            <a:r>
              <a:rPr lang="ja-JP" altLang="en-US"/>
              <a:t> </a:t>
            </a:r>
            <a:r>
              <a:rPr lang="en-US" altLang="ja-JP"/>
              <a:t>AWS</a:t>
            </a:r>
            <a:r>
              <a:rPr lang="ja-JP" altLang="en-US"/>
              <a:t> サーバレス </a:t>
            </a:r>
            <a:r>
              <a:rPr lang="en-US" altLang="ja-JP"/>
              <a:t>Aurora</a:t>
            </a:r>
            <a:r>
              <a:rPr lang="ja-JP" altLang="en-US"/>
              <a:t> 作成時</a:t>
            </a:r>
            <a:endParaRPr lang="en-US" altLang="ja-JP"/>
          </a:p>
          <a:p>
            <a:pPr marL="0" indent="0">
              <a:buNone/>
            </a:pPr>
            <a:r>
              <a:rPr lang="ja-JP" altLang="en-US"/>
              <a:t>　最小 </a:t>
            </a:r>
            <a:r>
              <a:rPr lang="en-US" altLang="ja-JP"/>
              <a:t>ACU</a:t>
            </a:r>
            <a:r>
              <a:rPr lang="ja-JP" altLang="en-US"/>
              <a:t> </a:t>
            </a:r>
            <a:r>
              <a:rPr lang="en-US" altLang="ja-JP"/>
              <a:t>0 </a:t>
            </a:r>
            <a:r>
              <a:rPr lang="ja-JP" altLang="en-US"/>
              <a:t>、</a:t>
            </a:r>
            <a:r>
              <a:rPr lang="en-US" altLang="ja-JP"/>
              <a:t>Limitless</a:t>
            </a:r>
            <a:r>
              <a:rPr lang="ja-JP" altLang="en-US"/>
              <a:t>を設定しない</a:t>
            </a:r>
            <a:endParaRPr lang="en-US" altLang="ja-JP"/>
          </a:p>
          <a:p>
            <a:pPr marL="0" indent="0">
              <a:buNone/>
            </a:pPr>
            <a:endParaRPr kumimoji="1" lang="ja-JP" altLang="en-US"/>
          </a:p>
        </p:txBody>
      </p:sp>
    </p:spTree>
    <p:extLst>
      <p:ext uri="{BB962C8B-B14F-4D97-AF65-F5344CB8AC3E}">
        <p14:creationId xmlns:p14="http://schemas.microsoft.com/office/powerpoint/2010/main" val="25530484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7C5CCA-C749-4947-53E0-DABF4EC3ACEA}"/>
              </a:ext>
            </a:extLst>
          </p:cNvPr>
          <p:cNvSpPr>
            <a:spLocks noGrp="1"/>
          </p:cNvSpPr>
          <p:nvPr>
            <p:ph type="title"/>
          </p:nvPr>
        </p:nvSpPr>
        <p:spPr>
          <a:xfrm>
            <a:off x="838199" y="365125"/>
            <a:ext cx="10816389" cy="1325563"/>
          </a:xfrm>
        </p:spPr>
        <p:txBody>
          <a:bodyPr/>
          <a:lstStyle/>
          <a:p>
            <a:r>
              <a:rPr lang="en-US" altLang="ja-JP"/>
              <a:t>DB</a:t>
            </a:r>
            <a:r>
              <a:rPr lang="ja-JP" altLang="en-US"/>
              <a:t> ① そもそもどんなデータを扱うのか？</a:t>
            </a:r>
            <a:endParaRPr kumimoji="1" lang="ja-JP" altLang="en-US"/>
          </a:p>
        </p:txBody>
      </p:sp>
      <p:sp>
        <p:nvSpPr>
          <p:cNvPr id="3" name="コンテンツ プレースホルダー 2">
            <a:extLst>
              <a:ext uri="{FF2B5EF4-FFF2-40B4-BE49-F238E27FC236}">
                <a16:creationId xmlns:a16="http://schemas.microsoft.com/office/drawing/2014/main" id="{26AC73CE-1B4C-2F50-FBEF-A091C11CE694}"/>
              </a:ext>
            </a:extLst>
          </p:cNvPr>
          <p:cNvSpPr>
            <a:spLocks noGrp="1"/>
          </p:cNvSpPr>
          <p:nvPr>
            <p:ph idx="1"/>
          </p:nvPr>
        </p:nvSpPr>
        <p:spPr/>
        <p:txBody>
          <a:bodyPr>
            <a:normAutofit fontScale="85000" lnSpcReduction="20000"/>
          </a:bodyPr>
          <a:lstStyle/>
          <a:p>
            <a:pPr marL="0" indent="0">
              <a:buNone/>
            </a:pPr>
            <a:r>
              <a:rPr lang="ja-JP" altLang="en-US"/>
              <a:t>目的：アプリに必要な情報とデータ構造を自分で把握できるようにする</a:t>
            </a:r>
          </a:p>
          <a:p>
            <a:endParaRPr lang="ja-JP" altLang="en-US"/>
          </a:p>
          <a:p>
            <a:r>
              <a:rPr lang="ja-JP" altLang="en-US"/>
              <a:t>このアプリでユーザーが作成・参照・更新・削除する“情報”は</a:t>
            </a:r>
            <a:br>
              <a:rPr lang="en-US" altLang="ja-JP"/>
            </a:br>
            <a:r>
              <a:rPr lang="ja-JP" altLang="en-US"/>
              <a:t>どんなものがあるか？</a:t>
            </a:r>
          </a:p>
          <a:p>
            <a:endParaRPr lang="ja-JP" altLang="en-US"/>
          </a:p>
          <a:p>
            <a:r>
              <a:rPr lang="ja-JP" altLang="en-US"/>
              <a:t>情報は、どんな属性か（数値、文字列、日付など）？</a:t>
            </a:r>
          </a:p>
          <a:p>
            <a:pPr lvl="1"/>
            <a:r>
              <a:rPr lang="ja-JP" altLang="en-US"/>
              <a:t>桁数（文字数）？</a:t>
            </a:r>
          </a:p>
          <a:p>
            <a:pPr lvl="1"/>
            <a:r>
              <a:rPr lang="ja-JP" altLang="en-US"/>
              <a:t>必須？</a:t>
            </a:r>
          </a:p>
          <a:p>
            <a:pPr lvl="1"/>
            <a:r>
              <a:rPr lang="ja-JP" altLang="en-US"/>
              <a:t>数値の場合マイナスはあり得る？</a:t>
            </a:r>
          </a:p>
          <a:p>
            <a:endParaRPr lang="ja-JP" altLang="en-US"/>
          </a:p>
          <a:p>
            <a:r>
              <a:rPr lang="ja-JP" altLang="en-US"/>
              <a:t>情報同士の“関係性”はどうなっているか？</a:t>
            </a:r>
          </a:p>
          <a:p>
            <a:pPr lvl="1"/>
            <a:r>
              <a:rPr lang="ja-JP" altLang="en-US"/>
              <a:t>ユーザ１人に対して１つのもの</a:t>
            </a:r>
          </a:p>
          <a:p>
            <a:pPr lvl="1"/>
            <a:r>
              <a:rPr lang="ja-JP" altLang="en-US"/>
              <a:t>ユーザ１人に対して複数のもの</a:t>
            </a:r>
          </a:p>
          <a:p>
            <a:endParaRPr lang="ja-JP" altLang="en-US"/>
          </a:p>
          <a:p>
            <a:endParaRPr kumimoji="1" lang="ja-JP" altLang="en-US"/>
          </a:p>
        </p:txBody>
      </p:sp>
    </p:spTree>
    <p:extLst>
      <p:ext uri="{BB962C8B-B14F-4D97-AF65-F5344CB8AC3E}">
        <p14:creationId xmlns:p14="http://schemas.microsoft.com/office/powerpoint/2010/main" val="1444354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FA1A8-D2A9-E89E-4E81-AF547EE7F86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99B09E-207A-DE5C-8575-0A368549F460}"/>
              </a:ext>
            </a:extLst>
          </p:cNvPr>
          <p:cNvSpPr>
            <a:spLocks noGrp="1"/>
          </p:cNvSpPr>
          <p:nvPr>
            <p:ph type="title"/>
          </p:nvPr>
        </p:nvSpPr>
        <p:spPr/>
        <p:txBody>
          <a:bodyPr/>
          <a:lstStyle/>
          <a:p>
            <a:r>
              <a:rPr lang="en-US" altLang="ja-JP"/>
              <a:t>DB</a:t>
            </a:r>
            <a:r>
              <a:rPr lang="ja-JP" altLang="en-US"/>
              <a:t> ② </a:t>
            </a:r>
            <a:r>
              <a:rPr lang="en-US" altLang="ja-JP"/>
              <a:t>RDB</a:t>
            </a:r>
            <a:r>
              <a:rPr lang="ja-JP" altLang="en-US"/>
              <a:t>（リレーショナル</a:t>
            </a:r>
            <a:r>
              <a:rPr lang="en-US" altLang="ja-JP"/>
              <a:t>DB</a:t>
            </a:r>
            <a:r>
              <a:rPr lang="ja-JP" altLang="en-US"/>
              <a:t>）が</a:t>
            </a:r>
            <a:br>
              <a:rPr lang="en-US" altLang="ja-JP"/>
            </a:br>
            <a:r>
              <a:rPr lang="ja-JP" altLang="en-US"/>
              <a:t>　 　  向いているケースを調査する</a:t>
            </a:r>
            <a:endParaRPr kumimoji="1" lang="ja-JP" altLang="en-US"/>
          </a:p>
        </p:txBody>
      </p:sp>
      <p:sp>
        <p:nvSpPr>
          <p:cNvPr id="3" name="コンテンツ プレースホルダー 2">
            <a:extLst>
              <a:ext uri="{FF2B5EF4-FFF2-40B4-BE49-F238E27FC236}">
                <a16:creationId xmlns:a16="http://schemas.microsoft.com/office/drawing/2014/main" id="{A5472F9E-D648-4288-D1EB-C5847F751BE3}"/>
              </a:ext>
            </a:extLst>
          </p:cNvPr>
          <p:cNvSpPr>
            <a:spLocks noGrp="1"/>
          </p:cNvSpPr>
          <p:nvPr>
            <p:ph idx="1"/>
          </p:nvPr>
        </p:nvSpPr>
        <p:spPr/>
        <p:txBody>
          <a:bodyPr>
            <a:normAutofit fontScale="92500" lnSpcReduction="10000"/>
          </a:bodyPr>
          <a:lstStyle/>
          <a:p>
            <a:pPr marL="0" indent="0">
              <a:buNone/>
            </a:pPr>
            <a:r>
              <a:rPr lang="ja-JP" altLang="en-US"/>
              <a:t>目的：</a:t>
            </a:r>
            <a:r>
              <a:rPr lang="en-US" altLang="ja-JP"/>
              <a:t>RDB</a:t>
            </a:r>
            <a:r>
              <a:rPr lang="ja-JP" altLang="en-US"/>
              <a:t>の基本と得意なパターンを理解して選択できるようにする</a:t>
            </a:r>
          </a:p>
          <a:p>
            <a:endParaRPr lang="ja-JP" altLang="en-US"/>
          </a:p>
          <a:p>
            <a:r>
              <a:rPr lang="en-US" altLang="ja-JP"/>
              <a:t>RDB</a:t>
            </a:r>
            <a:r>
              <a:rPr lang="ja-JP" altLang="en-US"/>
              <a:t>（例：</a:t>
            </a:r>
            <a:r>
              <a:rPr lang="en-US" altLang="ja-JP"/>
              <a:t>MySQL</a:t>
            </a:r>
            <a:r>
              <a:rPr lang="ja-JP" altLang="en-US"/>
              <a:t>、</a:t>
            </a:r>
            <a:r>
              <a:rPr lang="en-US" altLang="ja-JP"/>
              <a:t>PostgreSQL</a:t>
            </a:r>
            <a:r>
              <a:rPr lang="ja-JP" altLang="en-US"/>
              <a:t>）が使われている有名なサービスを</a:t>
            </a:r>
            <a:br>
              <a:rPr lang="en-US" altLang="ja-JP"/>
            </a:br>
            <a:r>
              <a:rPr lang="ja-JP" altLang="en-US"/>
              <a:t>調べてみよう。なぜそのサービスは</a:t>
            </a:r>
            <a:r>
              <a:rPr lang="en-US" altLang="ja-JP"/>
              <a:t>RDB</a:t>
            </a:r>
            <a:r>
              <a:rPr lang="ja-JP" altLang="en-US"/>
              <a:t>を使っている？</a:t>
            </a:r>
          </a:p>
          <a:p>
            <a:endParaRPr lang="ja-JP" altLang="en-US"/>
          </a:p>
          <a:p>
            <a:r>
              <a:rPr lang="en-US" altLang="ja-JP"/>
              <a:t>RDB</a:t>
            </a:r>
            <a:r>
              <a:rPr lang="ja-JP" altLang="en-US"/>
              <a:t>のテーブル“正規化”のメリット・デメリット</a:t>
            </a:r>
          </a:p>
          <a:p>
            <a:endParaRPr lang="ja-JP" altLang="en-US"/>
          </a:p>
          <a:p>
            <a:r>
              <a:rPr lang="en-US" altLang="ja-JP"/>
              <a:t>SQL</a:t>
            </a:r>
            <a:r>
              <a:rPr lang="ja-JP" altLang="en-US"/>
              <a:t>でデータを扱うメリット</a:t>
            </a:r>
          </a:p>
          <a:p>
            <a:endParaRPr lang="ja-JP" altLang="en-US"/>
          </a:p>
          <a:p>
            <a:r>
              <a:rPr lang="ja-JP" altLang="en-US"/>
              <a:t>トランザクションが必要なケースってどんなとき？</a:t>
            </a:r>
            <a:endParaRPr kumimoji="1" lang="ja-JP" altLang="en-US"/>
          </a:p>
        </p:txBody>
      </p:sp>
    </p:spTree>
    <p:extLst>
      <p:ext uri="{BB962C8B-B14F-4D97-AF65-F5344CB8AC3E}">
        <p14:creationId xmlns:p14="http://schemas.microsoft.com/office/powerpoint/2010/main" val="9965458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E6328-4EAD-E8E5-D6D4-634E0A2B73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0338F6-CD63-1B48-978E-DCA651088678}"/>
              </a:ext>
            </a:extLst>
          </p:cNvPr>
          <p:cNvSpPr>
            <a:spLocks noGrp="1"/>
          </p:cNvSpPr>
          <p:nvPr>
            <p:ph type="title"/>
          </p:nvPr>
        </p:nvSpPr>
        <p:spPr>
          <a:xfrm>
            <a:off x="838199" y="365125"/>
            <a:ext cx="11145253" cy="1325563"/>
          </a:xfrm>
        </p:spPr>
        <p:txBody>
          <a:bodyPr/>
          <a:lstStyle/>
          <a:p>
            <a:r>
              <a:rPr lang="en-US" altLang="ja-JP"/>
              <a:t>DB</a:t>
            </a:r>
            <a:r>
              <a:rPr lang="ja-JP" altLang="en-US"/>
              <a:t> ③ </a:t>
            </a:r>
            <a:r>
              <a:rPr lang="en-US" altLang="ja-JP"/>
              <a:t>NoSQL </a:t>
            </a:r>
            <a:r>
              <a:rPr lang="ja-JP" altLang="en-US"/>
              <a:t>（</a:t>
            </a:r>
            <a:r>
              <a:rPr lang="en-US" altLang="ja-JP"/>
              <a:t> DynamoDB </a:t>
            </a:r>
            <a:r>
              <a:rPr lang="ja-JP" altLang="en-US"/>
              <a:t>）が向いている</a:t>
            </a:r>
            <a:br>
              <a:rPr lang="en-US" altLang="ja-JP"/>
            </a:br>
            <a:r>
              <a:rPr lang="ja-JP" altLang="en-US"/>
              <a:t>　       ユースケースを調査する</a:t>
            </a:r>
            <a:endParaRPr kumimoji="1" lang="ja-JP" altLang="en-US"/>
          </a:p>
        </p:txBody>
      </p:sp>
      <p:sp>
        <p:nvSpPr>
          <p:cNvPr id="3" name="コンテンツ プレースホルダー 2">
            <a:extLst>
              <a:ext uri="{FF2B5EF4-FFF2-40B4-BE49-F238E27FC236}">
                <a16:creationId xmlns:a16="http://schemas.microsoft.com/office/drawing/2014/main" id="{42CFB8D2-7963-FF9F-2C54-9A62C5FFAE00}"/>
              </a:ext>
            </a:extLst>
          </p:cNvPr>
          <p:cNvSpPr>
            <a:spLocks noGrp="1"/>
          </p:cNvSpPr>
          <p:nvPr>
            <p:ph idx="1"/>
          </p:nvPr>
        </p:nvSpPr>
        <p:spPr>
          <a:xfrm>
            <a:off x="838199" y="1825625"/>
            <a:ext cx="11145254" cy="4351338"/>
          </a:xfrm>
        </p:spPr>
        <p:txBody>
          <a:bodyPr>
            <a:normAutofit fontScale="92500" lnSpcReduction="10000"/>
          </a:bodyPr>
          <a:lstStyle/>
          <a:p>
            <a:pPr marL="0" indent="0">
              <a:buNone/>
            </a:pPr>
            <a:r>
              <a:rPr lang="ja-JP" altLang="en-US"/>
              <a:t>目的：</a:t>
            </a:r>
            <a:r>
              <a:rPr lang="en-US" altLang="ja-JP"/>
              <a:t>NoSQL</a:t>
            </a:r>
            <a:r>
              <a:rPr lang="ja-JP" altLang="en-US"/>
              <a:t>の設計思想を学び、</a:t>
            </a:r>
            <a:br>
              <a:rPr lang="en-US" altLang="ja-JP"/>
            </a:br>
            <a:r>
              <a:rPr lang="ja-JP" altLang="en-US"/>
              <a:t>　　 「設計次第で便利になること／不便になること」を理解する</a:t>
            </a:r>
          </a:p>
          <a:p>
            <a:pPr marL="0" indent="0">
              <a:buNone/>
            </a:pPr>
            <a:endParaRPr lang="ja-JP" altLang="en-US"/>
          </a:p>
          <a:p>
            <a:r>
              <a:rPr lang="en-US" altLang="ja-JP"/>
              <a:t>DynamoDB</a:t>
            </a:r>
            <a:r>
              <a:rPr lang="ja-JP" altLang="en-US"/>
              <a:t>は“非正規化（</a:t>
            </a:r>
            <a:r>
              <a:rPr lang="en-US" altLang="ja-JP"/>
              <a:t>1</a:t>
            </a:r>
            <a:r>
              <a:rPr lang="ja-JP" altLang="en-US"/>
              <a:t>テーブルで完結）”のメリットとデメリット？</a:t>
            </a:r>
          </a:p>
          <a:p>
            <a:pPr marL="0" indent="0">
              <a:buNone/>
            </a:pPr>
            <a:endParaRPr lang="ja-JP" altLang="en-US"/>
          </a:p>
          <a:p>
            <a:r>
              <a:rPr lang="ja-JP" altLang="en-US"/>
              <a:t>アクセスパターン（どう読み書きするか）の初期設定が重要な理由は？</a:t>
            </a:r>
            <a:br>
              <a:rPr lang="en-US" altLang="ja-JP"/>
            </a:br>
            <a:r>
              <a:rPr lang="ja-JP" altLang="en-US"/>
              <a:t>逆にそれをうまく決められないとどうなる？</a:t>
            </a:r>
          </a:p>
          <a:p>
            <a:pPr marL="0" indent="0">
              <a:buNone/>
            </a:pPr>
            <a:endParaRPr lang="ja-JP" altLang="en-US"/>
          </a:p>
          <a:p>
            <a:r>
              <a:rPr lang="en-US" altLang="ja-JP"/>
              <a:t>DynamoDB</a:t>
            </a:r>
            <a:r>
              <a:rPr lang="ja-JP" altLang="en-US"/>
              <a:t>が使われている有名なサービスを調べてみよう。</a:t>
            </a:r>
            <a:br>
              <a:rPr lang="en-US" altLang="ja-JP"/>
            </a:br>
            <a:r>
              <a:rPr lang="ja-JP" altLang="en-US"/>
              <a:t>なぜそのサービスはそれを使っている？</a:t>
            </a:r>
            <a:endParaRPr kumimoji="1" lang="ja-JP" altLang="en-US"/>
          </a:p>
        </p:txBody>
      </p:sp>
    </p:spTree>
    <p:extLst>
      <p:ext uri="{BB962C8B-B14F-4D97-AF65-F5344CB8AC3E}">
        <p14:creationId xmlns:p14="http://schemas.microsoft.com/office/powerpoint/2010/main" val="35545680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60959-481D-E6EB-983C-34C232B2C1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A34378-FDC0-E859-855F-B5803BACA145}"/>
              </a:ext>
            </a:extLst>
          </p:cNvPr>
          <p:cNvSpPr>
            <a:spLocks noGrp="1"/>
          </p:cNvSpPr>
          <p:nvPr>
            <p:ph type="title"/>
          </p:nvPr>
        </p:nvSpPr>
        <p:spPr/>
        <p:txBody>
          <a:bodyPr/>
          <a:lstStyle/>
          <a:p>
            <a:r>
              <a:rPr lang="en-US" altLang="ja-JP"/>
              <a:t>DB</a:t>
            </a:r>
            <a:r>
              <a:rPr lang="ja-JP" altLang="en-US"/>
              <a:t> ④ 選定の基準を考える</a:t>
            </a:r>
          </a:p>
        </p:txBody>
      </p:sp>
      <p:sp>
        <p:nvSpPr>
          <p:cNvPr id="3" name="コンテンツ プレースホルダー 2">
            <a:extLst>
              <a:ext uri="{FF2B5EF4-FFF2-40B4-BE49-F238E27FC236}">
                <a16:creationId xmlns:a16="http://schemas.microsoft.com/office/drawing/2014/main" id="{7D830813-3850-E941-BB3F-1F19DB2773AD}"/>
              </a:ext>
            </a:extLst>
          </p:cNvPr>
          <p:cNvSpPr>
            <a:spLocks noGrp="1"/>
          </p:cNvSpPr>
          <p:nvPr>
            <p:ph idx="1"/>
          </p:nvPr>
        </p:nvSpPr>
        <p:spPr>
          <a:xfrm>
            <a:off x="838199" y="1825625"/>
            <a:ext cx="11145254" cy="4351338"/>
          </a:xfrm>
        </p:spPr>
        <p:txBody>
          <a:bodyPr vert="horz" lIns="91440" tIns="45720" rIns="91440" bIns="45720" rtlCol="0" anchor="t">
            <a:normAutofit fontScale="77500" lnSpcReduction="20000"/>
          </a:bodyPr>
          <a:lstStyle/>
          <a:p>
            <a:pPr marL="0" indent="0">
              <a:buNone/>
            </a:pPr>
            <a:r>
              <a:rPr lang="ja-JP" altLang="en-US"/>
              <a:t>目的：プロジェクトに合った選定ができるようにする</a:t>
            </a:r>
          </a:p>
          <a:p>
            <a:pPr marL="0" indent="0">
              <a:buNone/>
            </a:pPr>
            <a:endParaRPr lang="ja-JP" altLang="en-US"/>
          </a:p>
          <a:p>
            <a:pPr marL="0" indent="0">
              <a:buNone/>
            </a:pPr>
            <a:r>
              <a:rPr lang="ja-JP" altLang="en-US"/>
              <a:t>・今回作ろうとしているアプリの要件に適合してるデータストアは？　　</a:t>
            </a:r>
            <a:endParaRPr lang="en-US" altLang="ja-JP"/>
          </a:p>
          <a:p>
            <a:pPr marL="0" indent="0">
              <a:buNone/>
            </a:pPr>
            <a:r>
              <a:rPr lang="ja-JP" altLang="en-US"/>
              <a:t>　その決め手は？</a:t>
            </a:r>
          </a:p>
          <a:p>
            <a:pPr marL="0" indent="0">
              <a:buNone/>
            </a:pPr>
            <a:r>
              <a:rPr lang="ja-JP" altLang="en-US"/>
              <a:t>・今後要件が増えた場合（課金情報の追加、分析要件の増加）したとき、</a:t>
            </a:r>
            <a:endParaRPr lang="en-US" altLang="ja-JP"/>
          </a:p>
          <a:p>
            <a:pPr marL="0" indent="0">
              <a:buNone/>
            </a:pPr>
            <a:r>
              <a:rPr lang="ja-JP" altLang="en-US"/>
              <a:t>　対応可能？</a:t>
            </a:r>
          </a:p>
          <a:p>
            <a:pPr marL="0" indent="0">
              <a:buNone/>
            </a:pPr>
            <a:r>
              <a:rPr lang="ja-JP" altLang="en-US"/>
              <a:t>・今後スケールアップ（ユーザー増、トラフィック増）したとき、対応可能？</a:t>
            </a:r>
            <a:endParaRPr lang="en-US" altLang="ja-JP"/>
          </a:p>
          <a:p>
            <a:pPr marL="0" indent="0">
              <a:buNone/>
            </a:pPr>
            <a:endParaRPr lang="en-US" altLang="ja-JP"/>
          </a:p>
          <a:p>
            <a:pPr marL="0" indent="0">
              <a:buNone/>
            </a:pPr>
            <a:r>
              <a:rPr lang="ja-JP" altLang="en-US"/>
              <a:t>■アウトプット</a:t>
            </a:r>
          </a:p>
          <a:p>
            <a:pPr marL="0" indent="0">
              <a:buNone/>
            </a:pPr>
            <a:r>
              <a:rPr lang="en-US" altLang="ja-JP">
                <a:ea typeface="游ゴシック"/>
              </a:rPr>
              <a:t>DB</a:t>
            </a:r>
            <a:r>
              <a:rPr lang="ja-JP" altLang="en-US">
                <a:ea typeface="游ゴシック"/>
              </a:rPr>
              <a:t>選択理由</a:t>
            </a:r>
            <a:endParaRPr lang="en-US" altLang="ja-JP">
              <a:ea typeface="游ゴシック"/>
            </a:endParaRPr>
          </a:p>
          <a:p>
            <a:pPr marL="0" indent="0">
              <a:buNone/>
            </a:pPr>
            <a:r>
              <a:rPr lang="en-US" altLang="ja-JP">
                <a:ea typeface="游ゴシック"/>
              </a:rPr>
              <a:t>DB</a:t>
            </a:r>
            <a:r>
              <a:rPr lang="ja-JP" altLang="en-US">
                <a:ea typeface="游ゴシック"/>
              </a:rPr>
              <a:t>定義書</a:t>
            </a:r>
            <a:endParaRPr lang="ja-JP" altLang="en-US">
              <a:ea typeface="游ゴシック"/>
              <a:cs typeface="Calibri"/>
            </a:endParaRPr>
          </a:p>
          <a:p>
            <a:pPr marL="0" indent="0">
              <a:buNone/>
            </a:pPr>
            <a:r>
              <a:rPr lang="ja-JP" altLang="en-US">
                <a:ea typeface="游ゴシック"/>
              </a:rPr>
              <a:t>途中でいいので、上の問いを夕会で説明</a:t>
            </a:r>
            <a:endParaRPr lang="ja-JP" altLang="en-US">
              <a:ea typeface="游ゴシック"/>
              <a:cs typeface="Calibri"/>
            </a:endParaRPr>
          </a:p>
        </p:txBody>
      </p:sp>
    </p:spTree>
    <p:extLst>
      <p:ext uri="{BB962C8B-B14F-4D97-AF65-F5344CB8AC3E}">
        <p14:creationId xmlns:p14="http://schemas.microsoft.com/office/powerpoint/2010/main" val="42605779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BFB34B-E8AE-71C8-273F-2BAF0946F0DC}"/>
              </a:ext>
            </a:extLst>
          </p:cNvPr>
          <p:cNvSpPr>
            <a:spLocks noGrp="1"/>
          </p:cNvSpPr>
          <p:nvPr>
            <p:ph type="title"/>
          </p:nvPr>
        </p:nvSpPr>
        <p:spPr>
          <a:xfrm>
            <a:off x="838200" y="59669"/>
            <a:ext cx="10515600" cy="1093695"/>
          </a:xfrm>
        </p:spPr>
        <p:txBody>
          <a:bodyPr/>
          <a:lstStyle/>
          <a:p>
            <a:r>
              <a:rPr kumimoji="1" lang="en-US" altLang="ja-JP"/>
              <a:t>DB</a:t>
            </a:r>
            <a:r>
              <a:rPr kumimoji="1" lang="ja-JP" altLang="en-US"/>
              <a:t>定義書</a:t>
            </a:r>
          </a:p>
        </p:txBody>
      </p:sp>
      <p:pic>
        <p:nvPicPr>
          <p:cNvPr id="10" name="図 9">
            <a:extLst>
              <a:ext uri="{FF2B5EF4-FFF2-40B4-BE49-F238E27FC236}">
                <a16:creationId xmlns:a16="http://schemas.microsoft.com/office/drawing/2014/main" id="{6BA5D383-B1DA-74D0-4A69-7C588767483C}"/>
              </a:ext>
            </a:extLst>
          </p:cNvPr>
          <p:cNvPicPr>
            <a:picLocks noChangeAspect="1"/>
          </p:cNvPicPr>
          <p:nvPr/>
        </p:nvPicPr>
        <p:blipFill>
          <a:blip r:embed="rId2"/>
          <a:stretch>
            <a:fillRect/>
          </a:stretch>
        </p:blipFill>
        <p:spPr>
          <a:xfrm>
            <a:off x="933843" y="1027906"/>
            <a:ext cx="10191217" cy="5609261"/>
          </a:xfrm>
          <a:prstGeom prst="rect">
            <a:avLst/>
          </a:prstGeom>
        </p:spPr>
      </p:pic>
      <p:sp>
        <p:nvSpPr>
          <p:cNvPr id="8" name="吹き出し: 折線 7">
            <a:extLst>
              <a:ext uri="{FF2B5EF4-FFF2-40B4-BE49-F238E27FC236}">
                <a16:creationId xmlns:a16="http://schemas.microsoft.com/office/drawing/2014/main" id="{7594C9D8-0D07-43C8-59FA-C48804081F2B}"/>
              </a:ext>
            </a:extLst>
          </p:cNvPr>
          <p:cNvSpPr/>
          <p:nvPr/>
        </p:nvSpPr>
        <p:spPr>
          <a:xfrm>
            <a:off x="8733864" y="175604"/>
            <a:ext cx="1837765" cy="1093695"/>
          </a:xfrm>
          <a:prstGeom prst="borderCallout2">
            <a:avLst>
              <a:gd name="adj1" fmla="val 51840"/>
              <a:gd name="adj2" fmla="val -5468"/>
              <a:gd name="adj3" fmla="val 51930"/>
              <a:gd name="adj4" fmla="val -20996"/>
              <a:gd name="adj5" fmla="val 80743"/>
              <a:gd name="adj6" fmla="val -6570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a:t>デスクトップで</a:t>
            </a:r>
            <a:endParaRPr kumimoji="1" lang="en-US" altLang="ja-JP" sz="1600"/>
          </a:p>
          <a:p>
            <a:pPr algn="ctr"/>
            <a:r>
              <a:rPr kumimoji="1" lang="ja-JP" altLang="en-US" sz="1600"/>
              <a:t>開いてから</a:t>
            </a:r>
            <a:endParaRPr kumimoji="1" lang="en-US" altLang="ja-JP" sz="1600"/>
          </a:p>
          <a:p>
            <a:pPr algn="ctr"/>
            <a:r>
              <a:rPr kumimoji="1" lang="ja-JP" altLang="en-US" sz="1600"/>
              <a:t>編集してください</a:t>
            </a:r>
          </a:p>
        </p:txBody>
      </p:sp>
    </p:spTree>
    <p:extLst>
      <p:ext uri="{BB962C8B-B14F-4D97-AF65-F5344CB8AC3E}">
        <p14:creationId xmlns:p14="http://schemas.microsoft.com/office/powerpoint/2010/main" val="26123636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08CD09-116B-3E49-D3E0-11A1CE8117D4}"/>
              </a:ext>
            </a:extLst>
          </p:cNvPr>
          <p:cNvSpPr>
            <a:spLocks noGrp="1"/>
          </p:cNvSpPr>
          <p:nvPr>
            <p:ph type="title"/>
          </p:nvPr>
        </p:nvSpPr>
        <p:spPr/>
        <p:txBody>
          <a:bodyPr/>
          <a:lstStyle/>
          <a:p>
            <a:r>
              <a:rPr lang="en-US" altLang="ja-JP"/>
              <a:t>Sharepoint</a:t>
            </a:r>
            <a:r>
              <a:rPr lang="ja-JP" altLang="en-US"/>
              <a:t> </a:t>
            </a:r>
            <a:r>
              <a:rPr lang="en-US" altLang="ja-JP"/>
              <a:t>Excel</a:t>
            </a:r>
            <a:r>
              <a:rPr lang="ja-JP" altLang="en-US"/>
              <a:t> </a:t>
            </a:r>
            <a:endParaRPr kumimoji="1" lang="ja-JP" altLang="en-US"/>
          </a:p>
        </p:txBody>
      </p:sp>
      <p:sp>
        <p:nvSpPr>
          <p:cNvPr id="6" name="テキスト ボックス 5">
            <a:extLst>
              <a:ext uri="{FF2B5EF4-FFF2-40B4-BE49-F238E27FC236}">
                <a16:creationId xmlns:a16="http://schemas.microsoft.com/office/drawing/2014/main" id="{F5D461BF-436D-1323-0164-7A04AD20AF74}"/>
              </a:ext>
            </a:extLst>
          </p:cNvPr>
          <p:cNvSpPr txBox="1"/>
          <p:nvPr/>
        </p:nvSpPr>
        <p:spPr>
          <a:xfrm>
            <a:off x="1068101" y="2009193"/>
            <a:ext cx="6096000" cy="1631216"/>
          </a:xfrm>
          <a:prstGeom prst="rect">
            <a:avLst/>
          </a:prstGeom>
          <a:noFill/>
        </p:spPr>
        <p:txBody>
          <a:bodyPr wrap="square" lIns="91440" tIns="45720" rIns="91440" bIns="45720" anchor="t">
            <a:spAutoFit/>
          </a:bodyPr>
          <a:lstStyle/>
          <a:p>
            <a:r>
              <a:rPr lang="en-US" altLang="ja-JP" sz="2000" err="1">
                <a:latin typeface="游ゴシック Light"/>
                <a:ea typeface="游ゴシック Light"/>
              </a:rPr>
              <a:t>タスク進捗表</a:t>
            </a:r>
          </a:p>
          <a:p>
            <a:endParaRPr lang="en-US" altLang="ja-JP" sz="2000">
              <a:latin typeface="游ゴシック Light"/>
              <a:ea typeface="游ゴシック Light"/>
            </a:endParaRPr>
          </a:p>
          <a:p>
            <a:r>
              <a:rPr lang="en-US" altLang="ja-JP" sz="2000">
                <a:latin typeface="游ゴシック Light"/>
                <a:ea typeface="游ゴシック Light"/>
              </a:rPr>
              <a:t>DB設計書</a:t>
            </a:r>
          </a:p>
          <a:p>
            <a:endParaRPr lang="en-US" altLang="ja-JP" sz="2000">
              <a:latin typeface="+mj-ea"/>
              <a:ea typeface="+mj-ea"/>
            </a:endParaRPr>
          </a:p>
          <a:p>
            <a:endParaRPr lang="ja-JP" altLang="en-US" sz="2000">
              <a:latin typeface="+mj-ea"/>
              <a:ea typeface="+mj-ea"/>
            </a:endParaRPr>
          </a:p>
        </p:txBody>
      </p:sp>
    </p:spTree>
    <p:extLst>
      <p:ext uri="{BB962C8B-B14F-4D97-AF65-F5344CB8AC3E}">
        <p14:creationId xmlns:p14="http://schemas.microsoft.com/office/powerpoint/2010/main" val="32164539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46900A-1EA1-FCF5-386A-C51398C80C25}"/>
              </a:ext>
            </a:extLst>
          </p:cNvPr>
          <p:cNvSpPr>
            <a:spLocks noGrp="1"/>
          </p:cNvSpPr>
          <p:nvPr>
            <p:ph type="title"/>
          </p:nvPr>
        </p:nvSpPr>
        <p:spPr/>
        <p:txBody>
          <a:bodyPr/>
          <a:lstStyle/>
          <a:p>
            <a:r>
              <a:rPr lang="en-US" altLang="ja-JP"/>
              <a:t>AWS</a:t>
            </a:r>
            <a:r>
              <a:rPr lang="ja-JP" altLang="en-US"/>
              <a:t> ① そもそもインフラって何？</a:t>
            </a:r>
            <a:endParaRPr kumimoji="1" lang="ja-JP" altLang="en-US"/>
          </a:p>
        </p:txBody>
      </p:sp>
      <p:sp>
        <p:nvSpPr>
          <p:cNvPr id="3" name="コンテンツ プレースホルダー 2">
            <a:extLst>
              <a:ext uri="{FF2B5EF4-FFF2-40B4-BE49-F238E27FC236}">
                <a16:creationId xmlns:a16="http://schemas.microsoft.com/office/drawing/2014/main" id="{7CDD49C4-C82A-2FD6-AC11-8FD0A6A5D814}"/>
              </a:ext>
            </a:extLst>
          </p:cNvPr>
          <p:cNvSpPr>
            <a:spLocks noGrp="1"/>
          </p:cNvSpPr>
          <p:nvPr>
            <p:ph idx="1"/>
          </p:nvPr>
        </p:nvSpPr>
        <p:spPr/>
        <p:txBody>
          <a:bodyPr>
            <a:normAutofit fontScale="70000" lnSpcReduction="20000"/>
          </a:bodyPr>
          <a:lstStyle/>
          <a:p>
            <a:pPr marL="0" indent="0">
              <a:buNone/>
            </a:pPr>
            <a:r>
              <a:rPr lang="ja-JP" altLang="en-US"/>
              <a:t>目的：アプリケーションを支える“裏側の仕組み”を説明できるようにする</a:t>
            </a:r>
            <a:endParaRPr lang="en-US" altLang="ja-JP"/>
          </a:p>
          <a:p>
            <a:pPr marL="0" indent="0">
              <a:buNone/>
            </a:pPr>
            <a:r>
              <a:rPr lang="ja-JP" altLang="en-US"/>
              <a:t>→ 少し考えてみて、</a:t>
            </a:r>
            <a:r>
              <a:rPr lang="en-US" altLang="ja-JP"/>
              <a:t>LLM</a:t>
            </a:r>
            <a:r>
              <a:rPr lang="ja-JP" altLang="en-US"/>
              <a:t>に聞いてみる。</a:t>
            </a:r>
          </a:p>
          <a:p>
            <a:pPr marL="0" indent="0">
              <a:buNone/>
            </a:pPr>
            <a:endParaRPr lang="ja-JP" altLang="en-US"/>
          </a:p>
          <a:p>
            <a:pPr marL="0" indent="0">
              <a:buNone/>
            </a:pPr>
            <a:r>
              <a:rPr lang="ja-JP" altLang="en-US"/>
              <a:t>・</a:t>
            </a:r>
            <a:r>
              <a:rPr lang="en-US" altLang="ja-JP"/>
              <a:t>Web</a:t>
            </a:r>
            <a:r>
              <a:rPr lang="ja-JP" altLang="en-US"/>
              <a:t>アプリが動くにはどんなインフラの仕組みが必要？</a:t>
            </a:r>
          </a:p>
          <a:p>
            <a:pPr marL="0" indent="0">
              <a:buNone/>
            </a:pPr>
            <a:r>
              <a:rPr lang="ja-JP" altLang="en-US"/>
              <a:t>ユーザーがブラウザでアクセスすると、どこからどこにリクエストが届くのか、紙で図に書いて説明できますか？</a:t>
            </a:r>
          </a:p>
          <a:p>
            <a:pPr marL="0" indent="0">
              <a:buNone/>
            </a:pPr>
            <a:endParaRPr lang="ja-JP" altLang="en-US"/>
          </a:p>
          <a:p>
            <a:pPr marL="0" indent="0">
              <a:buNone/>
            </a:pPr>
            <a:r>
              <a:rPr lang="ja-JP" altLang="en-US"/>
              <a:t>・</a:t>
            </a:r>
            <a:r>
              <a:rPr lang="en-US" altLang="ja-JP"/>
              <a:t>DNS</a:t>
            </a:r>
            <a:r>
              <a:rPr lang="ja-JP" altLang="en-US"/>
              <a:t>、ロードバランサー、ネットワーク、サーバー、ストレージ、データベース</a:t>
            </a:r>
          </a:p>
          <a:p>
            <a:pPr marL="0" indent="0">
              <a:buNone/>
            </a:pPr>
            <a:r>
              <a:rPr lang="ja-JP" altLang="en-US"/>
              <a:t>それぞれ何をしている？</a:t>
            </a:r>
          </a:p>
          <a:p>
            <a:pPr marL="0" indent="0">
              <a:buNone/>
            </a:pPr>
            <a:r>
              <a:rPr lang="en-US" altLang="ja-JP"/>
              <a:t>1</a:t>
            </a:r>
            <a:r>
              <a:rPr lang="ja-JP" altLang="en-US"/>
              <a:t>つずつ</a:t>
            </a:r>
            <a:r>
              <a:rPr lang="en-US" altLang="ja-JP"/>
              <a:t>1</a:t>
            </a:r>
            <a:r>
              <a:rPr lang="ja-JP" altLang="en-US"/>
              <a:t>行で説明してみる。</a:t>
            </a:r>
          </a:p>
          <a:p>
            <a:pPr marL="0" indent="0">
              <a:buNone/>
            </a:pPr>
            <a:endParaRPr lang="ja-JP" altLang="en-US"/>
          </a:p>
          <a:p>
            <a:pPr marL="0" indent="0">
              <a:buNone/>
            </a:pPr>
            <a:r>
              <a:rPr lang="ja-JP" altLang="en-US"/>
              <a:t>・“サーバーレス”とは？</a:t>
            </a:r>
          </a:p>
          <a:p>
            <a:pPr marL="0" indent="0">
              <a:buNone/>
            </a:pPr>
            <a:r>
              <a:rPr lang="en-US" altLang="ja-JP"/>
              <a:t>EC2</a:t>
            </a:r>
            <a:r>
              <a:rPr lang="ja-JP" altLang="en-US"/>
              <a:t>と比べて、メリット・デメリットを</a:t>
            </a:r>
            <a:r>
              <a:rPr lang="en-US" altLang="ja-JP"/>
              <a:t>1</a:t>
            </a:r>
            <a:r>
              <a:rPr lang="ja-JP" altLang="en-US"/>
              <a:t>行で説明してみる。</a:t>
            </a:r>
          </a:p>
          <a:p>
            <a:pPr marL="0" indent="0">
              <a:buNone/>
            </a:pPr>
            <a:endParaRPr kumimoji="1" lang="ja-JP" altLang="en-US"/>
          </a:p>
        </p:txBody>
      </p:sp>
    </p:spTree>
    <p:extLst>
      <p:ext uri="{BB962C8B-B14F-4D97-AF65-F5344CB8AC3E}">
        <p14:creationId xmlns:p14="http://schemas.microsoft.com/office/powerpoint/2010/main" val="14804963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B51A3-ACA8-9F2D-5C81-2D79D54CD1A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590D8EB-A138-9D01-D18C-4D76F95FB6C2}"/>
              </a:ext>
            </a:extLst>
          </p:cNvPr>
          <p:cNvSpPr>
            <a:spLocks noGrp="1"/>
          </p:cNvSpPr>
          <p:nvPr>
            <p:ph type="title"/>
          </p:nvPr>
        </p:nvSpPr>
        <p:spPr>
          <a:xfrm>
            <a:off x="531394" y="381167"/>
            <a:ext cx="11129211" cy="1325563"/>
          </a:xfrm>
        </p:spPr>
        <p:txBody>
          <a:bodyPr>
            <a:normAutofit/>
          </a:bodyPr>
          <a:lstStyle/>
          <a:p>
            <a:r>
              <a:rPr lang="en-US" altLang="ja-JP"/>
              <a:t>AWS</a:t>
            </a:r>
            <a:r>
              <a:rPr lang="ja-JP" altLang="en-US"/>
              <a:t> ② 基本的な</a:t>
            </a:r>
            <a:r>
              <a:rPr lang="en-US" altLang="ja-JP"/>
              <a:t>AWS</a:t>
            </a:r>
            <a:r>
              <a:rPr lang="ja-JP" altLang="en-US"/>
              <a:t>サービスの役割を把握</a:t>
            </a:r>
            <a:endParaRPr kumimoji="1" lang="ja-JP" altLang="en-US"/>
          </a:p>
        </p:txBody>
      </p:sp>
      <p:sp>
        <p:nvSpPr>
          <p:cNvPr id="3" name="コンテンツ プレースホルダー 2">
            <a:extLst>
              <a:ext uri="{FF2B5EF4-FFF2-40B4-BE49-F238E27FC236}">
                <a16:creationId xmlns:a16="http://schemas.microsoft.com/office/drawing/2014/main" id="{0863EA4F-AAE8-1528-1C59-1FD5FBD6EF26}"/>
              </a:ext>
            </a:extLst>
          </p:cNvPr>
          <p:cNvSpPr>
            <a:spLocks noGrp="1"/>
          </p:cNvSpPr>
          <p:nvPr>
            <p:ph idx="1"/>
          </p:nvPr>
        </p:nvSpPr>
        <p:spPr>
          <a:xfrm>
            <a:off x="473242" y="1825625"/>
            <a:ext cx="11494168" cy="4351338"/>
          </a:xfrm>
        </p:spPr>
        <p:txBody>
          <a:bodyPr>
            <a:normAutofit/>
          </a:bodyPr>
          <a:lstStyle/>
          <a:p>
            <a:pPr marL="0" indent="0">
              <a:buNone/>
            </a:pPr>
            <a:endParaRPr lang="ja-JP" altLang="en-US"/>
          </a:p>
          <a:p>
            <a:pPr marL="0" indent="0">
              <a:buNone/>
            </a:pPr>
            <a:r>
              <a:rPr lang="ja-JP" altLang="en-US"/>
              <a:t>目的：各サービスの“ざっくり役割”を知り、</a:t>
            </a:r>
            <a:br>
              <a:rPr lang="en-US" altLang="ja-JP"/>
            </a:br>
            <a:r>
              <a:rPr lang="ja-JP" altLang="en-US"/>
              <a:t>             自分のアプリに何が必要か考えられるようにする</a:t>
            </a:r>
          </a:p>
          <a:p>
            <a:pPr marL="0" indent="0">
              <a:buNone/>
            </a:pPr>
            <a:endParaRPr lang="ja-JP" altLang="en-US"/>
          </a:p>
          <a:p>
            <a:pPr marL="0" indent="0">
              <a:buNone/>
            </a:pPr>
            <a:r>
              <a:rPr lang="ja-JP" altLang="en-US" sz="1500"/>
              <a:t>要素	                   サービス例	                                                                理解を深める問い</a:t>
            </a:r>
          </a:p>
          <a:p>
            <a:pPr marL="0" indent="0">
              <a:buNone/>
            </a:pPr>
            <a:r>
              <a:rPr lang="ja-JP" altLang="en-US" sz="1500"/>
              <a:t>ドメイン	                    </a:t>
            </a:r>
            <a:r>
              <a:rPr lang="en-US" altLang="ja-JP" sz="1500"/>
              <a:t>Route53</a:t>
            </a:r>
            <a:r>
              <a:rPr lang="ja-JP" altLang="en-US" sz="1500"/>
              <a:t>                                                     </a:t>
            </a:r>
            <a:r>
              <a:rPr lang="en-US" altLang="ja-JP" sz="1500"/>
              <a:t>	</a:t>
            </a:r>
            <a:r>
              <a:rPr lang="ja-JP" altLang="en-US" sz="1500"/>
              <a:t>「独自ドメインを使いたいときに必要なのは？」</a:t>
            </a:r>
          </a:p>
          <a:p>
            <a:pPr marL="0" indent="0">
              <a:buNone/>
            </a:pPr>
            <a:r>
              <a:rPr lang="ja-JP" altLang="en-US" sz="1500"/>
              <a:t>ゲートウェイ	</a:t>
            </a:r>
            <a:r>
              <a:rPr lang="en-US" altLang="ja-JP" sz="1500"/>
              <a:t>ALB / API Gateway / CloudFront	</a:t>
            </a:r>
            <a:r>
              <a:rPr lang="ja-JP" altLang="en-US" sz="1500"/>
              <a:t>                     「ユーザーのリクエストはどこを通ってアプリに届く？」</a:t>
            </a:r>
          </a:p>
          <a:p>
            <a:pPr marL="0" indent="0">
              <a:buNone/>
            </a:pPr>
            <a:r>
              <a:rPr lang="ja-JP" altLang="en-US" sz="1500"/>
              <a:t>ネットワーク	</a:t>
            </a:r>
            <a:r>
              <a:rPr lang="en-US" altLang="ja-JP" sz="1500"/>
              <a:t>VPC / Subnet / Security Group / Route Table	</a:t>
            </a:r>
            <a:r>
              <a:rPr lang="ja-JP" altLang="en-US" sz="1500"/>
              <a:t>「外部アクセスと内部通信はどうやって制御されている？」</a:t>
            </a:r>
          </a:p>
          <a:p>
            <a:pPr marL="0" indent="0">
              <a:buNone/>
            </a:pPr>
            <a:r>
              <a:rPr lang="ja-JP" altLang="en-US" sz="1500"/>
              <a:t>サーバー	                    </a:t>
            </a:r>
            <a:r>
              <a:rPr lang="en-US" altLang="ja-JP" sz="1500"/>
              <a:t>EC2 / Fargate / Lambda	</a:t>
            </a:r>
            <a:r>
              <a:rPr lang="ja-JP" altLang="en-US" sz="1500"/>
              <a:t>                                          「</a:t>
            </a:r>
            <a:r>
              <a:rPr lang="en-US" altLang="ja-JP" sz="1500"/>
              <a:t>EC2</a:t>
            </a:r>
            <a:r>
              <a:rPr lang="ja-JP" altLang="en-US" sz="1500"/>
              <a:t>と</a:t>
            </a:r>
            <a:r>
              <a:rPr lang="en-US" altLang="ja-JP" sz="1500"/>
              <a:t>Lambda</a:t>
            </a:r>
            <a:r>
              <a:rPr lang="ja-JP" altLang="en-US" sz="1500"/>
              <a:t>の違いは？今回の要件に向いているのはどっち？」</a:t>
            </a:r>
          </a:p>
          <a:p>
            <a:pPr marL="0" indent="0">
              <a:buNone/>
            </a:pPr>
            <a:r>
              <a:rPr lang="ja-JP" altLang="en-US" sz="1500"/>
              <a:t>データストア	</a:t>
            </a:r>
            <a:r>
              <a:rPr lang="en-US" altLang="ja-JP" sz="1500"/>
              <a:t>RDS / DynamoDB / S3 / ElastiCache	</a:t>
            </a:r>
            <a:r>
              <a:rPr lang="ja-JP" altLang="en-US" sz="1500"/>
              <a:t>                     「データを保存するためサービスはどれが適切か？」</a:t>
            </a:r>
          </a:p>
          <a:p>
            <a:pPr marL="0" indent="0">
              <a:buNone/>
            </a:pPr>
            <a:r>
              <a:rPr lang="ja-JP" altLang="en-US" sz="1500"/>
              <a:t>監視	                      </a:t>
            </a:r>
            <a:r>
              <a:rPr lang="en-US" altLang="ja-JP" sz="1500"/>
              <a:t>CloudWatch</a:t>
            </a:r>
            <a:r>
              <a:rPr lang="ja-JP" altLang="en-US" sz="1500"/>
              <a:t>                                             </a:t>
            </a:r>
            <a:r>
              <a:rPr lang="en-US" altLang="ja-JP" sz="1500"/>
              <a:t>	</a:t>
            </a:r>
            <a:r>
              <a:rPr lang="ja-JP" altLang="en-US" sz="1500"/>
              <a:t>「アプリケーションの稼働状況をどのように確認するか？」</a:t>
            </a:r>
          </a:p>
        </p:txBody>
      </p:sp>
    </p:spTree>
    <p:extLst>
      <p:ext uri="{BB962C8B-B14F-4D97-AF65-F5344CB8AC3E}">
        <p14:creationId xmlns:p14="http://schemas.microsoft.com/office/powerpoint/2010/main" val="2588005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BC387-56CD-6D1B-A113-FCC700F2D4C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D82B668-95D6-7F83-0D95-DF3A33269C1C}"/>
              </a:ext>
            </a:extLst>
          </p:cNvPr>
          <p:cNvSpPr>
            <a:spLocks noGrp="1"/>
          </p:cNvSpPr>
          <p:nvPr>
            <p:ph type="title"/>
          </p:nvPr>
        </p:nvSpPr>
        <p:spPr>
          <a:xfrm>
            <a:off x="531394" y="381167"/>
            <a:ext cx="11129211" cy="1325563"/>
          </a:xfrm>
        </p:spPr>
        <p:txBody>
          <a:bodyPr>
            <a:normAutofit/>
          </a:bodyPr>
          <a:lstStyle/>
          <a:p>
            <a:r>
              <a:rPr lang="en-US" altLang="ja-JP"/>
              <a:t>AWS</a:t>
            </a:r>
            <a:r>
              <a:rPr lang="ja-JP" altLang="en-US"/>
              <a:t> ③ インフラ構成を図にして、説明する</a:t>
            </a:r>
          </a:p>
        </p:txBody>
      </p:sp>
      <p:sp>
        <p:nvSpPr>
          <p:cNvPr id="3" name="コンテンツ プレースホルダー 2">
            <a:extLst>
              <a:ext uri="{FF2B5EF4-FFF2-40B4-BE49-F238E27FC236}">
                <a16:creationId xmlns:a16="http://schemas.microsoft.com/office/drawing/2014/main" id="{9EDC0E0E-228E-8B75-DE73-AD07DC884BAF}"/>
              </a:ext>
            </a:extLst>
          </p:cNvPr>
          <p:cNvSpPr>
            <a:spLocks noGrp="1"/>
          </p:cNvSpPr>
          <p:nvPr>
            <p:ph idx="1"/>
          </p:nvPr>
        </p:nvSpPr>
        <p:spPr>
          <a:xfrm>
            <a:off x="518599" y="1825625"/>
            <a:ext cx="11521574" cy="4351338"/>
          </a:xfrm>
        </p:spPr>
        <p:txBody>
          <a:bodyPr vert="horz" lIns="91440" tIns="45720" rIns="91440" bIns="45720" rtlCol="0" anchor="t">
            <a:normAutofit lnSpcReduction="10000"/>
          </a:bodyPr>
          <a:lstStyle/>
          <a:p>
            <a:pPr marL="0" indent="0">
              <a:buNone/>
            </a:pPr>
            <a:r>
              <a:rPr lang="ja-JP" altLang="en-US" sz="2000">
                <a:ea typeface="游ゴシック"/>
              </a:rPr>
              <a:t>目的：インフラ構成図を作成して、自分で選んだ要素と目的を“言葉で説明”できるようにする</a:t>
            </a:r>
            <a:endParaRPr lang="en-US" altLang="ja-JP">
              <a:ea typeface="游ゴシック"/>
            </a:endParaRPr>
          </a:p>
          <a:p>
            <a:pPr marL="0" indent="0">
              <a:buNone/>
            </a:pPr>
            <a:endParaRPr lang="ja-JP" altLang="en-US" sz="2000">
              <a:ea typeface="游ゴシック"/>
            </a:endParaRPr>
          </a:p>
          <a:p>
            <a:pPr marL="0" indent="0">
              <a:buNone/>
            </a:pPr>
            <a:r>
              <a:rPr lang="ja-JP" altLang="en-US" sz="2000">
                <a:ea typeface="游ゴシック"/>
              </a:rPr>
              <a:t>・あなたチームのアプリのインフラ構成を図にしてみてください。</a:t>
            </a:r>
            <a:endParaRPr lang="en-US"/>
          </a:p>
          <a:p>
            <a:pPr marL="0" indent="0">
              <a:buNone/>
            </a:pPr>
            <a:r>
              <a:rPr lang="ja-JP" altLang="en-US" sz="2000"/>
              <a:t>     図中には、各サービスの役割も記載。</a:t>
            </a:r>
          </a:p>
          <a:p>
            <a:pPr marL="0" indent="0">
              <a:buNone/>
            </a:pPr>
            <a:endParaRPr lang="ja-JP" altLang="en-US" sz="2000"/>
          </a:p>
          <a:p>
            <a:pPr marL="0" indent="0">
              <a:buNone/>
            </a:pPr>
            <a:r>
              <a:rPr lang="ja-JP" altLang="en-US" sz="2000"/>
              <a:t>・その構成図を他のメンバーに説明してみる。</a:t>
            </a:r>
          </a:p>
          <a:p>
            <a:pPr marL="0" indent="0">
              <a:buNone/>
            </a:pPr>
            <a:r>
              <a:rPr lang="ja-JP" altLang="en-US" sz="2000"/>
              <a:t>    “なぜこのサービスを選んだの？”を答えられるようにする。</a:t>
            </a:r>
          </a:p>
          <a:p>
            <a:pPr marL="0" indent="0">
              <a:buNone/>
            </a:pPr>
            <a:endParaRPr lang="ja-JP" altLang="en-US" sz="2000"/>
          </a:p>
          <a:p>
            <a:pPr marL="0" indent="0">
              <a:buNone/>
            </a:pPr>
            <a:r>
              <a:rPr lang="ja-JP" altLang="en-US" sz="2000"/>
              <a:t>■アウトプット</a:t>
            </a:r>
          </a:p>
          <a:p>
            <a:pPr marL="0" indent="0">
              <a:buNone/>
            </a:pPr>
            <a:r>
              <a:rPr lang="ja-JP" altLang="en-US" sz="2000"/>
              <a:t>インフラ構成図</a:t>
            </a:r>
            <a:endParaRPr lang="en-US" altLang="ja-JP" sz="2000"/>
          </a:p>
          <a:p>
            <a:pPr marL="0" indent="0">
              <a:buNone/>
            </a:pPr>
            <a:r>
              <a:rPr lang="ja-JP" altLang="en-US" sz="2000">
                <a:ea typeface="游ゴシック"/>
              </a:rPr>
              <a:t>途中でもいいので、夕会で説明する</a:t>
            </a:r>
            <a:endParaRPr lang="ja-JP" altLang="en-US" sz="2000">
              <a:ea typeface="游ゴシック"/>
              <a:cs typeface="Calibri"/>
            </a:endParaRPr>
          </a:p>
        </p:txBody>
      </p:sp>
    </p:spTree>
    <p:extLst>
      <p:ext uri="{BB962C8B-B14F-4D97-AF65-F5344CB8AC3E}">
        <p14:creationId xmlns:p14="http://schemas.microsoft.com/office/powerpoint/2010/main" val="32530745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6D4FD-A751-FB6D-CAF8-CD464ADCBAD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87F9B1-ABBE-4BC7-FFE2-7CE6A53AFF36}"/>
              </a:ext>
            </a:extLst>
          </p:cNvPr>
          <p:cNvSpPr>
            <a:spLocks noGrp="1"/>
          </p:cNvSpPr>
          <p:nvPr>
            <p:ph type="title"/>
          </p:nvPr>
        </p:nvSpPr>
        <p:spPr/>
        <p:txBody>
          <a:bodyPr/>
          <a:lstStyle/>
          <a:p>
            <a:r>
              <a:rPr kumimoji="1" lang="ja-JP" altLang="en-US"/>
              <a:t>開発上の注意</a:t>
            </a:r>
          </a:p>
        </p:txBody>
      </p:sp>
      <p:sp>
        <p:nvSpPr>
          <p:cNvPr id="5" name="Rectangle 1">
            <a:extLst>
              <a:ext uri="{FF2B5EF4-FFF2-40B4-BE49-F238E27FC236}">
                <a16:creationId xmlns:a16="http://schemas.microsoft.com/office/drawing/2014/main" id="{A05C1F67-6466-BA95-6DF1-432E91F741CF}"/>
              </a:ext>
            </a:extLst>
          </p:cNvPr>
          <p:cNvSpPr>
            <a:spLocks noChangeArrowheads="1"/>
          </p:cNvSpPr>
          <p:nvPr/>
        </p:nvSpPr>
        <p:spPr bwMode="auto">
          <a:xfrm>
            <a:off x="838200" y="1972253"/>
            <a:ext cx="719866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1800" b="0" i="0" u="none" strike="noStrike" cap="none" normalizeH="0" baseline="0">
                <a:ln>
                  <a:noFill/>
                </a:ln>
                <a:solidFill>
                  <a:schemeClr val="tx1"/>
                </a:solidFill>
                <a:effectLst/>
                <a:latin typeface="Arial" panose="020B0604020202020204" pitchFamily="34" charset="0"/>
              </a:rPr>
              <a:t>テストデータにおける</a:t>
            </a:r>
            <a:r>
              <a:rPr kumimoji="0" lang="en-US" altLang="ja-JP" sz="1800" b="0" i="0" u="none" strike="noStrike" cap="none" normalizeH="0" baseline="0">
                <a:ln>
                  <a:noFill/>
                </a:ln>
                <a:solidFill>
                  <a:schemeClr val="tx1"/>
                </a:solidFill>
                <a:effectLst/>
                <a:latin typeface="Arial" panose="020B0604020202020204" pitchFamily="34" charset="0"/>
              </a:rPr>
              <a:t>Email</a:t>
            </a:r>
            <a:r>
              <a:rPr kumimoji="0" lang="ja-JP" altLang="en-US" sz="1800" b="0" i="0" u="none" strike="noStrike" cap="none" normalizeH="0" baseline="0">
                <a:ln>
                  <a:noFill/>
                </a:ln>
                <a:solidFill>
                  <a:schemeClr val="tx1"/>
                </a:solidFill>
                <a:effectLst/>
                <a:latin typeface="Arial" panose="020B0604020202020204" pitchFamily="34" charset="0"/>
              </a:rPr>
              <a:t>アドレス</a:t>
            </a:r>
            <a:endParaRPr kumimoji="0" lang="en-US" altLang="ja-JP"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ja-JP">
                <a:latin typeface="Arial" panose="020B0604020202020204" pitchFamily="34" charset="0"/>
              </a:rPr>
              <a:t>example.com</a:t>
            </a:r>
            <a:r>
              <a:rPr lang="ja-JP" altLang="en-US">
                <a:latin typeface="Arial" panose="020B0604020202020204" pitchFamily="34" charset="0"/>
              </a:rPr>
              <a:t>を使ってください。</a:t>
            </a:r>
            <a:endParaRPr lang="en-US" altLang="ja-JP">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57541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3E9752-934A-A440-B4EA-A8A58A6A1321}"/>
              </a:ext>
            </a:extLst>
          </p:cNvPr>
          <p:cNvSpPr>
            <a:spLocks noGrp="1"/>
          </p:cNvSpPr>
          <p:nvPr>
            <p:ph type="title"/>
          </p:nvPr>
        </p:nvSpPr>
        <p:spPr>
          <a:xfrm>
            <a:off x="523631" y="1514253"/>
            <a:ext cx="11719168" cy="2653836"/>
          </a:xfrm>
        </p:spPr>
        <p:txBody>
          <a:bodyPr vert="horz" lIns="91440" tIns="45720" rIns="91440" bIns="45720" rtlCol="0" anchor="b">
            <a:normAutofit/>
          </a:bodyPr>
          <a:lstStyle/>
          <a:p>
            <a:r>
              <a:rPr lang="ja-JP" altLang="en-US" sz="5000"/>
              <a:t>インターン</a:t>
            </a:r>
            <a:r>
              <a:rPr kumimoji="1" lang="ja-JP" altLang="en-US" sz="5000"/>
              <a:t>期間内で協力し合い</a:t>
            </a:r>
            <a:br>
              <a:rPr kumimoji="1" lang="en-US" altLang="ja-JP" sz="5000"/>
            </a:br>
            <a:r>
              <a:rPr kumimoji="1" lang="ja-JP" altLang="en-US" sz="5000"/>
              <a:t>ベストなものを作り上げましょう！</a:t>
            </a:r>
          </a:p>
        </p:txBody>
      </p:sp>
    </p:spTree>
    <p:extLst>
      <p:ext uri="{BB962C8B-B14F-4D97-AF65-F5344CB8AC3E}">
        <p14:creationId xmlns:p14="http://schemas.microsoft.com/office/powerpoint/2010/main" val="19853727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EB5435-57A5-C7D0-B1A6-609B55C292A8}"/>
              </a:ext>
            </a:extLst>
          </p:cNvPr>
          <p:cNvSpPr>
            <a:spLocks noGrp="1"/>
          </p:cNvSpPr>
          <p:nvPr>
            <p:ph type="title"/>
          </p:nvPr>
        </p:nvSpPr>
        <p:spPr/>
        <p:txBody>
          <a:bodyPr/>
          <a:lstStyle/>
          <a:p>
            <a:r>
              <a:rPr kumimoji="1" lang="ja-JP" altLang="en-US"/>
              <a:t>以下履歴</a:t>
            </a:r>
          </a:p>
        </p:txBody>
      </p:sp>
    </p:spTree>
    <p:extLst>
      <p:ext uri="{BB962C8B-B14F-4D97-AF65-F5344CB8AC3E}">
        <p14:creationId xmlns:p14="http://schemas.microsoft.com/office/powerpoint/2010/main" val="38312669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AFCEF09A-949D-70A6-953F-22D7B41809C5}"/>
              </a:ext>
            </a:extLst>
          </p:cNvPr>
          <p:cNvPicPr>
            <a:picLocks noChangeAspect="1"/>
          </p:cNvPicPr>
          <p:nvPr/>
        </p:nvPicPr>
        <p:blipFill>
          <a:blip r:embed="rId2"/>
          <a:stretch>
            <a:fillRect/>
          </a:stretch>
        </p:blipFill>
        <p:spPr>
          <a:xfrm>
            <a:off x="3105549" y="1183076"/>
            <a:ext cx="4760963" cy="4961566"/>
          </a:xfrm>
          <a:prstGeom prst="rect">
            <a:avLst/>
          </a:prstGeom>
          <a:ln>
            <a:solidFill>
              <a:schemeClr val="accent1">
                <a:lumMod val="75000"/>
              </a:schemeClr>
            </a:solidFill>
          </a:ln>
        </p:spPr>
      </p:pic>
      <p:sp>
        <p:nvSpPr>
          <p:cNvPr id="4" name="テキスト ボックス 3">
            <a:extLst>
              <a:ext uri="{FF2B5EF4-FFF2-40B4-BE49-F238E27FC236}">
                <a16:creationId xmlns:a16="http://schemas.microsoft.com/office/drawing/2014/main" id="{85E2EBC3-0FB9-E706-4C1C-FD4EACCCD327}"/>
              </a:ext>
            </a:extLst>
          </p:cNvPr>
          <p:cNvSpPr txBox="1"/>
          <p:nvPr/>
        </p:nvSpPr>
        <p:spPr>
          <a:xfrm>
            <a:off x="359526" y="178422"/>
            <a:ext cx="10545694" cy="769441"/>
          </a:xfrm>
          <a:prstGeom prst="rect">
            <a:avLst/>
          </a:prstGeom>
          <a:noFill/>
        </p:spPr>
        <p:txBody>
          <a:bodyPr wrap="square" lIns="91440" tIns="45720" rIns="91440" bIns="45720" anchor="t">
            <a:spAutoFit/>
          </a:bodyPr>
          <a:lstStyle/>
          <a:p>
            <a:r>
              <a:rPr kumimoji="1" lang="ja-JP" altLang="en-US" sz="4400">
                <a:ea typeface="游ゴシック"/>
              </a:rPr>
              <a:t>開発課題　ログイン画面</a:t>
            </a:r>
            <a:endParaRPr lang="ja-JP" altLang="en-US" sz="4400"/>
          </a:p>
        </p:txBody>
      </p:sp>
      <p:sp>
        <p:nvSpPr>
          <p:cNvPr id="5" name="テキスト ボックス 4">
            <a:extLst>
              <a:ext uri="{FF2B5EF4-FFF2-40B4-BE49-F238E27FC236}">
                <a16:creationId xmlns:a16="http://schemas.microsoft.com/office/drawing/2014/main" id="{C0D08082-96F6-6B27-090A-263A4FB5D9AE}"/>
              </a:ext>
            </a:extLst>
          </p:cNvPr>
          <p:cNvSpPr txBox="1"/>
          <p:nvPr/>
        </p:nvSpPr>
        <p:spPr>
          <a:xfrm>
            <a:off x="7996518" y="2371198"/>
            <a:ext cx="3890683" cy="2585323"/>
          </a:xfrm>
          <a:prstGeom prst="rect">
            <a:avLst/>
          </a:prstGeom>
          <a:noFill/>
        </p:spPr>
        <p:txBody>
          <a:bodyPr wrap="square">
            <a:spAutoFit/>
          </a:bodyPr>
          <a:lstStyle/>
          <a:p>
            <a:r>
              <a:rPr lang="ja-JP" altLang="en-US"/>
              <a:t>要件</a:t>
            </a:r>
            <a:endParaRPr lang="en-US" altLang="ja-JP"/>
          </a:p>
          <a:p>
            <a:r>
              <a:rPr lang="ja-JP" altLang="en-US"/>
              <a:t>・メールアドレス</a:t>
            </a:r>
            <a:endParaRPr lang="en-US" altLang="ja-JP"/>
          </a:p>
          <a:p>
            <a:r>
              <a:rPr lang="ja-JP" altLang="en-US"/>
              <a:t>・パスワード</a:t>
            </a:r>
            <a:endParaRPr lang="en-US" altLang="ja-JP"/>
          </a:p>
          <a:p>
            <a:r>
              <a:rPr lang="ja-JP" altLang="en-US"/>
              <a:t>・ログインボタン</a:t>
            </a:r>
            <a:endParaRPr lang="en-US" altLang="ja-JP"/>
          </a:p>
          <a:p>
            <a:r>
              <a:rPr lang="ja-JP" altLang="en-US"/>
              <a:t>・未入力時エラーメッセージ</a:t>
            </a:r>
            <a:endParaRPr lang="en-US" altLang="ja-JP"/>
          </a:p>
          <a:p>
            <a:endParaRPr lang="en-US" altLang="ja-JP"/>
          </a:p>
          <a:p>
            <a:r>
              <a:rPr lang="ja-JP" altLang="en-US"/>
              <a:t>やらないこと</a:t>
            </a:r>
            <a:endParaRPr lang="en-US" altLang="ja-JP"/>
          </a:p>
          <a:p>
            <a:r>
              <a:rPr lang="ja-JP" altLang="en-US"/>
              <a:t>・ソーシャルアカウント連携：なし</a:t>
            </a:r>
            <a:endParaRPr lang="en-US" altLang="ja-JP"/>
          </a:p>
          <a:p>
            <a:r>
              <a:rPr lang="ja-JP" altLang="en-US"/>
              <a:t>・共通ヘッダー：なし</a:t>
            </a:r>
          </a:p>
        </p:txBody>
      </p:sp>
    </p:spTree>
    <p:extLst>
      <p:ext uri="{BB962C8B-B14F-4D97-AF65-F5344CB8AC3E}">
        <p14:creationId xmlns:p14="http://schemas.microsoft.com/office/powerpoint/2010/main" val="27639344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10E46-4E12-0D50-5D65-2D8261687E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AE0B63-B52F-702E-71A2-88551CF47158}"/>
              </a:ext>
            </a:extLst>
          </p:cNvPr>
          <p:cNvSpPr>
            <a:spLocks noGrp="1"/>
          </p:cNvSpPr>
          <p:nvPr>
            <p:ph type="title"/>
          </p:nvPr>
        </p:nvSpPr>
        <p:spPr/>
        <p:txBody>
          <a:bodyPr/>
          <a:lstStyle/>
          <a:p>
            <a:r>
              <a:rPr kumimoji="1" lang="ja-JP" altLang="en-US"/>
              <a:t>推奨</a:t>
            </a:r>
          </a:p>
        </p:txBody>
      </p:sp>
      <p:sp>
        <p:nvSpPr>
          <p:cNvPr id="3" name="コンテンツ プレースホルダー 2">
            <a:extLst>
              <a:ext uri="{FF2B5EF4-FFF2-40B4-BE49-F238E27FC236}">
                <a16:creationId xmlns:a16="http://schemas.microsoft.com/office/drawing/2014/main" id="{D069EBD9-92AA-6048-62A3-F54D46FE1637}"/>
              </a:ext>
            </a:extLst>
          </p:cNvPr>
          <p:cNvSpPr>
            <a:spLocks noGrp="1"/>
          </p:cNvSpPr>
          <p:nvPr>
            <p:ph idx="1"/>
          </p:nvPr>
        </p:nvSpPr>
        <p:spPr/>
        <p:txBody>
          <a:bodyPr/>
          <a:lstStyle/>
          <a:p>
            <a:r>
              <a:rPr kumimoji="1" lang="ja-JP" altLang="en-US"/>
              <a:t>メンターにメンションする</a:t>
            </a:r>
            <a:endParaRPr kumimoji="1" lang="en-US" altLang="ja-JP"/>
          </a:p>
          <a:p>
            <a:pPr marL="0" indent="0">
              <a:buNone/>
            </a:pPr>
            <a:r>
              <a:rPr lang="ja-JP" altLang="en-US"/>
              <a:t>メイン業務と並行して指導してるので、明示的にメンションしてください</a:t>
            </a:r>
            <a:endParaRPr lang="en-US" altLang="ja-JP"/>
          </a:p>
          <a:p>
            <a:r>
              <a:rPr kumimoji="1" lang="ja-JP" altLang="en-US"/>
              <a:t>あ</a:t>
            </a:r>
            <a:endParaRPr kumimoji="1" lang="en-US" altLang="ja-JP"/>
          </a:p>
          <a:p>
            <a:r>
              <a:rPr lang="ja-JP" altLang="en-US"/>
              <a:t>あ</a:t>
            </a:r>
            <a:endParaRPr kumimoji="1" lang="en-US" altLang="ja-JP"/>
          </a:p>
          <a:p>
            <a:r>
              <a:rPr kumimoji="1" lang="ja-JP" altLang="en-US"/>
              <a:t>あ</a:t>
            </a:r>
          </a:p>
        </p:txBody>
      </p:sp>
    </p:spTree>
    <p:extLst>
      <p:ext uri="{BB962C8B-B14F-4D97-AF65-F5344CB8AC3E}">
        <p14:creationId xmlns:p14="http://schemas.microsoft.com/office/powerpoint/2010/main" val="22068397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D4CFE3-C5A8-41E7-8692-7ED958B070FC}"/>
              </a:ext>
            </a:extLst>
          </p:cNvPr>
          <p:cNvSpPr>
            <a:spLocks noGrp="1"/>
          </p:cNvSpPr>
          <p:nvPr>
            <p:ph type="title"/>
          </p:nvPr>
        </p:nvSpPr>
        <p:spPr>
          <a:xfrm>
            <a:off x="649941" y="0"/>
            <a:ext cx="10515600" cy="1325563"/>
          </a:xfrm>
        </p:spPr>
        <p:txBody>
          <a:bodyPr/>
          <a:lstStyle/>
          <a:p>
            <a:r>
              <a:rPr kumimoji="1" lang="en-US" altLang="ja-JP">
                <a:latin typeface="ＭＳ Ｐゴシック" panose="020B0600070205080204" pitchFamily="50" charset="-128"/>
                <a:ea typeface="ＭＳ Ｐゴシック" panose="020B0600070205080204" pitchFamily="50" charset="-128"/>
              </a:rPr>
              <a:t>GitHub</a:t>
            </a:r>
            <a:r>
              <a:rPr kumimoji="1" lang="ja-JP" altLang="en-US">
                <a:latin typeface="ＭＳ Ｐゴシック" panose="020B0600070205080204" pitchFamily="50" charset="-128"/>
                <a:ea typeface="ＭＳ Ｐゴシック" panose="020B0600070205080204" pitchFamily="50" charset="-128"/>
              </a:rPr>
              <a:t> </a:t>
            </a:r>
            <a:r>
              <a:rPr kumimoji="1" lang="en-US" altLang="ja-JP">
                <a:latin typeface="ＭＳ Ｐゴシック" panose="020B0600070205080204" pitchFamily="50" charset="-128"/>
                <a:ea typeface="ＭＳ Ｐゴシック" panose="020B0600070205080204" pitchFamily="50" charset="-128"/>
              </a:rPr>
              <a:t>Projects</a:t>
            </a:r>
            <a:r>
              <a:rPr kumimoji="1" lang="ja-JP" altLang="en-US">
                <a:latin typeface="ＭＳ Ｐゴシック" panose="020B0600070205080204" pitchFamily="50" charset="-128"/>
                <a:ea typeface="ＭＳ Ｐゴシック" panose="020B0600070205080204" pitchFamily="50" charset="-128"/>
              </a:rPr>
              <a:t> バックログ</a:t>
            </a:r>
            <a:r>
              <a:rPr lang="ja-JP" altLang="en-US">
                <a:latin typeface="ＭＳ Ｐゴシック" panose="020B0600070205080204" pitchFamily="50" charset="-128"/>
                <a:ea typeface="ＭＳ Ｐゴシック" panose="020B0600070205080204" pitchFamily="50" charset="-128"/>
              </a:rPr>
              <a:t>の運用ルール</a:t>
            </a:r>
            <a:endParaRPr kumimoji="1" lang="ja-JP" altLang="en-US">
              <a:latin typeface="ＭＳ Ｐゴシック" panose="020B0600070205080204" pitchFamily="50" charset="-128"/>
              <a:ea typeface="ＭＳ Ｐゴシック" panose="020B0600070205080204" pitchFamily="50" charset="-128"/>
            </a:endParaRPr>
          </a:p>
        </p:txBody>
      </p:sp>
      <p:sp>
        <p:nvSpPr>
          <p:cNvPr id="3" name="コンテンツ プレースホルダー 2">
            <a:extLst>
              <a:ext uri="{FF2B5EF4-FFF2-40B4-BE49-F238E27FC236}">
                <a16:creationId xmlns:a16="http://schemas.microsoft.com/office/drawing/2014/main" id="{B1349DD6-6904-4614-8FA4-815BB7D833D2}"/>
              </a:ext>
            </a:extLst>
          </p:cNvPr>
          <p:cNvSpPr>
            <a:spLocks noGrp="1"/>
          </p:cNvSpPr>
          <p:nvPr>
            <p:ph idx="1"/>
          </p:nvPr>
        </p:nvSpPr>
        <p:spPr>
          <a:xfrm>
            <a:off x="514237" y="1577820"/>
            <a:ext cx="11425214" cy="4849105"/>
          </a:xfrm>
        </p:spPr>
        <p:txBody>
          <a:bodyPr>
            <a:normAutofit fontScale="55000" lnSpcReduction="20000"/>
          </a:bodyPr>
          <a:lstStyle/>
          <a:p>
            <a:r>
              <a:rPr kumimoji="1" lang="ja-JP" altLang="en-US" b="1"/>
              <a:t>目的：実際の業務っぽくチーム開発をすること。</a:t>
            </a:r>
            <a:endParaRPr kumimoji="1" lang="en-US" altLang="ja-JP" b="1"/>
          </a:p>
          <a:p>
            <a:r>
              <a:rPr kumimoji="1" lang="ja-JP" altLang="en-US"/>
              <a:t>まず</a:t>
            </a:r>
            <a:r>
              <a:rPr lang="ja-JP" altLang="en-US"/>
              <a:t>ボードレイアウトで以下 </a:t>
            </a:r>
            <a:r>
              <a:rPr lang="en-US" altLang="ja-JP"/>
              <a:t>List</a:t>
            </a:r>
            <a:r>
              <a:rPr lang="ja-JP" altLang="en-US"/>
              <a:t> （列）を作成してください。</a:t>
            </a:r>
            <a:endParaRPr kumimoji="1" lang="en-US" altLang="ja-JP"/>
          </a:p>
          <a:p>
            <a:pPr marL="457200" lvl="1" indent="0">
              <a:buNone/>
            </a:pPr>
            <a:r>
              <a:rPr kumimoji="1" lang="en-US" altLang="ja-JP"/>
              <a:t>Backlog</a:t>
            </a:r>
            <a:r>
              <a:rPr kumimoji="1" lang="ja-JP" altLang="en-US"/>
              <a:t>：未着手（とりあえず積んでよい）</a:t>
            </a:r>
            <a:endParaRPr kumimoji="1" lang="en-US" altLang="ja-JP"/>
          </a:p>
          <a:p>
            <a:pPr marL="457200" lvl="1" indent="0">
              <a:buNone/>
            </a:pPr>
            <a:r>
              <a:rPr kumimoji="1" lang="en-US" altLang="ja-JP"/>
              <a:t>Todo</a:t>
            </a:r>
            <a:r>
              <a:rPr lang="en-US" altLang="ja-JP"/>
              <a:t> </a:t>
            </a:r>
            <a:r>
              <a:rPr lang="ja-JP" altLang="en-US"/>
              <a:t>：着手予定（担当が決まったら）</a:t>
            </a:r>
            <a:endParaRPr lang="en-US" altLang="ja-JP"/>
          </a:p>
          <a:p>
            <a:pPr marL="457200" lvl="1" indent="0">
              <a:buNone/>
            </a:pPr>
            <a:r>
              <a:rPr kumimoji="1" lang="en-US" altLang="ja-JP"/>
              <a:t>Doing</a:t>
            </a:r>
            <a:r>
              <a:rPr kumimoji="1" lang="ja-JP" altLang="en-US"/>
              <a:t> ： 対応開始</a:t>
            </a:r>
            <a:endParaRPr kumimoji="1" lang="en-US" altLang="ja-JP"/>
          </a:p>
          <a:p>
            <a:pPr marL="457200" lvl="1" indent="0">
              <a:buNone/>
            </a:pPr>
            <a:r>
              <a:rPr lang="en-US" altLang="ja-JP"/>
              <a:t>Team</a:t>
            </a:r>
            <a:r>
              <a:rPr lang="ja-JP" altLang="en-US"/>
              <a:t> </a:t>
            </a:r>
            <a:r>
              <a:rPr lang="en-US" altLang="ja-JP"/>
              <a:t>Review</a:t>
            </a:r>
            <a:r>
              <a:rPr lang="ja-JP" altLang="en-US"/>
              <a:t>：チーム内レビュー開始（かならず</a:t>
            </a:r>
            <a:r>
              <a:rPr lang="en-US" altLang="ja-JP"/>
              <a:t>1</a:t>
            </a:r>
            <a:r>
              <a:rPr lang="ja-JP" altLang="en-US"/>
              <a:t>名がレビューする）</a:t>
            </a:r>
            <a:endParaRPr lang="en-US" altLang="ja-JP"/>
          </a:p>
          <a:p>
            <a:pPr marL="457200" lvl="1" indent="0">
              <a:buNone/>
            </a:pPr>
            <a:r>
              <a:rPr lang="en-US" altLang="ja-JP"/>
              <a:t>Returned After Review</a:t>
            </a:r>
            <a:r>
              <a:rPr lang="ja-JP" altLang="en-US"/>
              <a:t> ：レビュー後の戻し</a:t>
            </a:r>
            <a:endParaRPr lang="en-US" altLang="ja-JP"/>
          </a:p>
          <a:p>
            <a:pPr marL="457200" lvl="1" indent="0">
              <a:buNone/>
            </a:pPr>
            <a:r>
              <a:rPr lang="en-US" altLang="ja-JP"/>
              <a:t>Mentor</a:t>
            </a:r>
            <a:r>
              <a:rPr lang="ja-JP" altLang="en-US"/>
              <a:t> </a:t>
            </a:r>
            <a:r>
              <a:rPr lang="en-US" altLang="ja-JP"/>
              <a:t>Review</a:t>
            </a:r>
            <a:r>
              <a:rPr lang="ja-JP" altLang="en-US"/>
              <a:t> ：メンターレビュー開始</a:t>
            </a:r>
            <a:endParaRPr lang="en-US" altLang="ja-JP"/>
          </a:p>
          <a:p>
            <a:pPr marL="457200" lvl="1" indent="0">
              <a:buNone/>
            </a:pPr>
            <a:r>
              <a:rPr kumimoji="1" lang="en-US" altLang="ja-JP"/>
              <a:t>Done</a:t>
            </a:r>
            <a:r>
              <a:rPr kumimoji="1" lang="ja-JP" altLang="en-US"/>
              <a:t>：完了</a:t>
            </a:r>
            <a:endParaRPr kumimoji="1" lang="en-US" altLang="ja-JP"/>
          </a:p>
          <a:p>
            <a:r>
              <a:rPr lang="ja-JP" altLang="en-US"/>
              <a:t>タスクを思いついたとき</a:t>
            </a:r>
            <a:endParaRPr lang="en-US" altLang="ja-JP"/>
          </a:p>
          <a:p>
            <a:pPr lvl="1"/>
            <a:r>
              <a:rPr lang="ja-JP" altLang="en-US"/>
              <a:t>すべて </a:t>
            </a:r>
            <a:r>
              <a:rPr lang="en-US" altLang="ja-JP"/>
              <a:t>Backlog</a:t>
            </a:r>
            <a:r>
              <a:rPr lang="ja-JP" altLang="en-US"/>
              <a:t> リストにチケットとして入れる。</a:t>
            </a:r>
            <a:endParaRPr lang="en-US" altLang="ja-JP"/>
          </a:p>
          <a:p>
            <a:pPr lvl="1"/>
            <a:r>
              <a:rPr lang="en-US" altLang="ja-JP"/>
              <a:t>Label </a:t>
            </a:r>
            <a:r>
              <a:rPr kumimoji="1" lang="ja-JP" altLang="en-US"/>
              <a:t>を必ず入れてください。</a:t>
            </a:r>
            <a:endParaRPr kumimoji="1" lang="en-US" altLang="ja-JP"/>
          </a:p>
          <a:p>
            <a:r>
              <a:rPr lang="ja-JP" altLang="en-US"/>
              <a:t>着手</a:t>
            </a:r>
            <a:r>
              <a:rPr kumimoji="1" lang="ja-JP" altLang="en-US"/>
              <a:t>時：主担当者を入れて </a:t>
            </a:r>
            <a:r>
              <a:rPr kumimoji="1" lang="en-US" altLang="ja-JP"/>
              <a:t>Todo </a:t>
            </a:r>
            <a:r>
              <a:rPr lang="en-US" altLang="ja-JP"/>
              <a:t>,</a:t>
            </a:r>
            <a:r>
              <a:rPr lang="ja-JP" altLang="en-US"/>
              <a:t> </a:t>
            </a:r>
            <a:r>
              <a:rPr kumimoji="1" lang="en-US" altLang="ja-JP"/>
              <a:t>Doing</a:t>
            </a:r>
            <a:r>
              <a:rPr kumimoji="1" lang="ja-JP" altLang="en-US"/>
              <a:t> へ移動。</a:t>
            </a:r>
            <a:endParaRPr kumimoji="1" lang="en-US" altLang="ja-JP"/>
          </a:p>
          <a:p>
            <a:r>
              <a:rPr kumimoji="1" lang="ja-JP" altLang="en-US"/>
              <a:t>個人で完了時</a:t>
            </a:r>
            <a:endParaRPr kumimoji="1" lang="en-US" altLang="ja-JP"/>
          </a:p>
          <a:p>
            <a:pPr lvl="1"/>
            <a:r>
              <a:rPr lang="ja-JP" altLang="en-US"/>
              <a:t>チケットに、仕様の概要と、なぜこうなったのか、理由を記載。</a:t>
            </a:r>
            <a:endParaRPr kumimoji="1" lang="en-US" altLang="ja-JP"/>
          </a:p>
          <a:p>
            <a:pPr lvl="1"/>
            <a:r>
              <a:rPr kumimoji="1" lang="ja-JP" altLang="en-US"/>
              <a:t>成果物のファイルまたはリンク、コマンド履歴、スクショなどエビデンスをチケットに貼り </a:t>
            </a:r>
            <a:r>
              <a:rPr kumimoji="1" lang="en-US" altLang="ja-JP"/>
              <a:t>Team</a:t>
            </a:r>
            <a:r>
              <a:rPr kumimoji="1" lang="ja-JP" altLang="en-US"/>
              <a:t> </a:t>
            </a:r>
            <a:r>
              <a:rPr kumimoji="1" lang="en-US" altLang="ja-JP"/>
              <a:t>Review</a:t>
            </a:r>
            <a:r>
              <a:rPr kumimoji="1" lang="ja-JP" altLang="en-US"/>
              <a:t> に移動。</a:t>
            </a:r>
            <a:endParaRPr kumimoji="1" lang="en-US" altLang="ja-JP"/>
          </a:p>
          <a:p>
            <a:r>
              <a:rPr kumimoji="1" lang="en-US" altLang="ja-JP"/>
              <a:t>Team</a:t>
            </a:r>
            <a:r>
              <a:rPr kumimoji="1" lang="ja-JP" altLang="en-US"/>
              <a:t> </a:t>
            </a:r>
            <a:r>
              <a:rPr kumimoji="1" lang="en-US" altLang="ja-JP"/>
              <a:t>Review</a:t>
            </a:r>
            <a:r>
              <a:rPr kumimoji="1" lang="ja-JP" altLang="en-US"/>
              <a:t>  時：チーム内レビュアー名はラベルに記載</a:t>
            </a:r>
            <a:r>
              <a:rPr lang="ja-JP" altLang="en-US"/>
              <a:t>。エビデンスに信頼性があるか確認したら </a:t>
            </a:r>
            <a:r>
              <a:rPr lang="en-US" altLang="ja-JP"/>
              <a:t>Mentor</a:t>
            </a:r>
            <a:r>
              <a:rPr lang="ja-JP" altLang="en-US"/>
              <a:t> </a:t>
            </a:r>
            <a:r>
              <a:rPr lang="en-US" altLang="ja-JP"/>
              <a:t>Review</a:t>
            </a:r>
            <a:r>
              <a:rPr lang="ja-JP" altLang="en-US"/>
              <a:t> へ移動</a:t>
            </a:r>
            <a:r>
              <a:rPr kumimoji="1" lang="ja-JP" altLang="en-US"/>
              <a:t>。</a:t>
            </a:r>
            <a:endParaRPr kumimoji="1" lang="en-US" altLang="ja-JP"/>
          </a:p>
          <a:p>
            <a:r>
              <a:rPr lang="en-US" altLang="ja-JP"/>
              <a:t>Mentor Review</a:t>
            </a:r>
            <a:r>
              <a:rPr lang="ja-JP" altLang="en-US"/>
              <a:t> ：メンターによる最終チェックを行い、</a:t>
            </a:r>
            <a:r>
              <a:rPr lang="en-US" altLang="ja-JP"/>
              <a:t>OK</a:t>
            </a:r>
            <a:r>
              <a:rPr lang="ja-JP" altLang="en-US"/>
              <a:t> であればメンターが  </a:t>
            </a:r>
            <a:r>
              <a:rPr lang="en-US" altLang="ja-JP"/>
              <a:t>Done</a:t>
            </a:r>
            <a:r>
              <a:rPr lang="ja-JP" altLang="en-US"/>
              <a:t> へ移動</a:t>
            </a:r>
            <a:endParaRPr lang="en-US" altLang="ja-JP"/>
          </a:p>
          <a:p>
            <a:r>
              <a:rPr lang="en-US" altLang="ja-JP"/>
              <a:t>Returned After Review</a:t>
            </a:r>
            <a:r>
              <a:rPr lang="ja-JP" altLang="en-US"/>
              <a:t> ： レビュー後に気になる点があればコメントをつけて戻します。対応したら </a:t>
            </a:r>
            <a:r>
              <a:rPr lang="en-US" altLang="ja-JP"/>
              <a:t>Mentor</a:t>
            </a:r>
            <a:r>
              <a:rPr lang="ja-JP" altLang="en-US"/>
              <a:t> </a:t>
            </a:r>
            <a:r>
              <a:rPr lang="en-US" altLang="ja-JP"/>
              <a:t>Review</a:t>
            </a:r>
            <a:r>
              <a:rPr lang="ja-JP" altLang="en-US"/>
              <a:t> に移動。</a:t>
            </a:r>
            <a:endParaRPr kumimoji="1" lang="en-US" altLang="ja-JP"/>
          </a:p>
        </p:txBody>
      </p:sp>
    </p:spTree>
    <p:extLst>
      <p:ext uri="{BB962C8B-B14F-4D97-AF65-F5344CB8AC3E}">
        <p14:creationId xmlns:p14="http://schemas.microsoft.com/office/powerpoint/2010/main" val="15996632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CE975-F96D-CEFA-88D3-F7A1B14502D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1E1F492-E8DE-EAD7-E736-B49E5292E2ED}"/>
              </a:ext>
            </a:extLst>
          </p:cNvPr>
          <p:cNvSpPr>
            <a:spLocks noGrp="1"/>
          </p:cNvSpPr>
          <p:nvPr>
            <p:ph type="title"/>
          </p:nvPr>
        </p:nvSpPr>
        <p:spPr/>
        <p:txBody>
          <a:bodyPr/>
          <a:lstStyle/>
          <a:p>
            <a:r>
              <a:rPr kumimoji="1" lang="en-US" altLang="ja-JP"/>
              <a:t>MTG</a:t>
            </a:r>
            <a:r>
              <a:rPr kumimoji="1" lang="ja-JP" altLang="en-US"/>
              <a:t>用</a:t>
            </a:r>
            <a:r>
              <a:rPr kumimoji="1" lang="en-US" altLang="ja-JP"/>
              <a:t>Zoom</a:t>
            </a:r>
            <a:endParaRPr kumimoji="1" lang="ja-JP" altLang="en-US"/>
          </a:p>
        </p:txBody>
      </p:sp>
      <p:sp>
        <p:nvSpPr>
          <p:cNvPr id="3" name="コンテンツ プレースホルダー 2">
            <a:extLst>
              <a:ext uri="{FF2B5EF4-FFF2-40B4-BE49-F238E27FC236}">
                <a16:creationId xmlns:a16="http://schemas.microsoft.com/office/drawing/2014/main" id="{7CF79D3B-D3EC-2277-9D41-455BC5A73628}"/>
              </a:ext>
            </a:extLst>
          </p:cNvPr>
          <p:cNvSpPr>
            <a:spLocks noGrp="1"/>
          </p:cNvSpPr>
          <p:nvPr>
            <p:ph idx="1"/>
          </p:nvPr>
        </p:nvSpPr>
        <p:spPr>
          <a:xfrm>
            <a:off x="838199" y="1825625"/>
            <a:ext cx="11040035" cy="4351338"/>
          </a:xfrm>
        </p:spPr>
        <p:txBody>
          <a:bodyPr>
            <a:normAutofit fontScale="77500" lnSpcReduction="20000"/>
          </a:bodyPr>
          <a:lstStyle/>
          <a:p>
            <a:pPr marL="0" indent="0">
              <a:buNone/>
            </a:pPr>
            <a:r>
              <a:rPr lang="en-US" altLang="ja-JP" sz="2000">
                <a:solidFill>
                  <a:srgbClr val="000000"/>
                </a:solidFill>
                <a:latin typeface="SF Pro"/>
              </a:rPr>
              <a:t>1) </a:t>
            </a:r>
            <a:r>
              <a:rPr lang="en-US" altLang="ja-JP" sz="2000">
                <a:solidFill>
                  <a:srgbClr val="000000"/>
                </a:solidFill>
                <a:latin typeface="SF Pro"/>
                <a:hlinkClick r:id="rId2"/>
              </a:rPr>
              <a:t>https://gmo-jp.zoom.us/j/88375465463?pwd=t9aMHe2baAv71xCOBV8XnaVg0Gg5fD.1</a:t>
            </a:r>
            <a:endParaRPr lang="en-US" altLang="ja-JP" sz="2000">
              <a:solidFill>
                <a:srgbClr val="000000"/>
              </a:solidFill>
              <a:latin typeface="SF Pro"/>
            </a:endParaRPr>
          </a:p>
          <a:p>
            <a:pPr marL="0" indent="0">
              <a:buNone/>
            </a:pPr>
            <a:r>
              <a:rPr lang="ja-JP" altLang="en-US" sz="2000">
                <a:solidFill>
                  <a:srgbClr val="000000"/>
                </a:solidFill>
                <a:latin typeface="SF Pro"/>
              </a:rPr>
              <a:t>ミーティング </a:t>
            </a:r>
            <a:r>
              <a:rPr lang="en-US" altLang="ja-JP" sz="2000">
                <a:solidFill>
                  <a:srgbClr val="000000"/>
                </a:solidFill>
                <a:latin typeface="SF Pro"/>
              </a:rPr>
              <a:t>ID: 883 7546 5463</a:t>
            </a:r>
          </a:p>
          <a:p>
            <a:pPr marL="0" indent="0">
              <a:buNone/>
            </a:pPr>
            <a:r>
              <a:rPr lang="ja-JP" altLang="en-US" sz="2000">
                <a:solidFill>
                  <a:srgbClr val="000000"/>
                </a:solidFill>
                <a:latin typeface="SF Pro"/>
              </a:rPr>
              <a:t>パスコード</a:t>
            </a:r>
            <a:r>
              <a:rPr lang="en-US" altLang="ja-JP" sz="2000">
                <a:solidFill>
                  <a:srgbClr val="000000"/>
                </a:solidFill>
                <a:latin typeface="SF Pro"/>
              </a:rPr>
              <a:t>: 778899</a:t>
            </a:r>
          </a:p>
          <a:p>
            <a:pPr marL="0" indent="0">
              <a:buNone/>
            </a:pPr>
            <a:endParaRPr kumimoji="1" lang="en-US" altLang="ja-JP" sz="2000">
              <a:solidFill>
                <a:srgbClr val="000000"/>
              </a:solidFill>
              <a:latin typeface="SF Pro"/>
            </a:endParaRPr>
          </a:p>
          <a:p>
            <a:pPr marL="0" indent="0">
              <a:buNone/>
            </a:pPr>
            <a:r>
              <a:rPr kumimoji="1" lang="en-US" altLang="ja-JP" sz="2000">
                <a:solidFill>
                  <a:srgbClr val="000000"/>
                </a:solidFill>
                <a:latin typeface="SF Pro"/>
              </a:rPr>
              <a:t>2) </a:t>
            </a:r>
            <a:r>
              <a:rPr lang="en-US" altLang="ja-JP" sz="2000">
                <a:solidFill>
                  <a:srgbClr val="000000"/>
                </a:solidFill>
                <a:latin typeface="SF Pro"/>
                <a:hlinkClick r:id="rId3"/>
              </a:rPr>
              <a:t>https://gmo-jp.zoom.us/j/81742280451?pwd=mlLQv0LsV0pvdfb5nyiWyJoqQqIttU.1</a:t>
            </a:r>
            <a:endParaRPr lang="en-US" altLang="ja-JP" sz="2000">
              <a:solidFill>
                <a:srgbClr val="000000"/>
              </a:solidFill>
              <a:latin typeface="SF Pro"/>
            </a:endParaRPr>
          </a:p>
          <a:p>
            <a:pPr marL="0" indent="0">
              <a:buNone/>
            </a:pPr>
            <a:r>
              <a:rPr lang="ja-JP" altLang="en-US" sz="2000">
                <a:solidFill>
                  <a:srgbClr val="000000"/>
                </a:solidFill>
                <a:latin typeface="SF Pro"/>
              </a:rPr>
              <a:t>ミーティング </a:t>
            </a:r>
            <a:r>
              <a:rPr lang="en-US" altLang="ja-JP" sz="2000">
                <a:solidFill>
                  <a:srgbClr val="000000"/>
                </a:solidFill>
                <a:latin typeface="SF Pro"/>
              </a:rPr>
              <a:t>ID: 817 4228 0451</a:t>
            </a:r>
          </a:p>
          <a:p>
            <a:pPr marL="0" indent="0">
              <a:buNone/>
            </a:pPr>
            <a:r>
              <a:rPr lang="ja-JP" altLang="en-US" sz="2000">
                <a:solidFill>
                  <a:srgbClr val="000000"/>
                </a:solidFill>
                <a:latin typeface="SF Pro"/>
              </a:rPr>
              <a:t>パスコード</a:t>
            </a:r>
            <a:r>
              <a:rPr lang="en-US" altLang="ja-JP" sz="2000">
                <a:solidFill>
                  <a:srgbClr val="000000"/>
                </a:solidFill>
                <a:latin typeface="SF Pro"/>
              </a:rPr>
              <a:t>: 445566</a:t>
            </a:r>
          </a:p>
          <a:p>
            <a:pPr marL="0" indent="0">
              <a:buNone/>
            </a:pPr>
            <a:endParaRPr kumimoji="1" lang="en-US" altLang="ja-JP" sz="2000">
              <a:solidFill>
                <a:srgbClr val="000000"/>
              </a:solidFill>
              <a:latin typeface="SF Pro"/>
            </a:endParaRPr>
          </a:p>
          <a:p>
            <a:pPr marL="0" indent="0">
              <a:buNone/>
            </a:pPr>
            <a:r>
              <a:rPr kumimoji="1" lang="ja-JP" altLang="en-US" sz="2000" b="1"/>
              <a:t>・朝会</a:t>
            </a:r>
            <a:r>
              <a:rPr lang="ja-JP" altLang="en-US" sz="2000" b="1"/>
              <a:t>など</a:t>
            </a:r>
            <a:r>
              <a:rPr lang="en-US" altLang="ja-JP" sz="2000" b="1"/>
              <a:t>MTG</a:t>
            </a:r>
            <a:r>
              <a:rPr kumimoji="1" lang="ja-JP" altLang="en-US" sz="2000" b="1"/>
              <a:t>の開始時間</a:t>
            </a:r>
            <a:r>
              <a:rPr kumimoji="1" lang="en-US" altLang="ja-JP" sz="2000" b="1"/>
              <a:t>2</a:t>
            </a:r>
            <a:r>
              <a:rPr kumimoji="1" lang="ja-JP" altLang="en-US" sz="2000" b="1"/>
              <a:t>分前までに </a:t>
            </a:r>
            <a:r>
              <a:rPr kumimoji="1" lang="en-US" altLang="ja-JP" sz="2000" b="1"/>
              <a:t>Zoom</a:t>
            </a:r>
            <a:r>
              <a:rPr kumimoji="1" lang="ja-JP" altLang="en-US" sz="2000" b="1"/>
              <a:t>へ参加してください</a:t>
            </a:r>
            <a:endParaRPr kumimoji="1" lang="en-US" altLang="ja-JP" sz="2000" b="1"/>
          </a:p>
          <a:p>
            <a:pPr marL="0" indent="0">
              <a:buNone/>
            </a:pPr>
            <a:r>
              <a:rPr lang="ja-JP" altLang="en-US" sz="2000" strike="sngStrike"/>
              <a:t>・</a:t>
            </a:r>
            <a:r>
              <a:rPr lang="en-US" altLang="ja-JP" sz="2000" strike="sngStrike"/>
              <a:t>MTG</a:t>
            </a:r>
            <a:r>
              <a:rPr lang="ja-JP" altLang="en-US" sz="2000" strike="sngStrike"/>
              <a:t>では</a:t>
            </a:r>
            <a:r>
              <a:rPr kumimoji="1" lang="ja-JP" altLang="en-US" sz="2000" strike="sngStrike"/>
              <a:t>ブレイクアウトルームへ入ってください。</a:t>
            </a:r>
            <a:br>
              <a:rPr kumimoji="1" lang="en-US" altLang="ja-JP" sz="2000" strike="sngStrike"/>
            </a:br>
            <a:r>
              <a:rPr lang="ja-JP" altLang="en-US" sz="2000" strike="sngStrike"/>
              <a:t>　（チーム番号の部屋を利用してください）</a:t>
            </a:r>
            <a:endParaRPr lang="en-US" altLang="ja-JP" sz="2000" strike="sngStrike"/>
          </a:p>
          <a:p>
            <a:pPr marL="0" indent="0">
              <a:buNone/>
            </a:pPr>
            <a:r>
              <a:rPr kumimoji="1" lang="ja-JP" altLang="en-US" sz="2000" strike="sngStrike"/>
              <a:t>・ブレイクアウトルームは朝会後もチーム</a:t>
            </a:r>
            <a:r>
              <a:rPr kumimoji="1" lang="en-US" altLang="ja-JP" sz="2000" strike="sngStrike"/>
              <a:t>MTG</a:t>
            </a:r>
            <a:r>
              <a:rPr kumimoji="1" lang="ja-JP" altLang="en-US" sz="2000" strike="sngStrike"/>
              <a:t>で利用できます。</a:t>
            </a:r>
            <a:br>
              <a:rPr kumimoji="1" lang="en-US" altLang="ja-JP" sz="2000" strike="sngStrike"/>
            </a:br>
            <a:r>
              <a:rPr lang="ja-JP" altLang="en-US" sz="2000" strike="sngStrike"/>
              <a:t>　</a:t>
            </a:r>
            <a:r>
              <a:rPr kumimoji="1" lang="ja-JP" altLang="en-US" sz="2000" strike="sngStrike"/>
              <a:t>（</a:t>
            </a:r>
            <a:r>
              <a:rPr kumimoji="1" lang="en-US" altLang="ja-JP" sz="2000" strike="sngStrike"/>
              <a:t>1</a:t>
            </a:r>
            <a:r>
              <a:rPr kumimoji="1" lang="ja-JP" altLang="en-US" sz="2000" strike="sngStrike"/>
              <a:t>回</a:t>
            </a:r>
            <a:r>
              <a:rPr kumimoji="1" lang="en-US" altLang="ja-JP" sz="2000" strike="sngStrike"/>
              <a:t>MTG</a:t>
            </a:r>
            <a:r>
              <a:rPr kumimoji="1" lang="ja-JP" altLang="en-US" sz="2000" strike="sngStrike"/>
              <a:t>から退出しても再度同じブレイクアウトルームへ入室できます）</a:t>
            </a:r>
          </a:p>
          <a:p>
            <a:pPr marL="0" indent="0">
              <a:buNone/>
            </a:pPr>
            <a:r>
              <a:rPr kumimoji="1" lang="ja-JP" altLang="en-US" sz="2000" strike="sngStrike"/>
              <a:t>・ブレイクアウトルームがなくなってしまった場合、ホストに声をかけてください。</a:t>
            </a:r>
            <a:br>
              <a:rPr kumimoji="1" lang="en-US" altLang="ja-JP" sz="2000" strike="sngStrike"/>
            </a:br>
            <a:r>
              <a:rPr kumimoji="1" lang="ja-JP" altLang="en-US" sz="2000" strike="sngStrike"/>
              <a:t>　再度ブレイクアウトルームを開きます。</a:t>
            </a:r>
            <a:br>
              <a:rPr kumimoji="1" lang="en-US" altLang="ja-JP" sz="2000" strike="sngStrike"/>
            </a:br>
            <a:r>
              <a:rPr kumimoji="1" lang="ja-JP" altLang="en-US" sz="2000" strike="sngStrike"/>
              <a:t>　（ホストだけがブレイクアウトルームを開くことができる）</a:t>
            </a:r>
          </a:p>
        </p:txBody>
      </p:sp>
    </p:spTree>
    <p:extLst>
      <p:ext uri="{BB962C8B-B14F-4D97-AF65-F5344CB8AC3E}">
        <p14:creationId xmlns:p14="http://schemas.microsoft.com/office/powerpoint/2010/main" val="980355089"/>
      </p:ext>
    </p:extLst>
  </p:cSld>
  <p:clrMapOvr>
    <a:masterClrMapping/>
  </p:clrMapOvr>
</p:sld>
</file>

<file path=ppt/theme/theme1.xml><?xml version="1.0" encoding="utf-8"?>
<a:theme xmlns:a="http://schemas.openxmlformats.org/drawingml/2006/main" name="Office Theme">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49</Slides>
  <Notes>2</Notes>
  <HiddenSlides>0</HiddenSlide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Office Theme</vt:lpstr>
      <vt:lpstr>ML/WEBコース</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最終ゴール（本質的に求められる項目）</vt:lpstr>
      <vt:lpstr>PowerPoint Presentation</vt:lpstr>
      <vt:lpstr>PowerPoint Presentation</vt:lpstr>
      <vt:lpstr>PowerPoint Presentation</vt:lpstr>
      <vt:lpstr>初日</vt:lpstr>
      <vt:lpstr>2～3日目　設計フェーズ</vt:lpstr>
      <vt:lpstr>4～5日目　実装フェーズ</vt:lpstr>
      <vt:lpstr>6～8日目　結合テストフェーズ</vt:lpstr>
      <vt:lpstr>9, 10日目 </vt:lpstr>
      <vt:lpstr>PowerPoint Presentation</vt:lpstr>
      <vt:lpstr>開発のルール</vt:lpstr>
      <vt:lpstr>進捗報告：毎日、朝会・夕会で実施</vt:lpstr>
      <vt:lpstr>成果物一覧</vt:lpstr>
      <vt:lpstr>成果物の合格基準</vt:lpstr>
      <vt:lpstr>チームとして成果を出すための行動規範</vt:lpstr>
      <vt:lpstr>開発全般のヒント</vt:lpstr>
      <vt:lpstr>リードの決め方のヒント</vt:lpstr>
      <vt:lpstr>べからず集</vt:lpstr>
      <vt:lpstr>MTG用Zoom</vt:lpstr>
      <vt:lpstr>PowerPoint Presentation</vt:lpstr>
      <vt:lpstr>（改めて）1日目にやること</vt:lpstr>
      <vt:lpstr>App ① 言語とフレームワークの選定</vt:lpstr>
      <vt:lpstr>App ② Webアプリの構成・設計方針</vt:lpstr>
      <vt:lpstr>画面デザインの進め方のヒント</vt:lpstr>
      <vt:lpstr>DB設計の進め方</vt:lpstr>
      <vt:lpstr>DB ① そもそもどんなデータを扱うのか？</vt:lpstr>
      <vt:lpstr>DB ② RDB（リレーショナルDB）が 　 　  向いているケースを調査する</vt:lpstr>
      <vt:lpstr>DB ③ NoSQL （ DynamoDB ）が向いている 　       ユースケースを調査する</vt:lpstr>
      <vt:lpstr>DB ④ 選定の基準を考える</vt:lpstr>
      <vt:lpstr>DB定義書</vt:lpstr>
      <vt:lpstr>Sharepoint Excel </vt:lpstr>
      <vt:lpstr>AWS ① そもそもインフラって何？</vt:lpstr>
      <vt:lpstr>AWS ② 基本的なAWSサービスの役割を把握</vt:lpstr>
      <vt:lpstr>AWS ③ インフラ構成を図にして、説明する</vt:lpstr>
      <vt:lpstr>開発上の注意</vt:lpstr>
      <vt:lpstr>インターン期間内で協力し合い ベストなものを作り上げましょう！</vt:lpstr>
      <vt:lpstr>以下履歴</vt:lpstr>
      <vt:lpstr>PowerPoint Presentation</vt:lpstr>
      <vt:lpstr>推奨</vt:lpstr>
      <vt:lpstr>GitHub Projects バックログの運用ルール</vt:lpstr>
      <vt:lpstr>MTG用Zoom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タイトル考える</dc:title>
  <dc:creator>松井 大介</dc:creator>
  <cp:revision>2</cp:revision>
  <dcterms:modified xsi:type="dcterms:W3CDTF">2026-02-02T04:37:44Z</dcterms:modified>
</cp:coreProperties>
</file>